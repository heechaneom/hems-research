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f8ad5d36e724938" /><Relationship Type="http://schemas.openxmlformats.org/officeDocument/2006/relationships/extended-properties" Target="/docProps/app.xml" Id="R249d645fb626484c" /><Relationship Type="http://schemas.openxmlformats.org/officeDocument/2006/relationships/officeDocument" Target="/ppt/presentation.xml" Id="R8de08bf2d4214dd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cd81184e4ad4aff"/>
  </p:sldMasterIdLst>
  <p:notesMasterIdLst>
    <p:notesMasterId xmlns:r="http://schemas.openxmlformats.org/officeDocument/2006/relationships" r:id="R606e1bba34ff4683"/>
  </p:notesMasterIdLst>
  <p:sldIdLst>
    <p:sldId xmlns:r="http://schemas.openxmlformats.org/officeDocument/2006/relationships" id="256" r:id="R3d252670bfbd4e7b"/>
    <p:sldId xmlns:r="http://schemas.openxmlformats.org/officeDocument/2006/relationships" id="257" r:id="R4868acb6c24a478f"/>
    <p:sldId xmlns:r="http://schemas.openxmlformats.org/officeDocument/2006/relationships" id="258" r:id="R5dd458b966da42cf"/>
    <p:sldId xmlns:r="http://schemas.openxmlformats.org/officeDocument/2006/relationships" id="259" r:id="R0ee8731364254371"/>
    <p:sldId xmlns:r="http://schemas.openxmlformats.org/officeDocument/2006/relationships" id="260" r:id="Rcd419986af284ec9"/>
    <p:sldId xmlns:r="http://schemas.openxmlformats.org/officeDocument/2006/relationships" id="261" r:id="R80c374c2e575418e"/>
    <p:sldId xmlns:r="http://schemas.openxmlformats.org/officeDocument/2006/relationships" id="262" r:id="R275c0122ff724ad4"/>
    <p:sldId xmlns:r="http://schemas.openxmlformats.org/officeDocument/2006/relationships" id="263" r:id="Rd27222e96b1a4fcc"/>
    <p:sldId xmlns:r="http://schemas.openxmlformats.org/officeDocument/2006/relationships" id="264" r:id="Rc637f8e008cb4ece"/>
    <p:sldId xmlns:r="http://schemas.openxmlformats.org/officeDocument/2006/relationships" id="265" r:id="R95a5a3dcc9b145c2"/>
    <p:sldId xmlns:r="http://schemas.openxmlformats.org/officeDocument/2006/relationships" id="266" r:id="R86b7c1fbb0764339"/>
    <p:sldId xmlns:r="http://schemas.openxmlformats.org/officeDocument/2006/relationships" id="267" r:id="R205b34bdb0014bb4"/>
    <p:sldId xmlns:r="http://schemas.openxmlformats.org/officeDocument/2006/relationships" id="268" r:id="R9c00a925e130468a"/>
    <p:sldId xmlns:r="http://schemas.openxmlformats.org/officeDocument/2006/relationships" id="269" r:id="Raf431f12e0e64939"/>
    <p:sldId xmlns:r="http://schemas.openxmlformats.org/officeDocument/2006/relationships" id="270" r:id="R9f0cae9700b74a65"/>
    <p:sldId xmlns:r="http://schemas.openxmlformats.org/officeDocument/2006/relationships" id="271" r:id="Rf3c9a02f73534dd4"/>
    <p:sldId xmlns:r="http://schemas.openxmlformats.org/officeDocument/2006/relationships" id="272" r:id="R21d00db6f13f482b"/>
    <p:sldId xmlns:r="http://schemas.openxmlformats.org/officeDocument/2006/relationships" id="273" r:id="R0a7999fe3e82450e"/>
    <p:sldId xmlns:r="http://schemas.openxmlformats.org/officeDocument/2006/relationships" id="274" r:id="R69dad90797514662"/>
    <p:sldId xmlns:r="http://schemas.openxmlformats.org/officeDocument/2006/relationships" id="275" r:id="Rb3fea6d59d65419f"/>
    <p:sldId xmlns:r="http://schemas.openxmlformats.org/officeDocument/2006/relationships" id="276" r:id="Rcc660020923243d3"/>
    <p:sldId xmlns:r="http://schemas.openxmlformats.org/officeDocument/2006/relationships" id="277" r:id="Rf0ee591a85b54002"/>
    <p:sldId xmlns:r="http://schemas.openxmlformats.org/officeDocument/2006/relationships" id="278" r:id="R61ba5324c4794f88"/>
    <p:sldId xmlns:r="http://schemas.openxmlformats.org/officeDocument/2006/relationships" id="279" r:id="R049c708e07b3439b"/>
    <p:sldId xmlns:r="http://schemas.openxmlformats.org/officeDocument/2006/relationships" id="280" r:id="Rb34f2d4dfbe54ba8"/>
    <p:sldId xmlns:r="http://schemas.openxmlformats.org/officeDocument/2006/relationships" id="281" r:id="Rb58e795c24794789"/>
    <p:sldId xmlns:r="http://schemas.openxmlformats.org/officeDocument/2006/relationships" id="282" r:id="R57af8ee54fb74723"/>
    <p:sldId xmlns:r="http://schemas.openxmlformats.org/officeDocument/2006/relationships" id="283" r:id="R1464e5fac48a4952"/>
    <p:sldId xmlns:r="http://schemas.openxmlformats.org/officeDocument/2006/relationships" id="284" r:id="Rf7c139c7a272447d"/>
    <p:sldId xmlns:r="http://schemas.openxmlformats.org/officeDocument/2006/relationships" id="285" r:id="R5a349afbd7bc4b0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8fe402f01294c28" /><Relationship Type="http://schemas.openxmlformats.org/officeDocument/2006/relationships/slideMaster" Target="/ppt/slideMasters/slideMaster1.xml" Id="R1cd81184e4ad4aff" /><Relationship Type="http://schemas.openxmlformats.org/officeDocument/2006/relationships/notesMaster" Target="/ppt/notesMasters/notesMaster1.xml" Id="R606e1bba34ff4683" /><Relationship Type="http://schemas.openxmlformats.org/officeDocument/2006/relationships/presProps" Target="/ppt/presProps.xml" Id="R95ebeeea48404ef4" /><Relationship Type="http://schemas.openxmlformats.org/officeDocument/2006/relationships/tableStyles" Target="/ppt/tableStyles.xml" Id="R8e301c659cf74b62" /><Relationship Type="http://schemas.openxmlformats.org/officeDocument/2006/relationships/slide" Target="/ppt/slides/slide1.xml" Id="R3d252670bfbd4e7b" /><Relationship Type="http://schemas.openxmlformats.org/officeDocument/2006/relationships/slide" Target="/ppt/slides/slide2.xml" Id="R4868acb6c24a478f" /><Relationship Type="http://schemas.openxmlformats.org/officeDocument/2006/relationships/slide" Target="/ppt/slides/slide3.xml" Id="R5dd458b966da42cf" /><Relationship Type="http://schemas.openxmlformats.org/officeDocument/2006/relationships/slide" Target="/ppt/slides/slide4.xml" Id="R0ee8731364254371" /><Relationship Type="http://schemas.openxmlformats.org/officeDocument/2006/relationships/slide" Target="/ppt/slides/slide5.xml" Id="Rcd419986af284ec9" /><Relationship Type="http://schemas.openxmlformats.org/officeDocument/2006/relationships/slide" Target="/ppt/slides/slide6.xml" Id="R80c374c2e575418e" /><Relationship Type="http://schemas.openxmlformats.org/officeDocument/2006/relationships/slide" Target="/ppt/slides/slide7.xml" Id="R275c0122ff724ad4" /><Relationship Type="http://schemas.openxmlformats.org/officeDocument/2006/relationships/slide" Target="/ppt/slides/slide8.xml" Id="Rd27222e96b1a4fcc" /><Relationship Type="http://schemas.openxmlformats.org/officeDocument/2006/relationships/slide" Target="/ppt/slides/slide9.xml" Id="Rc637f8e008cb4ece" /><Relationship Type="http://schemas.openxmlformats.org/officeDocument/2006/relationships/slide" Target="/ppt/slides/slide10.xml" Id="R95a5a3dcc9b145c2" /><Relationship Type="http://schemas.openxmlformats.org/officeDocument/2006/relationships/slide" Target="/ppt/slides/slide11.xml" Id="R86b7c1fbb0764339" /><Relationship Type="http://schemas.openxmlformats.org/officeDocument/2006/relationships/slide" Target="/ppt/slides/slide12.xml" Id="R205b34bdb0014bb4" /><Relationship Type="http://schemas.openxmlformats.org/officeDocument/2006/relationships/slide" Target="/ppt/slides/slide13.xml" Id="R9c00a925e130468a" /><Relationship Type="http://schemas.openxmlformats.org/officeDocument/2006/relationships/slide" Target="/ppt/slides/slide14.xml" Id="Raf431f12e0e64939" /><Relationship Type="http://schemas.openxmlformats.org/officeDocument/2006/relationships/slide" Target="/ppt/slides/slide15.xml" Id="R9f0cae9700b74a65" /><Relationship Type="http://schemas.openxmlformats.org/officeDocument/2006/relationships/slide" Target="/ppt/slides/slide16.xml" Id="Rf3c9a02f73534dd4" /><Relationship Type="http://schemas.openxmlformats.org/officeDocument/2006/relationships/slide" Target="/ppt/slides/slide17.xml" Id="R21d00db6f13f482b" /><Relationship Type="http://schemas.openxmlformats.org/officeDocument/2006/relationships/slide" Target="/ppt/slides/slide18.xml" Id="R0a7999fe3e82450e" /><Relationship Type="http://schemas.openxmlformats.org/officeDocument/2006/relationships/slide" Target="/ppt/slides/slide19.xml" Id="R69dad90797514662" /><Relationship Type="http://schemas.openxmlformats.org/officeDocument/2006/relationships/slide" Target="/ppt/slides/slide20.xml" Id="Rb3fea6d59d65419f" /><Relationship Type="http://schemas.openxmlformats.org/officeDocument/2006/relationships/slide" Target="/ppt/slides/slide21.xml" Id="Rcc660020923243d3" /><Relationship Type="http://schemas.openxmlformats.org/officeDocument/2006/relationships/slide" Target="/ppt/slides/slide22.xml" Id="Rf0ee591a85b54002" /><Relationship Type="http://schemas.openxmlformats.org/officeDocument/2006/relationships/slide" Target="/ppt/slides/slide23.xml" Id="R61ba5324c4794f88" /><Relationship Type="http://schemas.openxmlformats.org/officeDocument/2006/relationships/slide" Target="/ppt/slides/slide24.xml" Id="R049c708e07b3439b" /><Relationship Type="http://schemas.openxmlformats.org/officeDocument/2006/relationships/slide" Target="/ppt/slides/slide25.xml" Id="Rb34f2d4dfbe54ba8" /><Relationship Type="http://schemas.openxmlformats.org/officeDocument/2006/relationships/slide" Target="/ppt/slides/slide26.xml" Id="Rb58e795c24794789" /><Relationship Type="http://schemas.openxmlformats.org/officeDocument/2006/relationships/slide" Target="/ppt/slides/slide27.xml" Id="R57af8ee54fb74723" /><Relationship Type="http://schemas.openxmlformats.org/officeDocument/2006/relationships/slide" Target="/ppt/slides/slide28.xml" Id="R1464e5fac48a4952" /><Relationship Type="http://schemas.openxmlformats.org/officeDocument/2006/relationships/slide" Target="/ppt/slides/slide29.xml" Id="Rf7c139c7a272447d" /><Relationship Type="http://schemas.openxmlformats.org/officeDocument/2006/relationships/slide" Target="/ppt/slides/slide30.xml" Id="R5a349afbd7bc4b0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ba5898a2fc64b6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cff6f4a816c49b6" /><Relationship Type="http://schemas.openxmlformats.org/officeDocument/2006/relationships/notesMaster" Target="/ppt/notesMasters/notesMaster1.xml" Id="R09f8309a3fce45c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0891275d40d4c01" /><Relationship Type="http://schemas.openxmlformats.org/officeDocument/2006/relationships/notesMaster" Target="/ppt/notesMasters/notesMaster1.xml" Id="R2e4fac7e2b7b4d5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e1894044bed4ee0" /><Relationship Type="http://schemas.openxmlformats.org/officeDocument/2006/relationships/notesMaster" Target="/ppt/notesMasters/notesMaster1.xml" Id="R5d89b86d21fd435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9d6d2e706784dd8" /><Relationship Type="http://schemas.openxmlformats.org/officeDocument/2006/relationships/notesMaster" Target="/ppt/notesMasters/notesMaster1.xml" Id="Ree995030ea7d4e5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3d4e450d9914d56" /><Relationship Type="http://schemas.openxmlformats.org/officeDocument/2006/relationships/notesMaster" Target="/ppt/notesMasters/notesMaster1.xml" Id="Rb203f9d57d88480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7dc411e2fe34448" /><Relationship Type="http://schemas.openxmlformats.org/officeDocument/2006/relationships/notesMaster" Target="/ppt/notesMasters/notesMaster1.xml" Id="Rcde9c5b810e6442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d62c45687fe4f3d" /><Relationship Type="http://schemas.openxmlformats.org/officeDocument/2006/relationships/notesMaster" Target="/ppt/notesMasters/notesMaster1.xml" Id="R76198131a68840a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1031d2e70474f30" /><Relationship Type="http://schemas.openxmlformats.org/officeDocument/2006/relationships/notesMaster" Target="/ppt/notesMasters/notesMaster1.xml" Id="R5fddf29ce33f419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271393452d146bd" /><Relationship Type="http://schemas.openxmlformats.org/officeDocument/2006/relationships/notesMaster" Target="/ppt/notesMasters/notesMaster1.xml" Id="Re4ca1e3e180a4a8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6e5ccbcd6d348c8" /><Relationship Type="http://schemas.openxmlformats.org/officeDocument/2006/relationships/notesMaster" Target="/ppt/notesMasters/notesMaster1.xml" Id="R15a79e53de2048c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dfe128a7c3c49b6" /><Relationship Type="http://schemas.openxmlformats.org/officeDocument/2006/relationships/notesMaster" Target="/ppt/notesMasters/notesMaster1.xml" Id="Rdc2855dbf79a431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7fcb1a7e0794312" /><Relationship Type="http://schemas.openxmlformats.org/officeDocument/2006/relationships/notesMaster" Target="/ppt/notesMasters/notesMaster1.xml" Id="R13a6f52f35d4473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ae84af97fea4c71" /><Relationship Type="http://schemas.openxmlformats.org/officeDocument/2006/relationships/notesMaster" Target="/ppt/notesMasters/notesMaster1.xml" Id="Rfb45c292a87f46b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7a9e73dfbfb40d9" /><Relationship Type="http://schemas.openxmlformats.org/officeDocument/2006/relationships/notesMaster" Target="/ppt/notesMasters/notesMaster1.xml" Id="R2b3e58c0a32b4bb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e410eb4758b4b63" /><Relationship Type="http://schemas.openxmlformats.org/officeDocument/2006/relationships/notesMaster" Target="/ppt/notesMasters/notesMaster1.xml" Id="R5ece34a9aeef4a7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f3f5df897eb45ad" /><Relationship Type="http://schemas.openxmlformats.org/officeDocument/2006/relationships/notesMaster" Target="/ppt/notesMasters/notesMaster1.xml" Id="R4da896b1bac4488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4a1975159f74279" /><Relationship Type="http://schemas.openxmlformats.org/officeDocument/2006/relationships/notesMaster" Target="/ppt/notesMasters/notesMaster1.xml" Id="Re29e6986bc62488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7987ca4c17049b6" /><Relationship Type="http://schemas.openxmlformats.org/officeDocument/2006/relationships/notesMaster" Target="/ppt/notesMasters/notesMaster1.xml" Id="R6553703a303a4d0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0fb01d4267c4025" /><Relationship Type="http://schemas.openxmlformats.org/officeDocument/2006/relationships/notesMaster" Target="/ppt/notesMasters/notesMaster1.xml" Id="R6f7c100ad0a64ac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d837d9f826f44a9" /><Relationship Type="http://schemas.openxmlformats.org/officeDocument/2006/relationships/notesMaster" Target="/ppt/notesMasters/notesMaster1.xml" Id="R7de03baa3658434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db78b33ed004453" /><Relationship Type="http://schemas.openxmlformats.org/officeDocument/2006/relationships/notesMaster" Target="/ppt/notesMasters/notesMaster1.xml" Id="R5358f4b9eb8849b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9c1049c477749e6" /><Relationship Type="http://schemas.openxmlformats.org/officeDocument/2006/relationships/notesMaster" Target="/ppt/notesMasters/notesMaster1.xml" Id="Rd636334bf9dc4c6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cb7976e41180434b" /><Relationship Type="http://schemas.openxmlformats.org/officeDocument/2006/relationships/notesMaster" Target="/ppt/notesMasters/notesMaster1.xml" Id="R6ff2fa3f90e44a0a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049744c4afd94498" /><Relationship Type="http://schemas.openxmlformats.org/officeDocument/2006/relationships/notesMaster" Target="/ppt/notesMasters/notesMaster1.xml" Id="R0536f1a58fb747ab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95671d8f2b2841d8" /><Relationship Type="http://schemas.openxmlformats.org/officeDocument/2006/relationships/notesMaster" Target="/ppt/notesMasters/notesMaster1.xml" Id="R0254b0cebf6b4c3e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bd6683ff90f144ec" /><Relationship Type="http://schemas.openxmlformats.org/officeDocument/2006/relationships/notesMaster" Target="/ppt/notesMasters/notesMaster1.xml" Id="R0327646c57a6410a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2e607701ca38400d" /><Relationship Type="http://schemas.openxmlformats.org/officeDocument/2006/relationships/notesMaster" Target="/ppt/notesMasters/notesMaster1.xml" Id="R1155845c4e6245bd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97b3c9b0edb74367" /><Relationship Type="http://schemas.openxmlformats.org/officeDocument/2006/relationships/notesMaster" Target="/ppt/notesMasters/notesMaster1.xml" Id="R8e4817a26ddc4ba0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6b9b6b9af9994c86" /><Relationship Type="http://schemas.openxmlformats.org/officeDocument/2006/relationships/notesMaster" Target="/ppt/notesMasters/notesMaster1.xml" Id="R6d698bf9dbb547aa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620b03035f8745fc" /><Relationship Type="http://schemas.openxmlformats.org/officeDocument/2006/relationships/notesMaster" Target="/ppt/notesMasters/notesMaster1.xml" Id="Rfa470a9bb2154ca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조사 기준일: 2026-09-30. 외부 사실과 작성자의 사업 제안/가설을 구분함. 목표 수치는 실적이나 확정 사업계획이 아님.</a:t>
            </a:r>
          </a:p>
          <a:p xmlns:a="http://schemas.openxmlformats.org/drawingml/2006/main">
            <a:r>
              <a:t>공유 대화 · 기술 통합 방안 논의</a:t>
            </a:r>
          </a:p>
          <a:p xmlns:a="http://schemas.openxmlformats.org/drawingml/2006/main">
            <a:r>
              <a:t>https://chatgpt.com/share/6abc9e1d-4f6c-83ee-b30e-1eafc9fbbf7c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조사 기준일: 2026-09-30. 외부 사실과 작성자의 사업 제안/가설을 구분함. 목표 수치는 실적이나 확정 사업계획이 아님.</a:t>
            </a:r>
          </a:p>
          <a:p xmlns:a="http://schemas.openxmlformats.org/drawingml/2006/main">
            <a:r>
              <a:t>공유 대화 · 기술 통합 방안 논의</a:t>
            </a:r>
          </a:p>
          <a:p xmlns:a="http://schemas.openxmlformats.org/drawingml/2006/main">
            <a:r>
              <a:t>https://chatgpt.com/share/6abc9e1d-4f6c-83ee-b30e-1eafc9fbbf7c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Bundesnetzagentur · Dynamische Stromtarife</a:t>
            </a:r>
          </a:p>
          <a:p xmlns:a="http://schemas.openxmlformats.org/drawingml/2006/main">
            <a:r>
              <a:t>https://www.bundesnetzagentur.de/DE/Vportal/Energie/Vertragsarten/DynStromtarife/start.html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Ofgem · 2025 유연성 소비자 조사, 2026.05.22</a:t>
            </a:r>
          </a:p>
          <a:p xmlns:a="http://schemas.openxmlformats.org/drawingml/2006/main">
            <a:r>
              <a:t>https://www.ofgem.gov.uk/research/tracking-energy-consumers-use-low-carbon-and-flexible-products-and-services-2025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네덜란드 정부 · 2027년 상계제도 종료</a:t>
            </a:r>
          </a:p>
          <a:p xmlns:a="http://schemas.openxmlformats.org/drawingml/2006/main">
            <a:r>
              <a:t>https://www.rijksoverheid.nl/themas/klimaat-milieu-en-natuur/energie-thuis/salderingsregeling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조사 기준일: 2026-09-30. 외부 사실과 작성자의 사업 제안/가설을 구분함. 목표 수치는 실적이나 확정 사업계획이 아님.</a:t>
            </a:r>
          </a:p>
          <a:p xmlns:a="http://schemas.openxmlformats.org/drawingml/2006/main">
            <a:r>
              <a:t>공유 대화 · 기술 통합 방안 논의</a:t>
            </a:r>
          </a:p>
          <a:p xmlns:a="http://schemas.openxmlformats.org/drawingml/2006/main">
            <a:r>
              <a:t>https://chatgpt.com/share/6abc9e1d-4f6c-83ee-b30e-1eafc9fbbf7c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조사 기준일: 2026-09-30. 외부 사실과 작성자의 사업 제안/가설을 구분함. 목표 수치는 실적이나 확정 사업계획이 아님.</a:t>
            </a:r>
          </a:p>
          <a:p xmlns:a="http://schemas.openxmlformats.org/drawingml/2006/main">
            <a:r>
              <a:t>Bundesnetzagentur · Dynamische Stromtarife</a:t>
            </a:r>
          </a:p>
          <a:p xmlns:a="http://schemas.openxmlformats.org/drawingml/2006/main">
            <a:r>
              <a:t>https://www.bundesnetzagentur.de/DE/Vportal/Energie/Vertragsarten/DynStromtarife/start.html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Bundesnetzagentur · §14a 제어가능 부하</a:t>
            </a:r>
          </a:p>
          <a:p xmlns:a="http://schemas.openxmlformats.org/drawingml/2006/main">
            <a:r>
              <a:t>https://www.bundesnetzagentur.de/DE/Vportal/Energie/SteuerbareVBE/artikel.html?nn=779422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Ofgem · 2025 유연성 소비자 조사, 2026.05.22</a:t>
            </a:r>
          </a:p>
          <a:p xmlns:a="http://schemas.openxmlformats.org/drawingml/2006/main">
            <a:r>
              <a:t>https://www.ofgem.gov.uk/research/tracking-energy-consumers-use-low-carbon-and-flexible-products-and-services-2025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Enedis · 비첨두 시간대 개편, 2025.10.15</a:t>
            </a:r>
          </a:p>
          <a:p xmlns:a="http://schemas.openxmlformats.org/drawingml/2006/main">
            <a:r>
              <a:t>https://www.enedis.fr/presse/enedis-met-en-oeuvre-la-reforme-des-heures-creuses-pour-accompagner-les-nouveaux-usages-lies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네덜란드 정부 · 2027년 상계제도 종료</a:t>
            </a:r>
          </a:p>
          <a:p xmlns:a="http://schemas.openxmlformats.org/drawingml/2006/main">
            <a:r>
              <a:t>https://www.rijksoverheid.nl/themas/klimaat-milieu-en-natuur/energie-thuis/salderingsregeling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조사 기준일: 2026-09-30. 외부 사실과 작성자의 사업 제안/가설을 구분함. 목표 수치는 실적이나 확정 사업계획이 아님.</a:t>
            </a:r>
          </a:p>
          <a:p xmlns:a="http://schemas.openxmlformats.org/drawingml/2006/main">
            <a:r>
              <a:t>호주 정부 · Solar PV and batteries</a:t>
            </a:r>
          </a:p>
          <a:p xmlns:a="http://schemas.openxmlformats.org/drawingml/2006/main">
            <a:r>
              <a:t>https://www.energy.gov.au/households/solar-pv-and-batteries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CPUC · Net Billing Tariff</a:t>
            </a:r>
          </a:p>
          <a:p xmlns:a="http://schemas.openxmlformats.org/drawingml/2006/main">
            <a:r>
              <a:t>https://www.cpuc.ca.gov/industries-and-topics/electrical-energy/demand-side-management/customer-generation/nem-revisit/net-billing-tariff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DEWA · Cooling</a:t>
            </a:r>
          </a:p>
          <a:p xmlns:a="http://schemas.openxmlformats.org/drawingml/2006/main">
            <a:r>
              <a:t>https://www.dewa.gov.ae/en/consumer/sustainability/sustainability-and-conservation/cooling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통계청 · 2024 인구주택총조사, 표 36</a:t>
            </a:r>
          </a:p>
          <a:p xmlns:a="http://schemas.openxmlformats.org/drawingml/2006/main">
            <a:r>
              <a:t>https://www.kostat.go.kr/boardDownload.es?bid=203&amp;list_no=437767&amp;seq=3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Eskom · 전력계통 현황, 2026.09.25</a:t>
            </a:r>
          </a:p>
          <a:p xmlns:a="http://schemas.openxmlformats.org/drawingml/2006/main">
            <a:r>
              <a:t>https://www.eskom.co.za/eskom-achieves-weekly-eaf-of-70-and-year-to-date-eaf-of-68-06-emissions-reduction-target-surpassed-diesel-costs-fall-by-r4-8-billion-year-on-year-and-load-reduction-further-reduced-from-1-69-million/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조사 기준일: 2026-09-30. 외부 사실과 작성자의 사업 제안/가설을 구분함. 목표 수치는 실적이나 확정 사업계획이 아님.</a:t>
            </a:r>
          </a:p>
          <a:p xmlns:a="http://schemas.openxmlformats.org/drawingml/2006/main">
            <a:r>
              <a:t>Bundesnetzagentur · Dynamische Stromtarife</a:t>
            </a:r>
          </a:p>
          <a:p xmlns:a="http://schemas.openxmlformats.org/drawingml/2006/main">
            <a:r>
              <a:t>https://www.bundesnetzagentur.de/DE/Vportal/Energie/Vertragsarten/DynStromtarife/start.html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Bundesnetzagentur · §14a 제어가능 부하</a:t>
            </a:r>
          </a:p>
          <a:p xmlns:a="http://schemas.openxmlformats.org/drawingml/2006/main">
            <a:r>
              <a:t>https://www.bundesnetzagentur.de/DE/Vportal/Energie/SteuerbareVBE/artikel.html?nn=779422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조사 기준일: 2026-09-30. 외부 사실과 작성자의 사업 제안/가설을 구분함. 목표 수치는 실적이나 확정 사업계획이 아님.</a:t>
            </a:r>
          </a:p>
          <a:p xmlns:a="http://schemas.openxmlformats.org/drawingml/2006/main">
            <a:r>
              <a:t>Ofgem · 2025 유연성 소비자 조사, 2026.05.22</a:t>
            </a:r>
          </a:p>
          <a:p xmlns:a="http://schemas.openxmlformats.org/drawingml/2006/main">
            <a:r>
              <a:t>https://www.ofgem.gov.uk/research/tracking-energy-consumers-use-low-carbon-and-flexible-products-and-services-2025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Octopus · Heat pump FAQ</a:t>
            </a:r>
          </a:p>
          <a:p xmlns:a="http://schemas.openxmlformats.org/drawingml/2006/main">
            <a:r>
              <a:t>https://octopus.energy/heat-pump-FAQ/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조사 기준일: 2026-09-30. 외부 사실과 작성자의 사업 제안/가설을 구분함. 목표 수치는 실적이나 확정 사업계획이 아님.</a:t>
            </a:r>
          </a:p>
          <a:p xmlns:a="http://schemas.openxmlformats.org/drawingml/2006/main">
            <a:r>
              <a:t>Enedis · 비첨두 시간대 개편, 2025.10.15</a:t>
            </a:r>
          </a:p>
          <a:p xmlns:a="http://schemas.openxmlformats.org/drawingml/2006/main">
            <a:r>
              <a:t>https://www.enedis.fr/presse/enedis-met-en-oeuvre-la-reforme-des-heures-creuses-pour-accompagner-les-nouveaux-usages-lies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네덜란드 정부 · 2027년 상계제도 종료</a:t>
            </a:r>
          </a:p>
          <a:p xmlns:a="http://schemas.openxmlformats.org/drawingml/2006/main">
            <a:r>
              <a:t>https://www.rijksoverheid.nl/themas/klimaat-milieu-en-natuur/energie-thuis/salderingsregeling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조사 기준일: 2026-09-30. 외부 사실과 작성자의 사업 제안/가설을 구분함. 목표 수치는 실적이나 확정 사업계획이 아님.</a:t>
            </a:r>
          </a:p>
          <a:p xmlns:a="http://schemas.openxmlformats.org/drawingml/2006/main">
            <a:r>
              <a:t>CPUC · Net Billing Tariff</a:t>
            </a:r>
          </a:p>
          <a:p xmlns:a="http://schemas.openxmlformats.org/drawingml/2006/main">
            <a:r>
              <a:t>https://www.cpuc.ca.gov/industries-and-topics/electrical-energy/demand-side-management/customer-generation/nem-revisit/net-billing-tariff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호주 정부 · Solar PV and batteries</a:t>
            </a:r>
          </a:p>
          <a:p xmlns:a="http://schemas.openxmlformats.org/drawingml/2006/main">
            <a:r>
              <a:t>https://www.energy.gov.au/households/solar-pv-and-batteries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미국 DOE · Virtual Power Plants Projects</a:t>
            </a:r>
          </a:p>
          <a:p xmlns:a="http://schemas.openxmlformats.org/drawingml/2006/main">
            <a:r>
              <a:t>https://www.energy.gov/edf/virtual-power-plants-projects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조사 기준일: 2026-09-30. 외부 사실과 작성자의 사업 제안/가설을 구분함. 목표 수치는 실적이나 확정 사업계획이 아님.</a:t>
            </a:r>
          </a:p>
          <a:p xmlns:a="http://schemas.openxmlformats.org/drawingml/2006/main">
            <a:r>
              <a:t>DEWA · Cooling</a:t>
            </a:r>
          </a:p>
          <a:p xmlns:a="http://schemas.openxmlformats.org/drawingml/2006/main">
            <a:r>
              <a:t>https://www.dewa.gov.ae/en/consumer/sustainability/sustainability-and-conservation/cooling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통계청 · 2024 인구주택총조사, 표 36</a:t>
            </a:r>
          </a:p>
          <a:p xmlns:a="http://schemas.openxmlformats.org/drawingml/2006/main">
            <a:r>
              <a:t>https://www.kostat.go.kr/boardDownload.es?bid=203&amp;list_no=437767&amp;seq=3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조사 기준일: 2026-09-30. 외부 사실과 작성자의 사업 제안/가설을 구분함. 목표 수치는 실적이나 확정 사업계획이 아님.</a:t>
            </a:r>
          </a:p>
          <a:p xmlns:a="http://schemas.openxmlformats.org/drawingml/2006/main">
            <a:r>
              <a:t>SMA · Sunny Home Manager 2.0</a:t>
            </a:r>
          </a:p>
          <a:p xmlns:a="http://schemas.openxmlformats.org/drawingml/2006/main">
            <a:r>
              <a:t>https://www.sma.de/en/products/energy-management/sunny-home-manager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Tesla · Savings Mode</a:t>
            </a:r>
          </a:p>
          <a:p xmlns:a="http://schemas.openxmlformats.org/drawingml/2006/main">
            <a:r>
              <a:t>https://www.tesla.com/en_gb/support/energy/powerwall/mobile-app/savings-mode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Octopus · Heat pump FAQ</a:t>
            </a:r>
          </a:p>
          <a:p xmlns:a="http://schemas.openxmlformats.org/drawingml/2006/main">
            <a:r>
              <a:t>https://octopus.energy/heat-pump-FAQ/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Schneider · Residential products</a:t>
            </a:r>
          </a:p>
          <a:p xmlns:a="http://schemas.openxmlformats.org/drawingml/2006/main">
            <a:r>
              <a:t>https://www.se.com/us/en/work/products/residential-and-small-business/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조사 기준일: 2026-09-30. 외부 사실과 작성자의 사업 제안/가설을 구분함. 목표 수치는 실적이나 확정 사업계획이 아님.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조사 기준일: 2026-09-30. 외부 사실과 작성자의 사업 제안/가설을 구분함. 목표 수치는 실적이나 확정 사업계획이 아님.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조사 기준일: 2026-09-30. 외부 사실과 작성자의 사업 제안/가설을 구분함. 목표 수치는 실적이나 확정 사업계획이 아님.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조사 기준일: 2026-09-30. 외부 사실과 작성자의 사업 제안/가설을 구분함. 목표 수치는 실적이나 확정 사업계획이 아님.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조사 기준일: 2026-09-30. 외부 사실과 작성자의 사업 제안/가설을 구분함. 목표 수치는 실적이나 확정 사업계획이 아님.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조사 기준일: 2026-09-30. 외부 사실과 작성자의 사업 제안/가설을 구분함. 목표 수치는 실적이나 확정 사업계획이 아님.</a:t>
            </a:r>
          </a:p>
          <a:p xmlns:a="http://schemas.openxmlformats.org/drawingml/2006/main">
            <a:r>
              <a:t>공유 대화 · 기술 통합 방안 논의</a:t>
            </a:r>
          </a:p>
          <a:p xmlns:a="http://schemas.openxmlformats.org/drawingml/2006/main">
            <a:r>
              <a:t>https://chatgpt.com/share/6abc9e1d-4f6c-83ee-b30e-1eafc9fbbf7c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조사 기준일: 2026-09-30. 외부 사실과 작성자의 사업 제안/가설을 구분함. 목표 수치는 실적이나 확정 사업계획이 아님.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조사 기준일: 2026-09-30. 외부 사실과 작성자의 사업 제안/가설을 구분함. 목표 수치는 실적이나 확정 사업계획이 아님.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조사 기준일: 2026-09-30. 외부 사실과 작성자의 사업 제안/가설을 구분함. 목표 수치는 실적이나 확정 사업계획이 아님.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조사 기준일: 2026-09-30. 외부 사실과 작성자의 사업 제안/가설을 구분함. 목표 수치는 실적이나 확정 사업계획이 아님.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조사 기준일: 2026-09-30. 외부 사실과 작성자의 사업 제안/가설을 구분함. 목표 수치는 실적이나 확정 사업계획이 아님.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조사 기준일: 2026-09-30. 외부 사실과 작성자의 사업 제안/가설을 구분함. 목표 수치는 실적이나 확정 사업계획이 아님.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조사 기준일: 2026-09-30. 외부 사실과 작성자의 사업 제안/가설을 구분함. 목표 수치는 실적이나 확정 사업계획이 아님.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조사 기준일: 2026-09-30. 외부 사실과 작성자의 사업 제안/가설을 구분함. 목표 수치는 실적이나 확정 사업계획이 아님.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조사 기준일: 2026-09-30. 외부 사실과 작성자의 사업 제안/가설을 구분함. 목표 수치는 실적이나 확정 사업계획이 아님.</a:t>
            </a:r>
          </a:p>
          <a:p xmlns:a="http://schemas.openxmlformats.org/drawingml/2006/main">
            <a:r>
              <a:t>공유 대화 · 기술 통합 방안 논의</a:t>
            </a:r>
          </a:p>
          <a:p xmlns:a="http://schemas.openxmlformats.org/drawingml/2006/main">
            <a:r>
              <a:t>https://chatgpt.com/share/6abc9e1d-4f6c-83ee-b30e-1eafc9fbbf7c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조사 기준일: 2026-09-30. 외부 사실과 작성자의 사업 제안/가설을 구분함. 목표 수치는 실적이나 확정 사업계획이 아님.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조사 기준일: 2026-09-30. 외부 사실과 작성자의 사업 제안/가설을 구분함. 목표 수치는 실적이나 확정 사업계획이 아님.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조사 기준일: 2026-09-30. 외부 사실과 작성자의 사업 제안/가설을 구분함. 목표 수치는 실적이나 확정 사업계획이 아님.</a:t>
            </a:r>
          </a:p>
          <a:p xmlns:a="http://schemas.openxmlformats.org/drawingml/2006/main">
            <a:r>
              <a:t>공유 대화 · 기술 통합 방안 논의</a:t>
            </a:r>
          </a:p>
          <a:p xmlns:a="http://schemas.openxmlformats.org/drawingml/2006/main">
            <a:r>
              <a:t>https://chatgpt.com/share/6abc9e1d-4f6c-83ee-b30e-1eafc9fbbf7c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Bundesnetzagentur · Dynamische Stromtarife</a:t>
            </a:r>
          </a:p>
          <a:p xmlns:a="http://schemas.openxmlformats.org/drawingml/2006/main">
            <a:r>
              <a:t>https://www.bundesnetzagentur.de/DE/Vportal/Energie/Vertragsarten/DynStromtarife/start.html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Bundesnetzagentur · §14a 제어가능 부하</a:t>
            </a:r>
          </a:p>
          <a:p xmlns:a="http://schemas.openxmlformats.org/drawingml/2006/main">
            <a:r>
              <a:t>https://www.bundesnetzagentur.de/DE/Vportal/Energie/SteuerbareVBE/artikel.html?nn=779422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Ofgem · 2025 유연성 소비자 조사, 2026.05.22</a:t>
            </a:r>
          </a:p>
          <a:p xmlns:a="http://schemas.openxmlformats.org/drawingml/2006/main">
            <a:r>
              <a:t>https://www.ofgem.gov.uk/research/tracking-energy-consumers-use-low-carbon-and-flexible-products-and-services-2025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Enedis · 비첨두 시간대 개편, 2025.10.15</a:t>
            </a:r>
          </a:p>
          <a:p xmlns:a="http://schemas.openxmlformats.org/drawingml/2006/main">
            <a:r>
              <a:t>https://www.enedis.fr/presse/enedis-met-en-oeuvre-la-reforme-des-heures-creuses-pour-accompagner-les-nouveaux-usages-lies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네덜란드 정부 · 2027년 상계제도 종료</a:t>
            </a:r>
          </a:p>
          <a:p xmlns:a="http://schemas.openxmlformats.org/drawingml/2006/main">
            <a:r>
              <a:t>https://www.rijksoverheid.nl/themas/klimaat-milieu-en-natuur/energie-thuis/salderingsregeling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호주 정부 · Solar PV and batteries</a:t>
            </a:r>
          </a:p>
          <a:p xmlns:a="http://schemas.openxmlformats.org/drawingml/2006/main">
            <a:r>
              <a:t>https://www.energy.gov.au/households/solar-pv-and-batteries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CPUC · Net Billing Tariff</a:t>
            </a:r>
          </a:p>
          <a:p xmlns:a="http://schemas.openxmlformats.org/drawingml/2006/main">
            <a:r>
              <a:t>https://www.cpuc.ca.gov/industries-and-topics/electrical-energy/demand-side-management/customer-generation/nem-revisit/net-billing-tariff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조사 기준일: 2026-09-30. 외부 사실과 작성자의 사업 제안/가설을 구분함. 목표 수치는 실적이나 확정 사업계획이 아님.</a:t>
            </a:r>
          </a:p>
          <a:p xmlns:a="http://schemas.openxmlformats.org/drawingml/2006/main">
            <a:r>
              <a:t>DEWA · Cooling</a:t>
            </a:r>
          </a:p>
          <a:p xmlns:a="http://schemas.openxmlformats.org/drawingml/2006/main">
            <a:r>
              <a:t>https://www.dewa.gov.ae/en/consumer/sustainability/sustainability-and-conservation/cooling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통계청 · 2024 인구주택총조사, 표 36</a:t>
            </a:r>
          </a:p>
          <a:p xmlns:a="http://schemas.openxmlformats.org/drawingml/2006/main">
            <a:r>
              <a:t>https://www.kostat.go.kr/boardDownload.es?bid=203&amp;list_no=437767&amp;seq=3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Eskom · 전력계통 현황, 2026.09.25</a:t>
            </a:r>
          </a:p>
          <a:p xmlns:a="http://schemas.openxmlformats.org/drawingml/2006/main">
            <a:r>
              <a:t>https://www.eskom.co.za/eskom-achieves-weekly-eaf-of-70-and-year-to-date-eaf-of-68-06-emissions-reduction-target-surpassed-diesel-costs-fall-by-r4-8-billion-year-on-year-and-load-reduction-further-reduced-from-1-69-million/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미국 DOE · Virtual Power Plants Projects</a:t>
            </a:r>
          </a:p>
          <a:p xmlns:a="http://schemas.openxmlformats.org/drawingml/2006/main">
            <a:r>
              <a:t>https://www.energy.gov/edf/virtual-power-plants-projects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SMA · Sunny Home Manager 2.0</a:t>
            </a:r>
          </a:p>
          <a:p xmlns:a="http://schemas.openxmlformats.org/drawingml/2006/main">
            <a:r>
              <a:t>https://www.sma.de/en/products/energy-management/sunny-home-manager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Tesla · Savings Mode</a:t>
            </a:r>
          </a:p>
          <a:p xmlns:a="http://schemas.openxmlformats.org/drawingml/2006/main">
            <a:r>
              <a:t>https://www.tesla.com/en_gb/support/energy/powerwall/mobile-app/savings-mode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Octopus · Heat pump FAQ</a:t>
            </a:r>
          </a:p>
          <a:p xmlns:a="http://schemas.openxmlformats.org/drawingml/2006/main">
            <a:r>
              <a:t>https://octopus.energy/heat-pump-FAQ/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Schneider · Residential products</a:t>
            </a:r>
          </a:p>
          <a:p xmlns:a="http://schemas.openxmlformats.org/drawingml/2006/main">
            <a:r>
              <a:t>https://www.se.com/us/en/work/products/residential-and-small-business/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1ccd182ea24ab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fd102999ab3436d" /><Relationship Type="http://schemas.openxmlformats.org/officeDocument/2006/relationships/slideLayout" Target="/ppt/slideLayouts/slideLayout1.xml" Id="R1c293a5373ce4c1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c293a5373ce4c1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4e1d4a2b914767" /><Relationship Type="http://schemas.openxmlformats.org/officeDocument/2006/relationships/notesSlide" Target="/ppt/notesSlides/notesSlide1.xml" Id="R255f8e56977d421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5023545ed04754" /><Relationship Type="http://schemas.openxmlformats.org/officeDocument/2006/relationships/notesSlide" Target="/ppt/notesSlides/notesSlide2.xml" Id="R137f6472545c431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01a6c13fb540cd" /><Relationship Type="http://schemas.openxmlformats.org/officeDocument/2006/relationships/notesSlide" Target="/ppt/notesSlides/notesSlide3.xml" Id="R7675cdb8c463406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ee35282dc04b10" /><Relationship Type="http://schemas.openxmlformats.org/officeDocument/2006/relationships/notesSlide" Target="/ppt/notesSlides/notesSlide4.xml" Id="Raa17388fce44448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9ce62154424495" /><Relationship Type="http://schemas.openxmlformats.org/officeDocument/2006/relationships/notesSlide" Target="/ppt/notesSlides/notesSlide5.xml" Id="R12e8e3fc36e4434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5e5886f6c34c8f" /><Relationship Type="http://schemas.openxmlformats.org/officeDocument/2006/relationships/notesSlide" Target="/ppt/notesSlides/notesSlide6.xml" Id="Re004f0d88fcd426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abd43143294736" /><Relationship Type="http://schemas.openxmlformats.org/officeDocument/2006/relationships/notesSlide" Target="/ppt/notesSlides/notesSlide7.xml" Id="Ra92d78686197485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ec6d592c1843c2" /><Relationship Type="http://schemas.openxmlformats.org/officeDocument/2006/relationships/notesSlide" Target="/ppt/notesSlides/notesSlide8.xml" Id="Ra6d031943a2346c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9a17da7fa34979" /><Relationship Type="http://schemas.openxmlformats.org/officeDocument/2006/relationships/notesSlide" Target="/ppt/notesSlides/notesSlide9.xml" Id="Rf84208f6953b406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6d4197e90b4b0d" /><Relationship Type="http://schemas.openxmlformats.org/officeDocument/2006/relationships/notesSlide" Target="/ppt/notesSlides/notesSlide10.xml" Id="Rfe76f52aae63464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142c15289d41d9" /><Relationship Type="http://schemas.openxmlformats.org/officeDocument/2006/relationships/notesSlide" Target="/ppt/notesSlides/notesSlide11.xml" Id="R953cc90a565b4f9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ec585afb7f4c5a" /><Relationship Type="http://schemas.openxmlformats.org/officeDocument/2006/relationships/notesSlide" Target="/ppt/notesSlides/notesSlide12.xml" Id="Rf05980c03fc34b5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37f9b409414baf" /><Relationship Type="http://schemas.openxmlformats.org/officeDocument/2006/relationships/notesSlide" Target="/ppt/notesSlides/notesSlide13.xml" Id="R32702b93346d47e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dc0fa023e24e82" /><Relationship Type="http://schemas.openxmlformats.org/officeDocument/2006/relationships/notesSlide" Target="/ppt/notesSlides/notesSlide14.xml" Id="Rb3278c0676f7434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94b3f5639242fb" /><Relationship Type="http://schemas.openxmlformats.org/officeDocument/2006/relationships/notesSlide" Target="/ppt/notesSlides/notesSlide15.xml" Id="Re5ab7c1db599409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959e0e72d644df" /><Relationship Type="http://schemas.openxmlformats.org/officeDocument/2006/relationships/notesSlide" Target="/ppt/notesSlides/notesSlide16.xml" Id="R5c1aa74c1cc8459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5adf60f1454b63" /><Relationship Type="http://schemas.openxmlformats.org/officeDocument/2006/relationships/notesSlide" Target="/ppt/notesSlides/notesSlide17.xml" Id="R4916a08300e244d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24f08d4bd745be" /><Relationship Type="http://schemas.openxmlformats.org/officeDocument/2006/relationships/notesSlide" Target="/ppt/notesSlides/notesSlide18.xml" Id="R09b995f3ccf74ab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12cb61561a4ea9" /><Relationship Type="http://schemas.openxmlformats.org/officeDocument/2006/relationships/notesSlide" Target="/ppt/notesSlides/notesSlide19.xml" Id="R9b7296ab45ec4b9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1ee3e1983f4c2b" /><Relationship Type="http://schemas.openxmlformats.org/officeDocument/2006/relationships/notesSlide" Target="/ppt/notesSlides/notesSlide20.xml" Id="R9205012a48494da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c85d4a8f514688" /><Relationship Type="http://schemas.openxmlformats.org/officeDocument/2006/relationships/notesSlide" Target="/ppt/notesSlides/notesSlide21.xml" Id="Rb72cfc14a4e1479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abfa0dbb8b4ac2" /><Relationship Type="http://schemas.openxmlformats.org/officeDocument/2006/relationships/notesSlide" Target="/ppt/notesSlides/notesSlide22.xml" Id="R519eda9856034dcc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485771e55243d8" /><Relationship Type="http://schemas.openxmlformats.org/officeDocument/2006/relationships/notesSlide" Target="/ppt/notesSlides/notesSlide23.xml" Id="R4327b2ce9c9745e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387c600e944651" /><Relationship Type="http://schemas.openxmlformats.org/officeDocument/2006/relationships/notesSlide" Target="/ppt/notesSlides/notesSlide24.xml" Id="Rca71150b83884ea2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d82f8c932c4a4f" /><Relationship Type="http://schemas.openxmlformats.org/officeDocument/2006/relationships/notesSlide" Target="/ppt/notesSlides/notesSlide25.xml" Id="Re390c7b819224791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c3158c3dff4df9" /><Relationship Type="http://schemas.openxmlformats.org/officeDocument/2006/relationships/notesSlide" Target="/ppt/notesSlides/notesSlide26.xml" Id="R8a52e7b3be1f4b86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61bd421d2a45a0" /><Relationship Type="http://schemas.openxmlformats.org/officeDocument/2006/relationships/notesSlide" Target="/ppt/notesSlides/notesSlide27.xml" Id="R4b4e1eb52b8a44cd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41ecf1c43744b5" /><Relationship Type="http://schemas.openxmlformats.org/officeDocument/2006/relationships/notesSlide" Target="/ppt/notesSlides/notesSlide28.xml" Id="R2fff53a10bb84592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ba348bc0cd48de" /><Relationship Type="http://schemas.openxmlformats.org/officeDocument/2006/relationships/notesSlide" Target="/ppt/notesSlides/notesSlide29.xml" Id="R2815441c2f28496a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af545b429340f4" /><Relationship Type="http://schemas.openxmlformats.org/officeDocument/2006/relationships/notesSlide" Target="/ppt/notesSlides/notesSlide30.xml" Id="Rf9553f4b0fe5460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04A2FB-A0F6-446D-A455-7244272D6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11010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Energy Pack의 다음 성장 기회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7997CE-82DC-4AAB-BC08-DE57C7C1B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609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9BB7C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9BB7CA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8B992E-B273-4973-BA12-CCFD8E66C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81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9BB7C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9BB7CA"/>
                </a:solidFill>
                <a:latin typeface="Malgun Gothic"/>
                <a:ea typeface="Malgun Gothic"/>
                <a:cs typeface="Malgun Gothic"/>
              </a:rPr>
              <a:t>ENERGY PACK  /  신사업·신기술 검토  /  2026.09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99989F-4072-4390-92E2-FD3676673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62175"/>
            <a:ext cx="1066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국가별 Pain Point에서 찾는</a:t>
            </a:r>
          </a:p>
          <a:p xmlns:a="http://schemas.openxmlformats.org/drawingml/2006/main">
            <a:pPr>
              <a:defRPr sz="4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2027–2028 신기술 과제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2F7B42-3E0C-4553-B363-E40485397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257675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BFD8DC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BFD8DC"/>
                </a:solidFill>
                <a:latin typeface="Malgun Gothic"/>
                <a:ea typeface="Malgun Gothic"/>
                <a:cs typeface="Malgun Gothic"/>
              </a:rPr>
              <a:t>설치 부담을 줄이고, 냉난방까지 제어하고,</a:t>
            </a:r>
          </a:p>
          <a:p xmlns:a="http://schemas.openxmlformats.org/drawingml/2006/main">
            <a:pPr>
              <a:defRPr sz="2250" b="0">
                <a:solidFill>
                  <a:srgbClr val="BFD8DC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BFD8DC"/>
                </a:solidFill>
                <a:latin typeface="Malgun Gothic"/>
                <a:ea typeface="Malgun Gothic"/>
                <a:cs typeface="Malgun Gothic"/>
              </a:rPr>
              <a:t>고객에게 남는 이익을 증명하는 사업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74FC6F-185B-40ED-A5BA-DF9EB43B1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686425"/>
            <a:ext cx="971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5BB66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E5BB66"/>
                </a:solidFill>
                <a:latin typeface="Malgun Gothic"/>
                <a:ea typeface="Malgun Gothic"/>
                <a:cs typeface="Malgun Gothic"/>
              </a:rPr>
              <a:t>CTO 의사결정용 제안 초안</a:t>
            </a:r>
          </a:p>
        </p:txBody>
      </p:sp>
    </p:spTree>
    <p:extLst>
      <p:ext uri="{BB962C8B-B14F-4D97-AF65-F5344CB8AC3E}">
        <p14:creationId xmlns:p14="http://schemas.microsoft.com/office/powerpoint/2010/main" val="6275004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F60FE1-5EA0-45C5-97A7-B277B6663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11010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추천: 독일·영국에서 2개 과제를 우선 검증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F4E3EF-AB70-4863-A544-222B8FF73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네덜란드를 후속 시장으로 준비하고, 7명은 공통 기술 개발에 집중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5A1C0C-0D46-41E0-B58E-AC94A1674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609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08975B-6ECD-4152-8895-49919E98A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81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ENERGY PACK  /  신사업·신기술 검토  /  2026.09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003D22-A432-40F1-B4EF-4BB97DC85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33600"/>
            <a:ext cx="10810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F78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007F78"/>
                </a:solidFill>
                <a:latin typeface="Malgun Gothic"/>
                <a:ea typeface="Malgun Gothic"/>
                <a:cs typeface="Malgun Gothic"/>
              </a:rPr>
              <a:t>과제 A  설치 자동화 모듈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1EC944-0BB3-481E-A290-CEDCD4536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90800"/>
            <a:ext cx="10810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혼합 제조사 기기의 연결·설정·검증을 자동화해 설치업체의 작업시간과 재방문을 줄인다.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6A8AE1-0BC8-4BC2-AF2A-77B56264C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90900"/>
            <a:ext cx="10810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F78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007F78"/>
                </a:solidFill>
                <a:latin typeface="Malgun Gothic"/>
                <a:ea typeface="Malgun Gothic"/>
                <a:cs typeface="Malgun Gothic"/>
              </a:rPr>
              <a:t>과제 B  냉난방 유연성 제어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51B74E-C42F-4D8E-9E8B-C143A8B5A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48100"/>
            <a:ext cx="10810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쾌적함을 지키면서 히트펌프·급탕·ESS의 운전을 조정하고 실제 순편익을 입증한다.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BE3A6A-52B0-4215-9D74-08379D1E6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48200"/>
            <a:ext cx="10810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F78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007F78"/>
                </a:solidFill>
                <a:latin typeface="Malgun Gothic"/>
                <a:ea typeface="Malgun Gothic"/>
                <a:cs typeface="Malgun Gothic"/>
              </a:rPr>
              <a:t>조건부 확장  정전 대응·전력시장 참여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39D53F-37A7-48F0-B5AC-1B7B1575C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05400"/>
            <a:ext cx="10810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공통 기술을 확보한 뒤 미국·호주 파트너와 확장한다. 초기부터 모든 국가를 개발하지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12643845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6B3E79-BF28-4758-9050-555FA2B6A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11010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사업과 기술의 책임 범위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35E968-E3E1-4438-AA63-A2469045F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스마트 코티지는 적용 상품, Energy Pack은 판매 패키지, HEMS는 공통 제어 기술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9FEAEF-443C-45C2-8996-CA38CCA38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609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CA9D4D-E9EB-4453-A0E1-3A80EA083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81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ENERGY PACK  /  신사업·신기술 검토  /  2026.09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057400"/>
          <a:ext xmlns:a="http://schemas.openxmlformats.org/drawingml/2006/main" cx="10972800" cy="32099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4238625"/>
                <a:gridCol w="4543425"/>
              </a:tblGrid>
              <a:tr h="802481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고객에게 파는 것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이번 과제의 기여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</a:tr>
              <a:tr h="802481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스마트 코티지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주거 공간과 설비를 결합한 상품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에너지·스마트홈 통합 실증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02481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Energy Pack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PV·ESS·히트펌프 등 구성 상품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설치·운영 모듈로 판매 경쟁력 강화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</a:tr>
              <a:tr h="802481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HEMS 공통 기술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기기 연결, 에너지 운전, 운영 서비스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국가를 바꾸어도 재사용하는 기술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139F5D-CAF8-4536-8F26-3B31C62D9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24550"/>
            <a:ext cx="10896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미국 스마트 코티지 판매는 회의에서 제외한 범위. 미국 기회는 Energy Pack·기술 파트너십으로 별도 검토.</a:t>
            </a:r>
          </a:p>
        </p:txBody>
      </p:sp>
    </p:spTree>
    <p:extLst>
      <p:ext uri="{BB962C8B-B14F-4D97-AF65-F5344CB8AC3E}">
        <p14:creationId xmlns:p14="http://schemas.microsoft.com/office/powerpoint/2010/main" val="92133982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62A7DA-CB45-41CE-B392-70833303A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11010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국가별 기회: 유럽 4개국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7A7978-1F16-4070-826E-BD8F55494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공식 제도·소비자 조사에 근거한 문제와 사업 가설을 구분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B63BA3-CED8-4392-8DF7-B3EBFD097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609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7DB7B2-F060-4BC5-8C2D-256E2264F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81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ENERGY PACK  /  신사업·신기술 검토  /  2026.09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057400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4095750"/>
                <a:gridCol w="4019550"/>
              </a:tblGrid>
              <a:tr h="7429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국가·대상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확인한 변화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지불 이유에 대한 가설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독일 / HP·EV 보유 주택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동적요금 제공 의무, §14a 제어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설치업체가 연동·검증 비용 지불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영국 / 전기난방·EV 가구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TOU 미가입자 중 전환 의향 17%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요금사업자가 절감 신뢰·운영을 구매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프랑스 / 급탕·전기난방 가구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2025–2027 비첨두 시간대 변경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기존 기기 설정 변경을 원격으로 처리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네덜란드 / PV 보유 가구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2027.1.1 상계제도 종료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자가소비 확대를 위한 열부하 제어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0CE0C8-6B02-4996-ABC2-CE469E215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24550"/>
            <a:ext cx="10896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TOU: 시간대별 요금. 제도 변화가 곧 구매수요를 의미하지는 않으며, 지불 의향은 현지 검증 대상.</a:t>
            </a:r>
          </a:p>
        </p:txBody>
      </p:sp>
    </p:spTree>
    <p:extLst>
      <p:ext uri="{BB962C8B-B14F-4D97-AF65-F5344CB8AC3E}">
        <p14:creationId xmlns:p14="http://schemas.microsoft.com/office/powerpoint/2010/main" val="175278084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45A6EF-4C76-4322-BD19-FAE0548A4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11010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국가별 기회: 유럽 외 5개국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E47A41-23C5-40AE-9165-DD2EE4EBD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전국 평균보다 고객의 주거형태·설비·요금 계약이 중요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82398E-2857-423A-9CAE-54741DCA3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609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27826B-CA08-426F-AF85-CE487BD2D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81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ENERGY PACK  /  신사업·신기술 검토  /  2026.09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057400"/>
          <a:ext xmlns:a="http://schemas.openxmlformats.org/drawingml/2006/main" cx="10972800" cy="38385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4095750"/>
                <a:gridCol w="4019550"/>
              </a:tblGrid>
              <a:tr h="63976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국가·범위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확인한 배경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검증할 상품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</a:tr>
              <a:tr h="63976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호주 / PV·배터리 보유 가구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2025.7부터 가정용 배터리 지원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배터리·냉난방 통합 운전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3976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미국 / 캘리포니아 우선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NBT로 태양광 수출 보상 구조 변화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열부하·배터리 운전과 백업 잔량 관리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</a:tr>
              <a:tr h="63976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UAE / 개별 냉방 빌라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DEWA가 냉방 설정·운영 효율 강조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온습도 기반 쾌적 냉방 제어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3976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한국 / 공동주택 사업자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2024년 전체 주택 중 아파트 65.3%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공용 설비·충전기 묶음 운영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</a:tr>
              <a:tr h="63976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남아공 / 지역 한정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2026.9.25 기준 497일 부하차단 없음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정전 상품은 지역 장애 수요부터 재확인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FF461E-703A-4DBF-B12D-BF86BE106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24550"/>
            <a:ext cx="10896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남아공의 전국 순환 부하차단(loadshedding)과 지역 공급제한(load reduction)은 다른 현상.</a:t>
            </a:r>
          </a:p>
        </p:txBody>
      </p:sp>
    </p:spTree>
    <p:extLst>
      <p:ext uri="{BB962C8B-B14F-4D97-AF65-F5344CB8AC3E}">
        <p14:creationId xmlns:p14="http://schemas.microsoft.com/office/powerpoint/2010/main" val="70504368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C77CC9-097E-4347-A40C-9DC4BA787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11010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독일: 설치업체의 복잡성을 줄이는 제품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1DF714-9FA0-41C9-AE40-9433865A3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동적요금·히트펌프·EV·계통제어를 한 현장에서 다뤄야 하는 고객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2AD206-5724-4BAA-BC47-6B15B50D6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609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62874A-8F31-4664-9478-400B532F9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81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ENERGY PACK  /  신사업·신기술 검토  /  2026.09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8720ED-64DA-4245-A346-0969389FB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5219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7F78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007F78"/>
                </a:solidFill>
                <a:latin typeface="Malgun Gothic"/>
                <a:ea typeface="Malgun Gothic"/>
                <a:cs typeface="Malgun Gothic"/>
              </a:rPr>
              <a:t>고객과 기존 대안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6C9599-F38E-4FE0-89A1-D9B045C53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71775"/>
            <a:ext cx="5191125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지불자 후보: Energy Pack 설치업체·OEM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기존 대안: 기기별 앱과 매뉴얼,</a:t>
            </a:r>
          </a:p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이미 판매 중인 HEMS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문제 가설: 연결은 가능해도</a:t>
            </a:r>
          </a:p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배선·제어 권한·설정 검증이 번거롭다.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361448-5573-44FB-B9E2-6D0AD0995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85975"/>
            <a:ext cx="5219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7F78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007F78"/>
                </a:solidFill>
                <a:latin typeface="Malgun Gothic"/>
                <a:ea typeface="Malgun Gothic"/>
                <a:cs typeface="Malgun Gothic"/>
              </a:rPr>
              <a:t>제안: 설치 자동화 모듈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D63C7A-C7C4-4443-99DB-C46935601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771775"/>
            <a:ext cx="5191125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지원 기기를 발견하고 제어 능력을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승인된 지역 규칙으로 설정을 생성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통신·계측·계통 명령 시험 후</a:t>
            </a:r>
          </a:p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설치 완료 보고서를 자동 발급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1차 목표: 설정·검증 시간 50% 단축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247B2A-83E0-45C2-B59B-7FEC02388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24550"/>
            <a:ext cx="10896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§14a는 모든 가전 대상이 아님. 2024년 이후 신규 설치 등 적용 조건을 확인하며, 목표치는 제안값.</a:t>
            </a:r>
          </a:p>
        </p:txBody>
      </p:sp>
    </p:spTree>
    <p:extLst>
      <p:ext uri="{BB962C8B-B14F-4D97-AF65-F5344CB8AC3E}">
        <p14:creationId xmlns:p14="http://schemas.microsoft.com/office/powerpoint/2010/main" val="54625197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E46CEF-63AC-4B9A-AA56-0A6E4463A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11010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영국: 절약 가능성과 실제 가입 사이의 간극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A07000-966E-4EFD-A039-119CB82D2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Ofgem 2025 조사, 2026년 발표. 아래 두 비율은 모집단이 같지 않음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CCE6B7-361D-42AA-8FC5-B1319017C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609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82D2FC-94B0-4833-9B40-5765D28B0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81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ENERGY PACK  /  신사업·신기술 검토  /  2026.09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C4A9CA-C580-4C58-8698-058A76BB1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152650"/>
            <a:ext cx="4381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150" b="1">
                <a:solidFill>
                  <a:srgbClr val="007F78"/>
                </a:solidFill>
                <a:latin typeface="Malgun Gothic"/>
                <a:ea typeface="Malgun Gothic"/>
                <a:cs typeface="Malgun Gothic"/>
              </a:defRPr>
            </a:pPr>
            <a:r>
              <a:rPr sz="6150" b="1">
                <a:solidFill>
                  <a:srgbClr val="007F78"/>
                </a:solidFill>
                <a:latin typeface="Malgun Gothic"/>
                <a:ea typeface="Malgun Gothic"/>
                <a:cs typeface="Malgun Gothic"/>
              </a:rPr>
              <a:t>49%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3068D3-404F-4703-B06B-81C31F199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47148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TOU가 비용을 줄일 수 있다고 보는 소비자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5F5C57-18A2-4AE7-94E1-6C9EA23D6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152650"/>
            <a:ext cx="44291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150" b="1">
                <a:solidFill>
                  <a:srgbClr val="007F78"/>
                </a:solidFill>
                <a:latin typeface="Malgun Gothic"/>
                <a:ea typeface="Malgun Gothic"/>
                <a:cs typeface="Malgun Gothic"/>
              </a:defRPr>
            </a:pPr>
            <a:r>
              <a:rPr sz="6150" b="1">
                <a:solidFill>
                  <a:srgbClr val="007F78"/>
                </a:solidFill>
                <a:latin typeface="Malgun Gothic"/>
                <a:ea typeface="Malgun Gothic"/>
                <a:cs typeface="Malgun Gothic"/>
              </a:rPr>
              <a:t>17%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F2ABAD-0D6B-4C41-B6E2-ADFEA3B95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314700"/>
            <a:ext cx="4667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TOU 미가입자 중</a:t>
            </a:r>
          </a:p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향후 전환 의향이 있는 소비자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28CE8B-B0CB-4F02-B4DE-182D0477C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38675"/>
            <a:ext cx="10572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제안: 절감 증명 + 쾌적함을 지키는 자동운전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0E255B-535F-43B0-A88E-B59A38C8B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0542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전력 소매사와 판매하고, 고객에게는 운전 전후 순편익·수수료·온도 이탈을 함께 공개</a:t>
            </a:r>
          </a:p>
        </p:txBody>
      </p:sp>
    </p:spTree>
    <p:extLst>
      <p:ext uri="{BB962C8B-B14F-4D97-AF65-F5344CB8AC3E}">
        <p14:creationId xmlns:p14="http://schemas.microsoft.com/office/powerpoint/2010/main" val="190225125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5E3E7A-06AA-41FA-9293-2C24EA4F4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11010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프랑스·네덜란드: 제도 변화가 운전을 바꾼다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6E402A-506F-4EAC-A423-F485184BF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요금 데이터 갱신만으로 끝내지 않고 급탕·냉난방 운전까지 연결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3D57F2-8B05-43DC-9948-70BA89A8D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609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769577-63A6-4766-A792-3D033FE0F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81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ENERGY PACK  /  신사업·신기술 검토  /  2026.09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2F5AB3-0295-4F8E-B7C1-2EF111B98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5219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7F78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007F78"/>
                </a:solidFill>
                <a:latin typeface="Malgun Gothic"/>
                <a:ea typeface="Malgun Gothic"/>
                <a:cs typeface="Malgun Gothic"/>
              </a:rPr>
              <a:t>프랑스  스케줄 변경 자동화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0FD6D9-F768-4DA3-83AB-93C0095C6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71775"/>
            <a:ext cx="5191125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확인: 1,100만 고객의 비첨두 시간대가</a:t>
            </a:r>
          </a:p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2025.11–2027.10 순차 변경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대상: 고정 타이머로 급탕·난방하는 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제안: 공식 계약 정보를 확인한 뒤</a:t>
            </a:r>
          </a:p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기기 스케줄을 변경하고 결과 검증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요금 변경 대응은 지역화 기능으로 개발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0293E5-240F-4C9B-9FF7-7AB4A9EC5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85975"/>
            <a:ext cx="5219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7F78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007F78"/>
                </a:solidFill>
                <a:latin typeface="Malgun Gothic"/>
                <a:ea typeface="Malgun Gothic"/>
                <a:cs typeface="Malgun Gothic"/>
              </a:rPr>
              <a:t>네덜란드  태양광을 열로 저장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03F160-E344-49DE-A9EA-F527619AA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771775"/>
            <a:ext cx="5191125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확인: 2027.1.1 상계제도 종료 예정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대상: PV와 급탕탱크·HP 보유 가구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제안: 잉여 태양광으로 급탕·예열하고</a:t>
            </a:r>
          </a:p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필요한 경우 배터리와 함께 최적화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핵심 연구: 집별로 쓸 수 있는 열 유연성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74A0EA-D1AE-4CFB-850F-6CD3CDDBB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24550"/>
            <a:ext cx="10896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자가소비 확대의 경제성은 수출 보상·수수료·열손실에 따라 달라짐. 배터리 구매를 전제하지 않음.</a:t>
            </a:r>
          </a:p>
        </p:txBody>
      </p:sp>
    </p:spTree>
    <p:extLst>
      <p:ext uri="{BB962C8B-B14F-4D97-AF65-F5344CB8AC3E}">
        <p14:creationId xmlns:p14="http://schemas.microsoft.com/office/powerpoint/2010/main" val="103635759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5A6F45-DA49-469C-8C61-286076ECF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11010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미국·호주: 배터리의 돈벌이와 백업을 함께 관리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331C89-891F-4531-B168-F6AA18AFB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설치된 배터리를 활용하되 현지 전력사업자를 통해 진입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DCC551-7BE1-42F8-ABAC-00592FA0A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609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9A65CB-BD88-4B5C-8A9B-C75F53C5E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81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ENERGY PACK  /  신사업·신기술 검토  /  2026.09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1ED390-EE68-4C20-84D2-DE88229A4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5219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7F78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007F78"/>
                </a:solidFill>
                <a:latin typeface="Malgun Gothic"/>
                <a:ea typeface="Malgun Gothic"/>
                <a:cs typeface="Malgun Gothic"/>
              </a:rPr>
              <a:t>미국  캘리포니아부터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356B7A-9C5C-4DF8-A3CF-C165E3567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71775"/>
            <a:ext cx="5191125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확인: NBT는 2023.4.15 이후</a:t>
            </a:r>
          </a:p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연계 신청 고객에 적용하는 후속 제도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문제 가설: 수출·자가소비·백업 사이</a:t>
            </a:r>
          </a:p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운전 선택을 고객이 이해하기 어렵다.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제안: 배터리 잔량과 냉난방 부하를</a:t>
            </a:r>
          </a:p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함께 조절하는 백업 운전 모듈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D7405A-2F1A-4744-B6CE-6CB3B9E84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85975"/>
            <a:ext cx="5219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7F78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007F78"/>
                </a:solidFill>
                <a:latin typeface="Malgun Gothic"/>
                <a:ea typeface="Malgun Gothic"/>
                <a:cs typeface="Malgun Gothic"/>
              </a:rPr>
              <a:t>호주  추가 배터리 설치 고객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BFA8F1-0DC0-42BD-B93B-AA40398B9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771775"/>
            <a:ext cx="5191125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확인: 가정용 배터리 지원 제도 시행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문제 가설: 기존 PV·신규 배터리·</a:t>
            </a:r>
          </a:p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냉난방을 따로 운전한다.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제안: 설치 자동화와 통합 운전 제공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VPP 수익은 계약 확보 후에만 반영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406976-D996-4849-B1BC-F82F8D0DD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24550"/>
            <a:ext cx="10896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VPP: 여러 집의 유연한 전력자원을 묶는 가상발전소. 국가 전체가 단일 시장인 것으로 가정하지 않음.</a:t>
            </a:r>
          </a:p>
        </p:txBody>
      </p:sp>
    </p:spTree>
    <p:extLst>
      <p:ext uri="{BB962C8B-B14F-4D97-AF65-F5344CB8AC3E}">
        <p14:creationId xmlns:p14="http://schemas.microsoft.com/office/powerpoint/2010/main" val="66556488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E1043A-1CB2-410E-AA0D-2944E137D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11010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UAE·한국: 비용 부담자와 제어권자가 중요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90BF82-0BEC-41FC-A6C7-F20F094CA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가정용 구독에 고정하지 않고 건물 운영·설비 판매 채널을 검토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0E14A1-E8EA-49E2-8C7F-544B6C680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609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A7539C-0D17-4997-914E-24B2A64FC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81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ENERGY PACK  /  신사업·신기술 검토  /  2026.09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37D2AC-2993-413F-AF78-1143B70D5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5219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7F78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007F78"/>
                </a:solidFill>
                <a:latin typeface="Malgun Gothic"/>
                <a:ea typeface="Malgun Gothic"/>
                <a:cs typeface="Malgun Gothic"/>
              </a:rPr>
              <a:t>UAE  개별 냉방 빌라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230572-4C2A-4390-B754-BEBBDEDFB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71775"/>
            <a:ext cx="5191125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대상: 냉방비를 직접 부담하는 소유자</a:t>
            </a:r>
          </a:p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또는 다수 주택 운영사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제안: 습도·재실을 반영한 냉방과</a:t>
            </a:r>
          </a:p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설비 이상 감지를 묶어 판매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주의: 지역냉방 공동주택에는</a:t>
            </a:r>
          </a:p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같은 절감·제어 구조를 적용하기 어렵다.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F7DC06-2AB9-4070-8869-1A0B41EB4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85975"/>
            <a:ext cx="5219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7F78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007F78"/>
                </a:solidFill>
                <a:latin typeface="Malgun Gothic"/>
                <a:ea typeface="Malgun Gothic"/>
                <a:cs typeface="Malgun Gothic"/>
              </a:rPr>
              <a:t>한국  공동주택 운영사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AF7818-FDD3-4E65-AE8C-DF9BEBE72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771775"/>
            <a:ext cx="5191125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대상: 건설사·관리사업자·임대 운영사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제안: 공용부 부하·EV 충전·</a:t>
            </a:r>
          </a:p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적용 가능한 냉난방 설비를 묶어 운영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입주민 개인 구독보다</a:t>
            </a:r>
          </a:p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설비 도입·운영 계약에서 비용 회수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계량·요금·의사결정 권한을 먼저 확인</a:t>
            </a:r>
          </a:p>
        </p:txBody>
      </p:sp>
    </p:spTree>
    <p:extLst>
      <p:ext uri="{BB962C8B-B14F-4D97-AF65-F5344CB8AC3E}">
        <p14:creationId xmlns:p14="http://schemas.microsoft.com/office/powerpoint/2010/main" val="71585443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5D5799-5234-49CC-B10D-DD085DFB4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11010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경쟁 제품이 이미 제공하는 기능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E20B2A-76C1-4836-99FC-568268BA7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자동운전·동적요금·전력 허브라는 이름만으로 신기술을 주장하기 어렵다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2E9785-4AAB-4200-925D-3D110B5FB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609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BC70E6-9C45-4FDB-BA32-CBEAD62D9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81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ENERGY PACK  /  신사업·신기술 검토  /  2026.09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057400"/>
          <a:ext xmlns:a="http://schemas.openxmlformats.org/drawingml/2006/main" cx="109728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4191000"/>
                <a:gridCol w="4114800"/>
              </a:tblGrid>
              <a:tr h="6953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경쟁 대안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공식 제품에서 확인한 기능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우리의 추가 검증 과제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SMA Home Manager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PV·배터리·HP·EV 및 요금 연동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혼합 기기 설치시간·재방문 감소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Tesla Powerwall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시간대별 가격 기반 충·방전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냉난방 포함 추가 순편익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Octopus Heat Pump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요금·전력망을 반영한 난방 운전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타 기기 조합에서의 성능·채널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Schneider Home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패널·태양광·배터리·충전 통합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기존주택 개조 비용·설치 범위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F6B6BB-BBDC-4BD6-8FBA-85F82B0F8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24550"/>
            <a:ext cx="10896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제품별 국가·모델·연동 조건이 다름. 경쟁사에 해당 기능이 없다고 단정하지 않고 동일 조건 실측으로 비교.</a:t>
            </a:r>
          </a:p>
        </p:txBody>
      </p:sp>
    </p:spTree>
    <p:extLst>
      <p:ext uri="{BB962C8B-B14F-4D97-AF65-F5344CB8AC3E}">
        <p14:creationId xmlns:p14="http://schemas.microsoft.com/office/powerpoint/2010/main" val="165448777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445191-B774-4DED-935A-7C9EBEAE1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11010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발굴한 신기술 후보 6개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0EAE9A-7AD6-49AB-9C37-23C164702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신규성은 연구 가설이며, 선행 특허·제품 비교를 통해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8A78A9-38EE-419E-ABE2-AA5FFE00B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609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4F6127-42F9-4367-AAAC-3E51EDF4C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81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ENERGY PACK  /  신사업·신기술 검토  /  2026.09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2057400"/>
          <a:ext xmlns:a="http://schemas.openxmlformats.org/drawingml/2006/main" cx="10972800" cy="3962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5524500"/>
                <a:gridCol w="2495550"/>
              </a:tblGrid>
              <a:tr h="566057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후보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해결할 문제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우선 판단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</a:tr>
              <a:tr h="56605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 설치 자동화 모듈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연결 후 설정·시험·재방문 비용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우선 개발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6605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 열 유연성 제어 엔진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쾌적함 손실 없이 부하 이동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우선 개발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</a:tr>
              <a:tr h="56605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 백업 지속시간 관리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ESS 용량이 있어도 필요한 생활 유지 불확실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파트너와 후속 실증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6605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 절감 증명·정산 엔진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효과를 믿기 어려워 유료 전환 지연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A·B의 필수 운영 기능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</a:tr>
              <a:tr h="56605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 교체형 전력 허브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기존주택 개조·배선·설치 비용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인증 HW 파트너와 검토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6605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 지역 규칙 자동 검증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국가별 요금·제어 규칙 오류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지역화 기반으로 개발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677237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BB11E7-6875-47B9-B932-FCFAA3E50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11010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A. 설치 자동화: 연결 후 검증까지 제품화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843ED3-6637-418A-B26F-E4304AEAD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판매 단위: 게이트웨이·계측 인터페이스·설치 SW 라이선스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2ACFB4-0029-4FA5-953C-361BBD18D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609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C655CA-D794-4F3C-842A-68BCD7BEA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81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ENERGY PACK  /  신사업·신기술 검토  /  2026.09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7B36F0-8527-4EBA-9FB0-0FBB83734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33600"/>
            <a:ext cx="10810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F78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007F78"/>
                </a:solidFill>
                <a:latin typeface="Malgun Gothic"/>
                <a:ea typeface="Malgun Gothic"/>
                <a:cs typeface="Malgun Gothic"/>
              </a:rPr>
              <a:t>새로 연구할 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054BFF-25E3-4A6E-B4A7-23EDC921B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90800"/>
            <a:ext cx="10810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기기 설명 정보를 공통 형식으로 변환하고, 작은 시험 신호로 제어 방향·응답·계측 관계를 확인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0B2F49-D350-4AC6-BC6B-6BE694AB4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71850"/>
            <a:ext cx="10810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F78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007F78"/>
                </a:solidFill>
                <a:latin typeface="Malgun Gothic"/>
                <a:ea typeface="Malgun Gothic"/>
                <a:cs typeface="Malgun Gothic"/>
              </a:rPr>
              <a:t>HW와 SW의 결합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78243A-44FC-45D6-95EC-76CD14467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29050"/>
            <a:ext cx="10810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통신 어댑터·계측 입력을 가진 모듈에 기기 발견, 설정 생성, 오류 진단, 시험 이력을 탑재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7E6533-BC95-4ACF-B79D-C6D8D91DF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10100"/>
            <a:ext cx="10810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F78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007F78"/>
                </a:solidFill>
                <a:latin typeface="Malgun Gothic"/>
                <a:ea typeface="Malgun Gothic"/>
                <a:cs typeface="Malgun Gothic"/>
              </a:rPr>
              <a:t>검증 목표와 범위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5F57A0-4EF2-48FF-8861-7CA0BAFB9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67300"/>
            <a:ext cx="10810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지원 기기 10종의 설정·검증 시간 50% 단축, 지원 조합 자동 설정 성공률 95% 이상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91BBD0-58D5-4DA3-8FF1-1DA1C80B9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24550"/>
            <a:ext cx="10896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목표치 제안. 전기 배선·안전검사는 전문가가 수행하며, “10분 설치”는 전체 전기공사 시간으로 주장하지 않음.</a:t>
            </a:r>
          </a:p>
        </p:txBody>
      </p:sp>
    </p:spTree>
    <p:extLst>
      <p:ext uri="{BB962C8B-B14F-4D97-AF65-F5344CB8AC3E}">
        <p14:creationId xmlns:p14="http://schemas.microsoft.com/office/powerpoint/2010/main" val="155733912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DD1AD5-C1B8-441E-B270-8BC836CE4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11010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B. 열 유연성: 집이 제공할 수 있는 전력 조절량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EF34D6-CA1F-4664-BD60-B4A75960D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판매 단위: 히트펌프·급탕·ESS 제어 기능과 전력사업자 연계 서비스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E63DFF-16CB-4340-8E4A-86D43F58A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609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72A8A9-7567-4923-B061-720B02903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81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ENERGY PACK  /  신사업·신기술 검토  /  2026.09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97FD55-244D-4C0C-B22F-E9DC3DEA8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33600"/>
            <a:ext cx="10810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F78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007F78"/>
                </a:solidFill>
                <a:latin typeface="Malgun Gothic"/>
                <a:ea typeface="Malgun Gothic"/>
                <a:cs typeface="Malgun Gothic"/>
              </a:rPr>
              <a:t>새로 연구할 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642D3C-82DB-4D1E-8F48-9EDE2529F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90800"/>
            <a:ext cx="10810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실측 온도·습도·기기 상태로 “얼마나 오래, 얼마나 줄여도 괜찮은지”를 지속 추정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449504-AD4E-460E-B9CE-881FA177E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71850"/>
            <a:ext cx="10810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F78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007F78"/>
                </a:solidFill>
                <a:latin typeface="Malgun Gothic"/>
                <a:ea typeface="Malgun Gothic"/>
                <a:cs typeface="Malgun Gothic"/>
              </a:rPr>
              <a:t>제어 방법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F8925F-B87E-4536-8F18-8D1F22526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29050"/>
            <a:ext cx="10810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열 상태 추정 + 불확실성을 반영한 예측제어 + 제품 운전 한계. 온라인 탐색은 안전 범위 안에서만 수행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906A78-7BF3-426B-A1F5-C6C27A8EF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10100"/>
            <a:ext cx="10810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F78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007F78"/>
                </a:solidFill>
                <a:latin typeface="Malgun Gothic"/>
                <a:ea typeface="Malgun Gothic"/>
                <a:cs typeface="Malgun Gothic"/>
              </a:rPr>
              <a:t>검증 목표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568A87-53F7-46AD-AB81-ED8BD9E15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67300"/>
            <a:ext cx="10810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재실 중 고객 합의 온도 범위 유지율 95% 이상, 기존 운전 대비 피크 구간 평균 전력 20% 감소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BD4F98-BFC3-449E-A39D-20F53C4BF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24550"/>
            <a:ext cx="10896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목표치 제안. 요금 절감과 에너지 절감은 다름. 열손실·추가 소비를 포함한 순편익이 양수여야 출시.</a:t>
            </a:r>
          </a:p>
        </p:txBody>
      </p:sp>
    </p:spTree>
    <p:extLst>
      <p:ext uri="{BB962C8B-B14F-4D97-AF65-F5344CB8AC3E}">
        <p14:creationId xmlns:p14="http://schemas.microsoft.com/office/powerpoint/2010/main" val="182694781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C58149-FA37-488B-AACC-B714FB21D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11010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C·E. 백업 제어와 전력 허브는 선택적으로 확장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A1E9A3-08EA-4A1A-A531-204B3EEBB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배터리 셀 신규 개발보다 기존 인증 전력장치와 가전 제어의 결합을 먼저 검증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319E70-0674-46A1-B353-995D9B91A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609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8501FC-C065-4047-A296-B447FFE94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81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ENERGY PACK  /  신사업·신기술 검토  /  2026.09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54BEAF-8573-49C9-A965-395C76695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5219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7F78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007F78"/>
                </a:solidFill>
                <a:latin typeface="Malgun Gothic"/>
                <a:ea typeface="Malgun Gothic"/>
                <a:cs typeface="Malgun Gothic"/>
              </a:rPr>
              <a:t>C  백업 지속시간 관리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D99371-6A5B-4C60-BF70-33D7A9F6C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71775"/>
            <a:ext cx="5191125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고객이 보호할 냉장·조명·냉방을 선택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배터리 잔량·온도·부하별 운전 제약으로</a:t>
            </a:r>
          </a:p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지속시간과 불확실성 범위를 제시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목표: 동일 배터리로 중요부하</a:t>
            </a:r>
          </a:p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유지시간 20% 증가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정전 예측 자체를 판매 가치로 삼지 않음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A48748-FB85-47F2-96B2-8B887F0F4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85975"/>
            <a:ext cx="5219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7F78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007F78"/>
                </a:solidFill>
                <a:latin typeface="Malgun Gothic"/>
                <a:ea typeface="Malgun Gothic"/>
                <a:cs typeface="Malgun Gothic"/>
              </a:rPr>
              <a:t>E  교체형 전력 허브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7AA08D-D2A6-4674-94F1-E5C19780C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771775"/>
            <a:ext cx="5191125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기존 분전 구조에 적용 가능한</a:t>
            </a:r>
          </a:p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계측·제어 모듈을 인증사와 공동 설계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차단·계통 분리 기능은 인증 장치가 담당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목표: 배선·설치 공수 30% 단축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신규 배터리·인버터 전체 개발은</a:t>
            </a:r>
          </a:p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7명 과제의 초기 범위에서 제외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1E1A53-56A8-4620-ACAB-822AECC74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24550"/>
            <a:ext cx="10896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모든 수치는 실증 전 목표. 백업 전환 성능·부하 우선순위는 인증 HW 구성과 고객 계약에 종속.</a:t>
            </a:r>
          </a:p>
        </p:txBody>
      </p:sp>
    </p:spTree>
    <p:extLst>
      <p:ext uri="{BB962C8B-B14F-4D97-AF65-F5344CB8AC3E}">
        <p14:creationId xmlns:p14="http://schemas.microsoft.com/office/powerpoint/2010/main" val="3620899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48484A-9CFE-40D2-BE7F-C2234E1D0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11010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공통 기술과 국가별 변경 영역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5AF610-321B-438D-91F5-267D33D0E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AI 역할을 한정하고, 전력기기 실행은 검증된 제어 규칙으로 관리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7D6E78-B4BF-4E83-A3E0-BF91FB070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609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29E788-0D5D-4F78-A384-CFAC512C2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81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ENERGY PACK  /  신사업·신기술 검토  /  2026.09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057400"/>
          <a:ext xmlns:a="http://schemas.openxmlformats.org/drawingml/2006/main" cx="1097280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857625"/>
                <a:gridCol w="3714750"/>
                <a:gridCol w="3400425"/>
              </a:tblGrid>
              <a:tr h="7048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공통 개발 영역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국가별 변경 영역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원칙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기기 능력·상태의 공통 표현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지원 제조사·프로토콜·모델 목록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목록 밖 기기는 읽기만 또는 수동 검토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 상태 추정·안전 제약 제어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기후·건물·고객 쾌적 조건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제품 제어기의 보호 기능 우선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설정 생성·자동 시험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요금·계통 신호·인증 시험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승인한 버전만 배포·되돌리기 지원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순편익 측정·운영 기록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계약·정산 방식·개인정보 조건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기준선과 수수료를 함께 공개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70F47E-2863-4B88-83F9-F7CCF3FE8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24550"/>
            <a:ext cx="10896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언어모델은 문서 해석·설정 후보·진단 설명에 활용. 요금·규제를 임의 해석해 전력기기에 직접 명령하지 않음.</a:t>
            </a:r>
          </a:p>
        </p:txBody>
      </p:sp>
    </p:spTree>
    <p:extLst>
      <p:ext uri="{BB962C8B-B14F-4D97-AF65-F5344CB8AC3E}">
        <p14:creationId xmlns:p14="http://schemas.microsoft.com/office/powerpoint/2010/main" val="128356549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5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1D00B2-CE1B-4265-AC20-2D07F6984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11010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우리의 강점은 제품 제어 깊이로 입증해야 한다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43A50A-214D-42EF-8F9B-9E45F9EB4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회의에 언급된 실증 경험은 활용하되 자료 확인 전 성과 수치를 확정하지 않음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E2F2DA-B335-4C04-AF1D-E0543D374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609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8A6C63-B0FA-41A8-9EE6-A5F4A6735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81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ENERGY PACK  /  신사업·신기술 검토  /  2026.09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4C34A0-545C-426B-A75F-9E2CBC5B0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5219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7F78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007F78"/>
                </a:solidFill>
                <a:latin typeface="Malgun Gothic"/>
                <a:ea typeface="Malgun Gothic"/>
                <a:cs typeface="Malgun Gothic"/>
              </a:rPr>
              <a:t>활용할 수 있는 자산 후보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B9D3B2-289F-4E69-B64B-48B5B169B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71775"/>
            <a:ext cx="5191125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가전·히트펌프의 실제 제어 경험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제품 운전 제약과 내부 상태 데이터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설치·서비스 채널과 현장 데이터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자사 기기 깊은 제어 + 타사 기기 표준 연동</a:t>
            </a:r>
          </a:p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조합으로 차별화 가설 수립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2B5E6C-35F3-4B72-AE32-952C17557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85975"/>
            <a:ext cx="5219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7F78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007F78"/>
                </a:solidFill>
                <a:latin typeface="Malgun Gothic"/>
                <a:ea typeface="Malgun Gothic"/>
                <a:cs typeface="Malgun Gothic"/>
              </a:rPr>
              <a:t>CTO 보고 전 확보할 증거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D8A9DD-3154-4CCD-81EA-5561B01AE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771775"/>
            <a:ext cx="5191125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개발 완료 기술·적용 모델·완료 연도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실증 대상·기간·대조군·원시 로그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제품 내부 상태 접근 권한과 API 범위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자사 기기 / 표준 연동 / 경쟁 제품의</a:t>
            </a:r>
          </a:p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동일 조건 성능 차이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F0FCC6-D303-49BD-964C-7E23B7116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24550"/>
            <a:ext cx="10896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“2~3년 기술 격차”는 현시점의 입증된 사실이 아님. 설치·제어 데이터와 시험 자산 축적을 목표로 설정.</a:t>
            </a:r>
          </a:p>
        </p:txBody>
      </p:sp>
    </p:spTree>
    <p:extLst>
      <p:ext uri="{BB962C8B-B14F-4D97-AF65-F5344CB8AC3E}">
        <p14:creationId xmlns:p14="http://schemas.microsoft.com/office/powerpoint/2010/main" val="66494981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5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27AB35-D821-40D5-A5BF-4BBFD2499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11010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시장 선택: 개발은 독일·영국, 후속은 네덜란드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6B2635-63C4-4771-8777-4A73FBD38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공식 자료와 사업 구조를 바탕으로 한 정성 판단. 확정 시장 순위가 아님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9545BC-C71A-49A9-A54E-0334D62AC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609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D328E3-363A-4CE8-8E2A-34F684317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81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ENERGY PACK  /  신사업·신기술 검토  /  2026.09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057400"/>
          <a:ext xmlns:a="http://schemas.openxmlformats.org/drawingml/2006/main" cx="10972800" cy="34194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14600"/>
                <a:gridCol w="2114550"/>
                <a:gridCol w="2114550"/>
                <a:gridCol w="2114550"/>
                <a:gridCol w="2114550"/>
              </a:tblGrid>
              <a:tr h="68389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판단 기준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독일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영국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네덜란드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미국·호주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</a:tr>
              <a:tr h="68389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구체적인 진입 계기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계통·요금 통합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가입·절감 신뢰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2027 상계 종료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배터리 운영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389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우리 제품과의 연결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높음 / HP·설치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높음 / HP·운영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조건부 / 열부하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조건부 / 제휴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</a:tr>
              <a:tr h="68389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우선 확보할 채널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설치업체·OEM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전력 소매사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PV·HP 설치업체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VPP·인버터 업체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389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초기 의사결정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1순위 현장 검증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1순위 현장 검증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공통 기술로 확장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계약 후 후속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3C51EC-5120-43A9-B524-D3613FB02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24550"/>
            <a:ext cx="10896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채널 계약과 기기 접근 권한을 확보하지 못한 국가는 뒤로 미룸. 국가 수보다 유료 전환 근거를 우선.</a:t>
            </a:r>
          </a:p>
        </p:txBody>
      </p:sp>
    </p:spTree>
    <p:extLst>
      <p:ext uri="{BB962C8B-B14F-4D97-AF65-F5344CB8AC3E}">
        <p14:creationId xmlns:p14="http://schemas.microsoft.com/office/powerpoint/2010/main" val="1680251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5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F1569A-8401-4A68-8927-CFDDEDAA8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11010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수익 구조: 설치 모듈 판매와 운영 계약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B66093-353A-43CC-AE0A-40181E3BC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가정용 HEMS 단독 구독 외에도 지불자를 선택할 수 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5CF2B8-D329-418B-830B-454C6A2AD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609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F3146B-7D55-4D6E-82A2-971891A70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81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ENERGY PACK  /  신사업·신기술 검토  /  2026.09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057400"/>
          <a:ext xmlns:a="http://schemas.openxmlformats.org/drawingml/2006/main" cx="109728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3333750"/>
                <a:gridCol w="4400550"/>
              </a:tblGrid>
              <a:tr h="6953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상품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지불자 후보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왜 돈을 내는가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설치 자동화 모듈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설치업체·제품 OEM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작업시간·재방문 비용 감소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 유연성 제어 기능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HP·Energy Pack 사업부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제품 판매·가격 경쟁력 개선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운영·효과 측정 서비스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전력 소매사·주택 운영사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고객 유지·운영 비용·절감 신뢰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VPP 연계 기능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현지 집합사업자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검증 가능한 유연성 자원 확보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9D9F01-397A-444A-A74E-579512671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24550"/>
            <a:ext cx="10896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초기 매출에는 VPP 정산 수익·추가 가전 판매 효과를 제외. 실증 계약에서 지급 조건부터 검증.</a:t>
            </a:r>
          </a:p>
        </p:txBody>
      </p:sp>
    </p:spTree>
    <p:extLst>
      <p:ext uri="{BB962C8B-B14F-4D97-AF65-F5344CB8AC3E}">
        <p14:creationId xmlns:p14="http://schemas.microsoft.com/office/powerpoint/2010/main" val="37145891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5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D0599F-08B0-4D6A-8C55-75E9565F9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11010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2028년 매출 시나리오: 기준안 31.8억원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BB8A11-3CCA-40A7-AD85-793B5840A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모든 물량·단가는 작성자 가정. 시장규모 추정이나 회사 사업계획이 아님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F7474A-A5BE-4FF5-9066-E5DACFAF5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609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1EB309-4C78-42A1-A2F1-2338F07EC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81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ENERGY PACK  /  신사업·신기술 검토  /  2026.09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057400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24125"/>
                <a:gridCol w="1924050"/>
                <a:gridCol w="2143125"/>
                <a:gridCol w="2190750"/>
                <a:gridCol w="2190750"/>
              </a:tblGrid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지역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신규 설치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모듈 매출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운영 매출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합계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독일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4,000호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12.00억원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0.72억원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12.72억원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영국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3,000호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9.00억원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0.54억원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9.54억원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네덜란드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3,000호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9.00억원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0.54억원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9.54억원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합계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10,000호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30.00억원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1.80억원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31.80억원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27B865-4E84-4478-BB49-0C8421724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62625"/>
            <a:ext cx="10896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모듈 30만원/호, 운영 3.6만원/호·년. 연중 균등 설치로 평균 과금 0.5년. Energy Pack 본체 매출 제외.</a:t>
            </a:r>
          </a:p>
        </p:txBody>
      </p:sp>
    </p:spTree>
    <p:extLst>
      <p:ext uri="{BB962C8B-B14F-4D97-AF65-F5344CB8AC3E}">
        <p14:creationId xmlns:p14="http://schemas.microsoft.com/office/powerpoint/2010/main" val="162766871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5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D39C23-E93B-471D-B2AF-0C187852C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11010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기준안은 연구개발비까지 회수하지 못한다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8FFFFB-F574-417E-A1E2-9C27DFBA8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물량 확대·원가 절감·기존 제품 사업 기여 중 최소 하나를 입증해야 지속 가능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439D78-4B81-4207-8E07-825D112E2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609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FD356D-C838-4BC8-A4BD-36BCB7212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81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ENERGY PACK  /  신사업·신기술 검토  /  2026.09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2057400"/>
          <a:ext xmlns:a="http://schemas.openxmlformats.org/drawingml/2006/main" cx="10972800" cy="31146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2266950"/>
                <a:gridCol w="2257425"/>
                <a:gridCol w="2257425"/>
              </a:tblGrid>
              <a:tr h="62293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2028년 가정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보수안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기준안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확장안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</a:tr>
              <a:tr h="62293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신규 설치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3,000호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10,000호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30,000호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293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증분 매출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9.54억원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31.80억원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95.40억원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</a:tr>
              <a:tr h="62293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변동비 차감 후 기여이익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3.06억원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10.20억원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30.60억원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293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가정 고정비 12.5억원 차감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−9.44억원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−2.30억원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18.10억원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40C587-18B6-41BE-8BF5-DF83F96A8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38775"/>
            <a:ext cx="10810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F78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007F78"/>
                </a:solidFill>
                <a:latin typeface="Malgun Gothic"/>
                <a:ea typeface="Malgun Gothic"/>
                <a:cs typeface="Malgun Gothic"/>
              </a:rPr>
              <a:t>같은 가정의 손익분기: 연간 약 1.23만 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7EAF99-E073-4199-8233-CF8BDA8CB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43600"/>
            <a:ext cx="10896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모듈 변동비 21만원, 운영 변동비 연 1.2만원/호. 고정비: 7명×1.5억원+외부 실증·인증 2억원.</a:t>
            </a:r>
          </a:p>
        </p:txBody>
      </p:sp>
    </p:spTree>
    <p:extLst>
      <p:ext uri="{BB962C8B-B14F-4D97-AF65-F5344CB8AC3E}">
        <p14:creationId xmlns:p14="http://schemas.microsoft.com/office/powerpoint/2010/main" val="141676474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5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8BDB79-58E3-480C-9A6D-8829F5342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11010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12주 검증: 사업성과 기술성을 함께 판정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AF2FC3-FBF3-40B3-BA13-A1AD6FE43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표본은 탐색 실증 규모이며, 출시 성능 검증은 2027년 계절 실증에서 확대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BD125B-B8C5-4972-BC05-9E28A2883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609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ADAB43-C6BA-4312-B2C0-0D66B866A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81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ENERGY PACK  /  신사업·신기술 검토  /  2026.09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057400"/>
          <a:ext xmlns:a="http://schemas.openxmlformats.org/drawingml/2006/main" cx="10972800" cy="3676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5391150"/>
                <a:gridCol w="3867150"/>
              </a:tblGrid>
              <a:tr h="73533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기간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수행 내용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계속할 조건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</a:tr>
              <a:tr h="73533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1–3주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국가별 고객 10명·설치자 5명 인터뷰</a:t>
                      </a:r>
                    </a:p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기기 접근·데이터·요금 계약 확인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유료 실증 의향 파트너 2곳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3533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4–6주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지원 10기종 설치 시험</a:t>
                      </a:r>
                    </a:p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기존 HEMS와 설정·검증 시간 비교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설정 시간 50% 감소 가능성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</a:tr>
              <a:tr h="73533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7–10주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독일·영국 각 10호 탐색 실증</a:t>
                      </a:r>
                    </a:p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교차 운전·고객 수동개입 기록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순편익 양수, 쾌적 조건 유지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3533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11–12주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가격·설치 공수·문의 비용 확인</a:t>
                      </a:r>
                    </a:p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계절 확대 실증과 제품화 판단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유료 계약 또는 명확한 구매 조건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6EFCD8-CA3D-4EB5-A944-F750AF233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24550"/>
            <a:ext cx="10896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접근 권한 미확보·고객 순편익 음수·반복 안전 제약 위반이면 해당 기능 또는 시장 범위를 축소.</a:t>
            </a:r>
          </a:p>
        </p:txBody>
      </p:sp>
    </p:spTree>
    <p:extLst>
      <p:ext uri="{BB962C8B-B14F-4D97-AF65-F5344CB8AC3E}">
        <p14:creationId xmlns:p14="http://schemas.microsoft.com/office/powerpoint/2010/main" val="104987291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5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87831C-FF6F-42DA-99ED-33B840D2E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11010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2026년 말부터 2028년까지의 개발 로드맵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029CE0-29DE-4225-A66C-DD3342694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기존 기술 적용과 새 연구 과제를 분리하고, 연차별 중단 기준을 둔다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22458C-391F-4A13-80D6-28EF90747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609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3C55A3-EAA6-487D-9FB2-01CD824CC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81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ENERGY PACK  /  신사업·신기술 검토  /  2026.09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057400"/>
          <a:ext xmlns:a="http://schemas.openxmlformats.org/drawingml/2006/main" cx="10972800" cy="3667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09800"/>
                <a:gridCol w="5476875"/>
                <a:gridCol w="3286125"/>
              </a:tblGrid>
              <a:tr h="7334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시기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제품·연구 결과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사업 검증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2026년 4분기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기존 기술 목록·원시 실증 확인</a:t>
                      </a:r>
                    </a:p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국가별 파트너·유료 실증 설계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설치 공수·구매자 문제 확인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2027년 상반기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설치 모듈 시제품, 10기종 지원</a:t>
                      </a:r>
                    </a:p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 유연성 제어 초기 모델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12주 탐색 실증과 유료 계약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2027년 하반기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총 100호 목표 계절 실증</a:t>
                      </a:r>
                    </a:p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인증 설계·경쟁 제품 비교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반복 설치 원가·순편익 검증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2028년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검증 통과 시 제품화·국가 확장</a:t>
                      </a:r>
                    </a:p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백업·VPP 기능은 파트너와 추가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 1만 호 기준안을 계약으로 검증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30A77F-E644-478B-AAB8-407BDF76F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24550"/>
            <a:ext cx="10896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100호·1만 호는 계획 가정. 현장 모집과 인증 일정에 따라 단계 전환. 완료 연도는 내부 자료로 확정.</a:t>
            </a:r>
          </a:p>
        </p:txBody>
      </p:sp>
    </p:spTree>
    <p:extLst>
      <p:ext uri="{BB962C8B-B14F-4D97-AF65-F5344CB8AC3E}">
        <p14:creationId xmlns:p14="http://schemas.microsoft.com/office/powerpoint/2010/main" val="86431147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5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299BB4-A23D-4F40-AAB8-53A7CE65E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11010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7명 투입안: 두 과제에 공통 인력을 배치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DBF2C5-58D0-44C6-9A4C-85CB8E8C6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전력장치 전체 개발·국가별 영업·인증을 연구인력 7명이 모두 맡지 않는다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EA63CE-D170-4193-B72D-664490727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609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24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D028B0-CC1E-4B7D-BA8B-C90C19050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81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ENERGY PACK  /  신사업·신기술 검토  /  2026.09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057400"/>
          <a:ext xmlns:a="http://schemas.openxmlformats.org/drawingml/2006/main" cx="10972800" cy="3667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238625"/>
                <a:gridCol w="1333500"/>
                <a:gridCol w="5400675"/>
              </a:tblGrid>
              <a:tr h="61118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인원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책임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</a:tr>
              <a:tr h="6111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PL·제품/파트너 요구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1명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범위·사업 지표·파트너 계약 조건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11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기기 연동·설치 자동화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2명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프로토콜, 설정·시험, 오류 진단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</a:tr>
              <a:tr h="6111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 상태 추정·제어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2명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제품 운전 제약, 유연성 추정, 순편익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11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임베디드·HW 인터페이스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1명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게이트웨이·계측·인증사 기술 연계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</a:tr>
              <a:tr h="6111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실증·평가·데이터 품질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1명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대조 실험, 현장 로그, 비교 검증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5E6F83-27E6-42B5-901C-8162BC53A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24550"/>
            <a:ext cx="10896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사업부: 영업·기기 접근 / 현지 파트너: 설치·정산 / 인증사: 전기 안전·전파. 역할·비용 합의가 착수 조건.</a:t>
            </a:r>
          </a:p>
        </p:txBody>
      </p:sp>
    </p:spTree>
    <p:extLst>
      <p:ext uri="{BB962C8B-B14F-4D97-AF65-F5344CB8AC3E}">
        <p14:creationId xmlns:p14="http://schemas.microsoft.com/office/powerpoint/2010/main" val="36407710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0EE77F-912D-4988-8868-F6AB45ED4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11010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이번 보고에서 결정할 세 가지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B946CC-BC78-483E-AD8C-B407B80CA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5D8E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C5D8E7"/>
                </a:solidFill>
                <a:latin typeface="Malgun Gothic"/>
                <a:ea typeface="Malgun Gothic"/>
                <a:cs typeface="Malgun Gothic"/>
              </a:rPr>
              <a:t>확인되지 않은 시장규모보다 검증할 고객·기술·중단 기준을 먼저 합의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2BF641-5CF3-4521-8305-146C425EE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609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9BB7C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9BB7CA"/>
                </a:solidFill>
                <a:latin typeface="Malgun Gothic"/>
                <a:ea typeface="Malgun Gothic"/>
                <a:cs typeface="Malgun Gothic"/>
              </a:rPr>
              <a:t>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E86019-9F87-40D6-A65A-0BD32AE62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81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9BB7C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9BB7CA"/>
                </a:solidFill>
                <a:latin typeface="Malgun Gothic"/>
                <a:ea typeface="Malgun Gothic"/>
                <a:cs typeface="Malgun Gothic"/>
              </a:rPr>
              <a:t>ENERGY PACK  /  신사업·신기술 검토  /  2026.09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AD2C99-223F-4FE0-B417-172C6440B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33600"/>
            <a:ext cx="10810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E5BB66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E5BB66"/>
                </a:solidFill>
                <a:latin typeface="Malgun Gothic"/>
                <a:ea typeface="Malgun Gothic"/>
                <a:cs typeface="Malgun Gothic"/>
              </a:rPr>
              <a:t>집중 범위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602241-5AFE-4EE4-B4DF-6CD191CAC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90800"/>
            <a:ext cx="10810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독일·영국에서 설치 자동화와 열 유연성을 검증하고 네덜란드는 확장 시장으로 준비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5FB564-BC98-40F7-8A13-F66F75C42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00425"/>
            <a:ext cx="10810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E5BB66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E5BB66"/>
                </a:solidFill>
                <a:latin typeface="Malgun Gothic"/>
                <a:ea typeface="Malgun Gothic"/>
                <a:cs typeface="Malgun Gothic"/>
              </a:rPr>
              <a:t>투입 조건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88AF8C-A951-4C6A-93E5-2EC548595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57625"/>
            <a:ext cx="10810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7명 역할 배치, 제품 API·실측 데이터 접근, 현지 실증 파트너 확보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61B832-12D8-4393-918E-C67C7B292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67250"/>
            <a:ext cx="10810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E5BB66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E5BB66"/>
                </a:solidFill>
                <a:latin typeface="Malgun Gothic"/>
                <a:ea typeface="Malgun Gothic"/>
                <a:cs typeface="Malgun Gothic"/>
              </a:rPr>
              <a:t>12주 뒤 판단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E0890E-A7DE-4484-AC45-B56B1AB9C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24450"/>
            <a:ext cx="10810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유료 구매 의향·설치 공수·추가 순편익으로 확대 또는 축소를 결정</a:t>
            </a:r>
          </a:p>
        </p:txBody>
      </p:sp>
    </p:spTree>
    <p:extLst>
      <p:ext uri="{BB962C8B-B14F-4D97-AF65-F5344CB8AC3E}">
        <p14:creationId xmlns:p14="http://schemas.microsoft.com/office/powerpoint/2010/main" val="52883018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5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FB6BD3-685E-41EB-906A-78248554A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11010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부록: 재사용·지역화·신규 연구 구분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CDFD5F-9CFC-45A3-B9DF-D886E62C3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Digital Twin과 예측 정확도 개선은 이번 신규 과제의 주제로 선정하지 않음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CB6EC3-A2C0-4A2B-BBF8-7AB05830D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609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E9F13E-70F6-4D73-B81A-D40F030B5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81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ENERGY PACK  /  신사업·신기술 검토  /  2026.09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2057400"/>
          <a:ext xmlns:a="http://schemas.openxmlformats.org/drawingml/2006/main" cx="10972800" cy="35909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62250"/>
                <a:gridCol w="4572000"/>
                <a:gridCol w="3638550"/>
              </a:tblGrid>
              <a:tr h="71818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내용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확인·개발 과제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</a:tr>
              <a:tr h="71818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기존 기술 재사용 후보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PV·부하 예측, ESS 스케줄링</a:t>
                      </a:r>
                    </a:p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HVAC·가전 제어, 기존 실증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완료 연도·모델·실측 근거 확인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1818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국가별 지역화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요금 API, 계통 신호, 기기 목록</a:t>
                      </a:r>
                    </a:p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인증·계약·정산 규칙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공식 데이터와 버전 관리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</a:tr>
              <a:tr h="71818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신규 연구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혼합 기기 자동 검증</a:t>
                      </a:r>
                    </a:p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 유연성 추정과 안전 제어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기존 제품 대비 시간·순편익 입증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1818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확장 후보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백업 지속시간·전력 허브</a:t>
                      </a:r>
                    </a:p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VPP 운영·정산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파트너·인증·계약 조건 확보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566294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5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F19678-B037-465B-96A9-1DFC80F5D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11010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부록: 시장규모를 실제 매출로 좁히는 방법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9807DE-01E3-43A6-B25A-D40E735FD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현재 자료로 국가별 TAM과 확정 매출을 산출할 수 없으므로 입력 자료를 명시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E59B36-14BF-4FAF-9995-D10833E32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609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27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B62DE2-4C3B-44C7-9428-BDADAA723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81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ENERGY PACK  /  신사업·신기술 검토  /  2026.09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A8DD44-EDC8-4B08-8AAE-B9E993F2D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33600"/>
            <a:ext cx="10810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F78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007F78"/>
                </a:solidFill>
                <a:latin typeface="Malgun Gothic"/>
                <a:ea typeface="Malgun Gothic"/>
                <a:cs typeface="Malgun Gothic"/>
              </a:rPr>
              <a:t>설치 가능한 시장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4D2D9E-BFB2-46F7-9A77-B00CF03C4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90800"/>
            <a:ext cx="10810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국가별 HP·PV 보유 주택 × 기술 호환 비율 × 설치 권한·요금 조건을 충족하는 비율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433167-D7FB-4FDE-8C15-C3F8846A9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90900"/>
            <a:ext cx="10810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F78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007F78"/>
                </a:solidFill>
                <a:latin typeface="Malgun Gothic"/>
                <a:ea typeface="Malgun Gothic"/>
                <a:cs typeface="Malgun Gothic"/>
              </a:rPr>
              <a:t>접근 가능한 시장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925361-4EDB-4196-8F6C-E377CBCBD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48100"/>
            <a:ext cx="10810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계약 설치업체 수 × 연간 설치 공수 × 모듈 채택률. 기존 제품의 출하 계획과 중복 제거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1FB912-F3EB-4358-B90E-6313A695A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48200"/>
            <a:ext cx="10810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F78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007F78"/>
                </a:solidFill>
                <a:latin typeface="Malgun Gothic"/>
                <a:ea typeface="Malgun Gothic"/>
                <a:cs typeface="Malgun Gothic"/>
              </a:rPr>
              <a:t>실제 매출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B36F26-C771-4B8B-A2F3-B478A915E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05400"/>
            <a:ext cx="10810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검증된 설치 물량 × 순판매 단가 + 평균 유료 가동 호수 × 운영 단가. 반품·지원비 별도 반영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5075EB-CAF5-4CB2-B5B9-952F1A8AC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24550"/>
            <a:ext cx="10896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사업부 요청 자료: 국가별 출하·설치 채널·단가·목표 마진·인증비. 총 ESS/HP 시장을 HEMS 매출로 사용하지 않음.</a:t>
            </a:r>
          </a:p>
        </p:txBody>
      </p:sp>
    </p:spTree>
    <p:extLst>
      <p:ext uri="{BB962C8B-B14F-4D97-AF65-F5344CB8AC3E}">
        <p14:creationId xmlns:p14="http://schemas.microsoft.com/office/powerpoint/2010/main" val="171080461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5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07FE29-1736-4826-AD80-F8E37CDFD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11010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부록: 실증에서 계산할 고객 순편익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3446EA-2CE0-484B-BE3D-B434F08E1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요금 차이·계절·사용 패턴을 통제하고 기존 운전과 비교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238145-3DFA-4DA9-8C3C-390CAE6D5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609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28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2816DF-5194-4A5A-A64F-4557FCDA1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81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ENERGY PACK  /  신사업·신기술 검토  /  2026.09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137C19-795F-4F82-BFC8-6E91CC61C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5219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7F78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007F78"/>
                </a:solidFill>
                <a:latin typeface="Malgun Gothic"/>
                <a:ea typeface="Malgun Gothic"/>
                <a:cs typeface="Malgun Gothic"/>
              </a:rPr>
              <a:t>고객 가치 계산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4CB67E-69FB-436A-8776-C1EE9AEB9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71775"/>
            <a:ext cx="5191125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순편익 = 전기요금 절감 + 실제 정산금</a:t>
            </a:r>
          </a:p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− 서비스료 − 추가 손실·열화 비용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기준선: 동일 기기·동일 요금의 기존 운전</a:t>
            </a:r>
          </a:p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날씨·재실 보정 및 교차 기간 비교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절감률과 함께 온도 이탈·수동개입·</a:t>
            </a:r>
          </a:p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배터리 사용량을 공개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798580-D0A6-4FC3-B4D8-78C84EE12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85975"/>
            <a:ext cx="5219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7F78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007F78"/>
                </a:solidFill>
                <a:latin typeface="Malgun Gothic"/>
                <a:ea typeface="Malgun Gothic"/>
                <a:cs typeface="Malgun Gothic"/>
              </a:rPr>
              <a:t>설치업체 가치 계산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E96E41-8A6A-45C7-85F0-5A1983147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771775"/>
            <a:ext cx="5191125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편익 = 절약한 공수 × 시간당 비용</a:t>
            </a:r>
          </a:p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+ 피한 재방문 비용 − 모듈 추가 원가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설치 / 설정 / 검증 시간을 나누어 측정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지원 기기·주택 조건별로 결과 공개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계약 전에는 “절감 보장” 대신</a:t>
            </a:r>
          </a:p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달성 조건과 측정 방식을 합의</a:t>
            </a:r>
          </a:p>
        </p:txBody>
      </p:sp>
    </p:spTree>
    <p:extLst>
      <p:ext uri="{BB962C8B-B14F-4D97-AF65-F5344CB8AC3E}">
        <p14:creationId xmlns:p14="http://schemas.microsoft.com/office/powerpoint/2010/main" val="246551455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5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1F8EBC-02DF-4CF9-BE26-6126A3FE0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11010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부록: 출처와 사실 확인 범위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0AD1F4-B0A9-4B15-85B5-DE7A6C1B5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상세 URL은 각 관련 슬라이드의 발표자 노트에도 수록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206180-CF2E-46DD-A363-38AE9B35C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609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29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B953C9-0618-4718-8241-A1367267E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81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ENERGY PACK  /  신사업·신기술 검토  /  2026.09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8AC833-EE21-4817-B72D-B6B92E5A6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057400"/>
            <a:ext cx="108013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07F7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007F78"/>
                </a:solidFill>
                <a:latin typeface="Malgun Gothic"/>
                <a:ea typeface="Malgun Gothic"/>
                <a:cs typeface="Malgun Gothic"/>
              </a:rPr>
              <a:t>01  공유 대화 · 기술 통합 방안 논의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F7D128-67B5-4DDD-A622-C7158980D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514600"/>
            <a:ext cx="108013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02  Bundesnetzagentur · Dynamische Stromtarife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B089B5-4C51-47A3-B3AA-E0E330AF9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971800"/>
            <a:ext cx="108013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07F7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007F78"/>
                </a:solidFill>
                <a:latin typeface="Malgun Gothic"/>
                <a:ea typeface="Malgun Gothic"/>
                <a:cs typeface="Malgun Gothic"/>
              </a:rPr>
              <a:t>03  Bundesnetzagentur · §14a 제어가능 부하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823396-0361-4900-A4AE-2240C880E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429000"/>
            <a:ext cx="108013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04  Ofgem · 2025 유연성 소비자 조사, 2026.05.22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1830D3-3591-4A9B-A5DA-35F60D2D3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886200"/>
            <a:ext cx="108013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07F7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007F78"/>
                </a:solidFill>
                <a:latin typeface="Malgun Gothic"/>
                <a:ea typeface="Malgun Gothic"/>
                <a:cs typeface="Malgun Gothic"/>
              </a:rPr>
              <a:t>05  Enedis · 비첨두 시간대 개편, 2025.10.15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FA9A0A-D9D1-46C8-B42D-2C64BDE43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343400"/>
            <a:ext cx="108013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06  네덜란드 정부 · 2027년 상계제도 종료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C24C3A-AB55-4BAF-AEE9-DB79D4C97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800600"/>
            <a:ext cx="108013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07F7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007F78"/>
                </a:solidFill>
                <a:latin typeface="Malgun Gothic"/>
                <a:ea typeface="Malgun Gothic"/>
                <a:cs typeface="Malgun Gothic"/>
              </a:rPr>
              <a:t>07  호주 정부 · Solar PV and batteries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1220A6-7C7F-45B2-8DD0-A74EEECE8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257800"/>
            <a:ext cx="108013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08  CPUC · Net Billing Tariff</a:t>
            </a:r>
          </a:p>
        </p:txBody>
      </p:sp>
    </p:spTree>
    <p:extLst>
      <p:ext uri="{BB962C8B-B14F-4D97-AF65-F5344CB8AC3E}">
        <p14:creationId xmlns:p14="http://schemas.microsoft.com/office/powerpoint/2010/main" val="1730243352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5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B4B1B2-F8F8-4DDB-B894-E181355A5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11010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부록: 출처와 경쟁 제품 확인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94D2BD-F54B-4EDB-908F-83F928FE6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상세 URL은 각 관련 슬라이드의 발표자 노트에도 수록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30F8F0-D1C1-4F11-9D47-106500C89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609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30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09923D-D227-4C5B-A9E7-57D286F23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81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ENERGY PACK  /  신사업·신기술 검토  /  2026.09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8A510F-52E7-4967-A920-9DE896771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057400"/>
            <a:ext cx="108013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07F7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007F78"/>
                </a:solidFill>
                <a:latin typeface="Malgun Gothic"/>
                <a:ea typeface="Malgun Gothic"/>
                <a:cs typeface="Malgun Gothic"/>
              </a:rPr>
              <a:t>01  DEWA · Cooling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5DD165-8CE6-49C7-86D8-3BF84C03D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514600"/>
            <a:ext cx="108013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02  통계청 · 2024 인구주택총조사, 표 36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9A3324-D054-44B6-8264-45A9C7CAC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971800"/>
            <a:ext cx="108013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07F7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007F78"/>
                </a:solidFill>
                <a:latin typeface="Malgun Gothic"/>
                <a:ea typeface="Malgun Gothic"/>
                <a:cs typeface="Malgun Gothic"/>
              </a:rPr>
              <a:t>03  Eskom · 전력계통 현황, 2026.09.25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680A1C-1CA9-4DA6-A1FC-272C3EE3C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429000"/>
            <a:ext cx="108013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04  미국 DOE · Virtual Power Plants Projects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CEE187-2ABA-4959-98BE-27EFE1618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886200"/>
            <a:ext cx="108013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07F7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007F78"/>
                </a:solidFill>
                <a:latin typeface="Malgun Gothic"/>
                <a:ea typeface="Malgun Gothic"/>
                <a:cs typeface="Malgun Gothic"/>
              </a:rPr>
              <a:t>05  SMA · Sunny Home Manager 2.0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7EE751-6B76-4FA9-8278-7ED36236A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343400"/>
            <a:ext cx="108013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06  Tesla · Savings Mode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C0DB05-3F8E-4880-8708-0C523F303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800600"/>
            <a:ext cx="108013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07F7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007F78"/>
                </a:solidFill>
                <a:latin typeface="Malgun Gothic"/>
                <a:ea typeface="Malgun Gothic"/>
                <a:cs typeface="Malgun Gothic"/>
              </a:rPr>
              <a:t>07  Octopus · Heat pump FAQ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1DE6F9-E208-4777-9734-021983A1B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257800"/>
            <a:ext cx="108013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08  Schneider · Residential products</a:t>
            </a:r>
          </a:p>
        </p:txBody>
      </p:sp>
    </p:spTree>
    <p:extLst>
      <p:ext uri="{BB962C8B-B14F-4D97-AF65-F5344CB8AC3E}">
        <p14:creationId xmlns:p14="http://schemas.microsoft.com/office/powerpoint/2010/main" val="6972496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2026-09-30T05:40:11.1290000Z</dcterms:created>
  <dcterms:modified xsi:type="dcterms:W3CDTF">2026-09-30T05:40:11.1300000Z</dcterms:modified>
</coreProperties>
</file>