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1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773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5B6773"/>
                </a:solidFill>
                <a:latin typeface="Malgun Gothic"/>
              </a:rPr>
              <a:t>근본 장벽이 나타난 시장 수 (12개 중)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시장 수</c:v>
                </c:pt>
              </c:strCache>
            </c:strRef>
          </c:tx>
          <c:spPr>
            <a:solidFill>
              <a:srgbClr val="1D4F9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8212B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정전 Resilience</c:v>
                  </c:pt>
                  <c:pt idx="1">
                    <c:v>설치 규제·비연결 기존 기기</c:v>
                  </c:pt>
                  <c:pt idx="2">
                    <c:v>제어권·이해관계자 분절</c:v>
                  </c:pt>
                  <c:pt idx="3">
                    <c:v>계통 연계 용량 제약</c:v>
                  </c:pt>
                  <c:pt idx="4">
                    <c:v>사용 참여·신뢰(override)</c:v>
                  </c:pt>
                  <c:pt idx="5">
                    <c:v>설치·연동 복잡성</c:v>
                  </c:pt>
                  <c:pt idx="6">
                    <c:v>ROI 불확실·보조금 소멸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5</c:v>
                </c:pt>
                <c:pt idx="2">
                  <c:v>7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8212B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8212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원문: output/Energy_Pack_Gateway_Technology_v4_Full.html (근거 자료 81건)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[58] CSA Matter 1.4 — https://csa-iot.org/newsroom/matter-1-4-enables-more-capable-smart-homes/
[77] EU JRC, Energy Smart Appliances Code of Conduct 확대(2026.3) — https://joint-research-centre.ec.europa.eu/jrc-news-and-updates/energy-smart-appliances-code-conduct-expands-coverage-promoting-interoperability-2026-03-25_en
[78] Samsung, SmartThings Flex Connect 확대 — https://news.samsung.com/us/samsung-smartthings-flex-connect-expands-reach-maximize-energy-savings-rewards
[79] Renew Home, Rush Hour Rewards 2024 — https://www.renewhome.com/press/press-release/rush-hour-rewards-participants-received-more-than-40-million-in-rewards-last-year
[80] CSA, Matter 1.5 에너지 관리 — https://csa-iot.org/newsroom/matter-1-5-introduces-cameras-closures-and-enhanced-energy-management-capabilities/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[58] CSA Matter 1.4 — https://csa-iot.org/newsroom/matter-1-4-enables-more-capable-smart-homes/
[77] EU JRC, Energy Smart Appliances Code of Conduct 확대(2026.3) — https://joint-research-centre.ec.europa.eu/jrc-news-and-updates/energy-smart-appliances-code-conduct-expands-coverage-promoting-interoperability-2026-03-25_en
[78] Samsung, SmartThings Flex Connect 확대 — https://news.samsung.com/us/samsung-smartthings-flex-connect-expands-reach-maximize-energy-savings-rewards
[79] Renew Home, Rush Hour Rewards 2024 — https://www.renewhome.com/press/press-release/rush-hour-rewards-participants-received-more-than-40-million-in-rewards-last-year
[80] CSA, Matter 1.5 에너지 관리 — https://csa-iot.org/newsroom/matter-1-5-introduces-cameras-closures-and-enhanced-energy-management-capabilities/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GT-1 · HEMS 연결 · T1 + T2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GT-2 · HEMS 제어 · T3 + T16
출처
[59] Smart thermostat review (ScienceDirect) — https://www.sciencedirect.com/science/article/pii/S2666792425000307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GT-3 · HEMS 확산 · T15 + T14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GT-4 · HEMS 가치 · T8 + T7 + T17
출처
[13] Ofgem 2025 flexibility survey — https://www.ofgem.gov.uk/research/tracking-energy-consumers-use-low-carbon-and-flexible-products-and-services-2025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GT-5 · Energy Pack HW · T4 + T5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[9] heatload † — https://heatload.ing/hems-integration-2026-warmepumpe-und-pv-mit-eebus-sg-ready-und-modbus-vernetzen
[15] MCS Foundation — https://mcsfoundation.org.uk/news/heat-pump-skills-competition-puts-uk-warm-homes-ambition-at-risk-warns-new-report/
[37] Solar Builder † — https://solarbuildermag.com/energy-storage/soft-costs-get-lost-keeping-residential-storage-installations-profitable/
[50] 1KOMMA5 1GW — https://www.ess-news.com/2026/05/21/1komma5-achieves-1-gw-of-shiftable-load-with-its-virtual-power-plant-globally/
[58] CSA Matter 1.4 — https://csa-iot.org/newsroom/matter-1-4-enables-more-capable-smart-homes/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[21] Enedis — https://www.enedis.fr/presse/enedis-met-en-oeuvre-la-reforme-des-heures-creuses-pour-accompagner-les-nouveaux-usages-lies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[7] 독일 HP 2025 — https://www.renewable-energy-industry.com/news/world/article-7202-space-heating-heat-pumps-2025-in-germany-sales-rise-by-55-percent-industry-demands-clear-rules-in-the-building-energy-act
[48] ScienceDirect 2025 사우디 · vision2030.ai † — https://www.sciencedirect.com/science/article/abs/pii/S0957178725000852 · https://vision2030.ai/encyclopedia/saudi-arabia-electricity-consumption/
[59] Smart thermostat review (ScienceDirect) — https://www.sciencedirect.com/science/article/pii/S2666792425000307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[2] Bundesnetzagentur, §14a — https://www.bundesnetzagentur.de/DE/Vportal/Energie/SteuerbareVBE/start.html
[5] pv magazine, Solarspitzengesetz — https://www.pv-magazine.com/2025/02/17/germany-introduces-new-rules-for-solar-remuneration-during-negative-prices/
[20] Reonic G100 † — https://reonic.com/en-gb/blog/g100-export-limitation/
[29] European Commission EMD — https://energy.ec.europa.eu/news/electricity-market-design-deadline-transposing-new-rules-national-law-2025-01-17_en
[62] DOE review (Applied Energy) — https://www.sciencedirect.com/science/article/pii/S030626192600824X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[36] ACEEE panel survey — https://www.aceee.org/sites/default/files/proceedings/ssb24/pdfs/A%20Comprehensive%20Survey%20of%20Electrical%20Panel%20Capacities%20in%20U.S.%20Single-Family%20Homes%20and%20Implications%20for%20Nationwide%20Electrification.pdf
[52] Canary Media SPAN — https://www.canarymedia.com/articles/electrification/span-edge-smart-panel-utility-meter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[26] ENTSO-E Iberian report — https://eepublicdownloads.blob.core.windows.net/public-cdn-container/clean-documents/Publications/2025/iberian-blackout/Final%20Report%20on%20the%20Grid%20Incident%20in%20Spain%20and%20Portugal%20on%2028%20April%202025.pdf
[41] Texas Tribune Beryl — https://www.texastribune.org/2024/07/25/texas-power-grid-puc-centerpoint-hurricane-beryl
[51] Tesla Storm Watch — https://www.tesla.com/support/energy/powerwall/mobile-app/storm-watch
[68] TPPF Uri — https://www.texaspolicy.com/fool-me-twice-why-the-texas-grid-is-still-vulnerable-to-winter-storms/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[38] US DOE VPP Liftoff 2025 — https://liftoff.energy.gov/wp-content/uploads/2025/01/LIFTOFF_DOE_VirtualPowerPlants2025Update.pdf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[4] Verivox(blackout-news) † — https://blackout-news.de/en/news/dynamic-electricity-tariffs-more-expensive-than-fixed-price-plans-despite-consumption-optimization/
[13] Ofgem 2025 flexibility survey — https://www.ofgem.gov.uk/research/tracking-energy-consumers-use-low-carbon-and-flexible-products-and-services-2025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[8] The Mobility House, V2G — https://www.mobilityhouse.com/int_en/our-company/newsroom/article/german-parliament-removes-key-barrier-to-bidirectional-charging-vehicle-to-grid-becomes-possible
[61] Sigenergy — https://www.sigenergy.com/en/products/sigenstor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[9] heatload † — https://heatload.ing/hems-integration-2026-warmepumpe-und-pv-mit-eebus-sg-ready-und-modbus-vernetzen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[18] Fuse Energy † — https://www.fuseenergy.com/blog/plug-in-solar-legislation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[71] Santé publique France, Summer 2025 — https://www.santepubliquefrance.fr/en/climat/fortes-chaleurs-canicule/national-bulletin/heat-and-health-a-review-summer-2025
[74] Connexion, 공동주택 에어컨 승인 † — https://www.connexionfrance.com/practical/why-does-it-take-so-long-to-get-air-conditioning-approved-for-a-flat-in-france/804681
[76] Midea H-Pack (MCE 2026) — https://tools.prnewswire.com/en-us/live/20823/release/20260331EN23507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[17] NESO DFS — https://www.neso.energy/industry-information/balancing-services/demand-flexibility-service-dfs
[38] US DOE VPP Liftoff 2025 — https://liftoff.energy.gov/wp-content/uploads/2025/01/LIFTOFF_DOE_VirtualPowerPlants2025Update.pdf
[78] Samsung, SmartThings Flex Connect 확대 — https://news.samsung.com/us/samsung-smartthings-flex-connect-expands-reach-maximize-energy-savings-rewards
[79] Renew Home, Rush Hour Rewards 2024 — https://www.renewhome.com/press/press-release/rush-hour-rewards-participants-received-more-than-40-million-in-rewards-last-year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[58] CSA Matter 1.4 — https://csa-iot.org/newsroom/matter-1-4-enables-more-capable-smart-homes/
[77] EU JRC, Energy Smart Appliances Code of Conduct 확대(2026.3) — https://joint-research-centre.ec.europa.eu/jrc-news-and-updates/energy-smart-appliances-code-conduct-expands-coverage-promoting-interoperability-2026-03-25_en
[80] CSA, Matter 1.5 에너지 관리 — https://csa-iot.org/newsroom/matter-1-5-introduces-cameras-closures-and-enhanced-energy-management-capabilities/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[13] Ofgem 2025 flexibility survey — https://www.ofgem.gov.uk/research/tracking-energy-consumers-use-low-carbon-and-flexible-products-and-services-2025
[59] Smart thermostat review (ScienceDirect) — https://www.sciencedirect.com/science/article/pii/S2666792425000307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[4] Verivox(blackout-news) † — https://blackout-news.de/en/news/dynamic-electricity-tariffs-more-expensive-than-fixed-price-plans-despite-consumption-optimization/
[13] Ofgem 2025 flexibility survey — https://www.ofgem.gov.uk/research/tracking-energy-consumers-use-low-carbon-and-flexible-products-and-services-2025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[4] Verivox(blackout-news) † — https://blackout-news.de/en/news/dynamic-electricity-tariffs-more-expensive-than-fixed-price-plans-despite-consumption-optimization/
[9] heatload † — https://heatload.ing/hems-integration-2026-warmepumpe-und-pv-mit-eebus-sg-ready-und-modbus-vernetzen
[13] Ofgem 2025 flexibility survey — https://www.ofgem.gov.uk/research/tracking-energy-consumers-use-low-carbon-and-flexible-products-and-services-2025
[15] MCS Foundation — https://mcsfoundation.org.uk/news/heat-pump-skills-competition-puts-uk-warm-homes-ambition-at-risk-warns-new-report/
[22] photovoltaique.info — https://www.photovoltaique.info/fr/tarifs-dachat-et-autoconsommation/tarifs-dachat/arrete-tarifaire-en-vigueur/tarifs-de-vente-et-primes-autoconsommation-100kwc/
[25] Rijksoverheid — https://www.rijksoverheid.nl/themas/klimaat-milieu-en-natuur/energie-thuis/salderingsregeling
[28] SolarPower Europe — https://www.solarpowereurope.org/press-releases/new-report-eu-installs-27-1-g-wh-of-new-batteries-in-2025-as-utility-scale-storage-drives-record-growth
[31] CPUC NBT — https://www.cpuc.ca.gov/industries-and-topics/electrical-energy/demand-side-management/customer-generation/nem-revisit/net-billing-tariff
[35] SEIA OBBB — https://seia.org/research-resources/clean-energy-provisions-big-beautiful-bill/
[37] Solar Builder † — https://solarbuildermag.com/energy-storage/soft-costs-get-lost-keeping-residential-storage-installations-profitable/
[38] US DOE VPP Liftoff 2025 — https://liftoff.energy.gov/wp-content/uploads/2025/01/LIFTOFF_DOE_VirtualPowerPlants2025Update.pdf
[59] Smart thermostat review (ScienceDirect) — https://www.sciencedirect.com/science/article/pii/S2666792425000307
[69] ERCOT Market Notice M-A030226-01 — https://www.ercot.com/services/comm/mkt_notices/M-A030226-01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[4] Verivox(blackout-news) † — https://blackout-news.de/en/news/dynamic-electricity-tariffs-more-expensive-than-fixed-price-plans-despite-consumption-optimization/
[9] heatload † — https://heatload.ing/hems-integration-2026-warmepumpe-und-pv-mit-eebus-sg-ready-und-modbus-vernetzen
[13] Ofgem 2025 flexibility survey — https://www.ofgem.gov.uk/research/tracking-energy-consumers-use-low-carbon-and-flexible-products-and-services-2025
[15] MCS Foundation — https://mcsfoundation.org.uk/news/heat-pump-skills-competition-puts-uk-warm-homes-ambition-at-risk-warns-new-report/
[22] photovoltaique.info — https://www.photovoltaique.info/fr/tarifs-dachat-et-autoconsommation/tarifs-dachat/arrete-tarifaire-en-vigueur/tarifs-de-vente-et-primes-autoconsommation-100kwc/
[25] Rijksoverheid — https://www.rijksoverheid.nl/themas/klimaat-milieu-en-natuur/energie-thuis/salderingsregeling
[28] SolarPower Europe — https://www.solarpowereurope.org/press-releases/new-report-eu-installs-27-1-g-wh-of-new-batteries-in-2025-as-utility-scale-storage-drives-record-growth
[31] CPUC NBT — https://www.cpuc.ca.gov/industries-and-topics/electrical-energy/demand-side-management/customer-generation/nem-revisit/net-billing-tariff
[35] SEIA OBBB — https://seia.org/research-resources/clean-energy-provisions-big-beautiful-bill/
[37] Solar Builder † — https://solarbuildermag.com/energy-storage/soft-costs-get-lost-keeping-residential-storage-installations-profitable/
[38] US DOE VPP Liftoff 2025 — https://liftoff.energy.gov/wp-content/uploads/2025/01/LIFTOFF_DOE_VirtualPowerPlants2025Update.pdf
[59] Smart thermostat review (ScienceDirect) — https://www.sciencedirect.com/science/article/pii/S2666792425000307
[69] ERCOT Market Notice M-A030226-01 — https://www.ercot.com/services/comm/mkt_notices/M-A030226-01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[4] Verivox(blackout-news) † — https://blackout-news.de/en/news/dynamic-electricity-tariffs-more-expensive-than-fixed-price-plans-despite-consumption-optimization/
[9] heatload † — https://heatload.ing/hems-integration-2026-warmepumpe-und-pv-mit-eebus-sg-ready-und-modbus-vernetzen
[13] Ofgem 2025 flexibility survey — https://www.ofgem.gov.uk/research/tracking-energy-consumers-use-low-carbon-and-flexible-products-and-services-2025
[15] MCS Foundation — https://mcsfoundation.org.uk/news/heat-pump-skills-competition-puts-uk-warm-homes-ambition-at-risk-warns-new-report/
[22] photovoltaique.info — https://www.photovoltaique.info/fr/tarifs-dachat-et-autoconsommation/tarifs-dachat/arrete-tarifaire-en-vigueur/tarifs-de-vente-et-primes-autoconsommation-100kwc/
[25] Rijksoverheid — https://www.rijksoverheid.nl/themas/klimaat-milieu-en-natuur/energie-thuis/salderingsregeling
[28] SolarPower Europe — https://www.solarpowereurope.org/press-releases/new-report-eu-installs-27-1-g-wh-of-new-batteries-in-2025-as-utility-scale-storage-drives-record-growth
[31] CPUC NBT — https://www.cpuc.ca.gov/industries-and-topics/electrical-energy/demand-side-management/customer-generation/nem-revisit/net-billing-tariff
[35] SEIA OBBB — https://seia.org/research-resources/clean-energy-provisions-big-beautiful-bill/
[37] Solar Builder † — https://solarbuildermag.com/energy-storage/soft-costs-get-lost-keeping-residential-storage-installations-profitable/
[38] US DOE VPP Liftoff 2025 — https://liftoff.energy.gov/wp-content/uploads/2025/01/LIFTOFF_DOE_VirtualPowerPlants2025Update.pdf
[59] Smart thermostat review (ScienceDirect) — https://www.sciencedirect.com/science/article/pii/S2666792425000307
[69] ERCOT Market Notice M-A030226-01 — https://www.ercot.com/services/comm/mkt_notices/M-A030226-01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[4] Verivox(blackout-news) † — https://blackout-news.de/en/news/dynamic-electricity-tariffs-more-expensive-than-fixed-price-plans-despite-consumption-optimization/
[9] heatload † — https://heatload.ing/hems-integration-2026-warmepumpe-und-pv-mit-eebus-sg-ready-und-modbus-vernetzen
[13] Ofgem 2025 flexibility survey — https://www.ofgem.gov.uk/research/tracking-energy-consumers-use-low-carbon-and-flexible-products-and-services-2025
[15] MCS Foundation — https://mcsfoundation.org.uk/news/heat-pump-skills-competition-puts-uk-warm-homes-ambition-at-risk-warns-new-report/
[22] photovoltaique.info — https://www.photovoltaique.info/fr/tarifs-dachat-et-autoconsommation/tarifs-dachat/arrete-tarifaire-en-vigueur/tarifs-de-vente-et-primes-autoconsommation-100kwc/
[25] Rijksoverheid — https://www.rijksoverheid.nl/themas/klimaat-milieu-en-natuur/energie-thuis/salderingsregeling
[28] SolarPower Europe — https://www.solarpowereurope.org/press-releases/new-report-eu-installs-27-1-g-wh-of-new-batteries-in-2025-as-utility-scale-storage-drives-record-growth
[31] CPUC NBT — https://www.cpuc.ca.gov/industries-and-topics/electrical-energy/demand-side-management/customer-generation/nem-revisit/net-billing-tariff
[35] SEIA OBBB — https://seia.org/research-resources/clean-energy-provisions-big-beautiful-bill/
[37] Solar Builder † — https://solarbuildermag.com/energy-storage/soft-costs-get-lost-keeping-residential-storage-installations-profitable/
[38] US DOE VPP Liftoff 2025 — https://liftoff.energy.gov/wp-content/uploads/2025/01/LIFTOFF_DOE_VirtualPowerPlants2025Update.pdf
[59] Smart thermostat review (ScienceDirect) — https://www.sciencedirect.com/science/article/pii/S2666792425000307
[69] ERCOT Market Notice M-A030226-01 — https://www.ercot.com/services/comm/mkt_notices/M-A030226-01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[1] Bundesnetzagentur, Dynamische Stromtarife — https://www.bundesnetzagentur.de/DE/Vportal/Energie/Vertragsarten/DynStromtarife/start.html
[2] Bundesnetzagentur, §14a — https://www.bundesnetzagentur.de/DE/Vportal/Energie/SteuerbareVBE/start.html
[3] Utility Partners † — https://www.utility-partners.de/der-weg-zum-massenfaehigen-steuerungsrollout-ist-noch-lang/
[4] Verivox(blackout-news) † — https://blackout-news.de/en/news/dynamic-electricity-tariffs-more-expensive-than-fixed-price-plans-despite-consumption-optimization/
[5] pv magazine, Solarspitzengesetz — https://www.pv-magazine.com/2025/02/17/germany-introduces-new-rules-for-solar-remuneration-during-negative-prices/
[6] pv magazine, 독일 배터리 2025 — https://www.pv-magazine.com/2026/01/12/germany-adds-6-57-gwh-of-battery-storage-in-2025-total-hits-24-gwh/ · https://www.pv-magazine.de/2026/01/06/weniger-neue-batteriespeicher-2025-installiert-aber-mit-mehr-kapazitaet/
[7] 독일 HP 2025 — https://www.renewable-energy-industry.com/news/world/article-7202-space-heating-heat-pumps-2025-in-germany-sales-rise-by-55-percent-industry-demands-clear-rules-in-the-building-energy-act
[8] The Mobility House, V2G — https://www.mobilityhouse.com/int_en/our-company/newsroom/article/german-parliament-removes-key-barrier-to-bidirectional-charging-vehicle-to-grid-becomes-possible
[9] heatload † — https://heatload.ing/hems-integration-2026-warmepumpe-und-pv-mit-eebus-sg-ready-und-modbus-vernetzen
[10] Vattenfall, §14a — https://www.vattenfall.de/steuerbare-verbrauchseinrichtungen-14a-enwg
[11] Eurostat — https://ec.europa.eu/eurostat/web/products-eurostat-news/w/ddn-20260505-1
[12] Ofgem price cap — https://www.ofgem.gov.uk/your-energy-supply/your-energy-bill/energy-price-cap-unit-rates-and-standing-charges
[13] Ofgem 2025 flexibility survey — https://www.ofgem.gov.uk/research/tracking-energy-consumers-use-low-carbon-and-flexible-products-and-services-2025
[14] GOV.UK HP stats June 2026 — https://www.gov.uk/government/statistics/heat-pump-deployment-statistics-june-2026/heat-pump-deployment-statistics-june-2026-summary
[15] MCS Foundation — https://mcsfoundation.org.uk/news/heat-pump-skills-competition-puts-uk-warm-homes-ambition-at-risk-warns-new-report/
[16] Elexon MHHS — https://www.elexon.co.uk/bsc/operational/market-wide-half-hourly-settlement/
[17] NESO DFS — https://www.neso.energy/industry-information/balancing-services/demand-flexibility-service-dfs
[18] Fuse Energy † — https://www.fuseenergy.com/blog/plug-in-solar-legislation
[19] Kraken 2GW — https://www.evinfrastructurenews.com/ev-technology/ai-powered-vpp-kraken-reaches-2gw-managed-domestic-assets
[20] Reonic G100 † — https://reonic.com/en-gb/blog/g100-export-limitation/
[50] 1KOMMA5 1GW — https://www.ess-news.com/2026/05/21/1komma5-achieves-1-gw-of-shiftable-load-with-its-virtual-power-plant-globally/
[57] sonnen VPP — https://sonnengroup.com/press/europes-largest-vpp/
[72] Ofgem FANZ Survey 2025 — https://www.ofgem.gov.uk/sites/default/files/2026-05/Flexibility-and-Net-Zero-Survey-Findings-Report-2025.pdf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[21] Enedis — https://www.enedis.fr/presse/enedis-met-en-oeuvre-la-reforme-des-heures-creuses-pour-accompagner-les-nouveaux-usages-lies
[22] photovoltaique.info — https://www.photovoltaique.info/fr/tarifs-dachat-et-autoconsommation/tarifs-dachat/arrete-tarifaire-en-vigueur/tarifs-de-vente-et-primes-autoconsommation-100kwc/
[23] Selectra Linky † — https://en.selectra.info/energy-france/guides/electricity/linky
[24] CAPEB — https://www.capeb.fr/actualites/suspension-du-dispositif-maprimerenov-au-1er-janvier-2026-usnchl
[25] Rijksoverheid — https://www.rijksoverheid.nl/themas/klimaat-milieu-en-natuur/energie-thuis/salderingsregeling
[26] ENTSO-E Iberian report — https://eepublicdownloads.blob.core.windows.net/public-cdn-container/clean-documents/Publications/2025/iberian-blackout/Final%20Report%20on%20the%20Grid%20Incident%20in%20Spain%20and%20Portugal%20on%2028%20April%202025.pdf
[27] The Local Italy — https://www.thelocal.it/20260917/why-are-italys-electricity-prices-among-the-highest-in-europe
[56] Schneider Wiser — https://www.se.com/ww/en/about-us/newsroom/news/press-releases/schneider-electric-launches-ai-powered-home-energy-management-feature-for-wiser-home-66d6bac4d6b0eff3580dc113/
[65] gridX † — https://www.gridx.ai/knowledge/what-is-net-metering-in-the-netherlands-salderingsregeling
[71] Santé publique France, Summer 2025 — https://www.santepubliquefrance.fr/en/climat/fortes-chaleurs-canicule/national-bulletin/heat-and-health-a-review-summer-2025
[73] Connexion, 프랑스 폭염 대응 계획 † — https://www.connexionfrance.com/practical/france-heatwave-minister-unveils-plan-to-help-homes-and-cities-cope/796965
[74] Connexion, 공동주택 에어컨 승인 † — https://www.connexionfrance.com/practical/why-does-it-take-so-long-to-get-air-conditioning-approved-for-a-flat-in-france/804681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[31] CPUC NBT — https://www.cpuc.ca.gov/industries-and-topics/electrical-energy/demand-side-management/customer-generation/nem-revisit/net-billing-tariff
[32] Solar.com PG&amp;E † — https://www.solar.com/learn/pge-electric-rates/
[33] Brattle VPP — https://www.brattle.com/wp-content/uploads/2025/08/Assessing-VPP-Performance-Impacts-of-a-Test-Event-in-California-1.pdf
[34] pv magazine USA DSGS — https://pv-magazine-usa.com/2025/09/15/california-cuts-funding-for-nations-largest-virtual-power-plant/
[35] SEIA OBBB — https://seia.org/research-resources/clean-energy-provisions-big-beautiful-bill/
[36] ACEEE panel survey — https://www.aceee.org/sites/default/files/proceedings/ssb24/pdfs/A%20Comprehensive%20Survey%20of%20Electrical%20Panel%20Capacities%20in%20U.S.%20Single-Family%20Homes%20and%20Implications%20for%20Nationwide%20Electrification.pdf
[37] Solar Builder † — https://solarbuildermag.com/energy-storage/soft-costs-get-lost-keeping-residential-storage-installations-profitable/
[38] US DOE VPP Liftoff 2025 — https://liftoff.energy.gov/wp-content/uploads/2025/01/LIFTOFF_DOE_VirtualPowerPlants2025Update.pdf
[39] Utility Dive / EIA — https://www.utilitydive.com/news/data-centers-electricity-residential-rates-eia/820342/
[40] Utility Dive Tesla ERCOT — https://www.utilitydive.com/news/tesla-virtual-power-plants-vpp-ercot-puc-texas-grid/691713/
[41] Texas Tribune Beryl — https://www.texastribune.org/2024/07/25/texas-power-grid-puc-centerpoint-hurricane-beryl
[42] Electrek Tesla lease — https://electrek.co/2026/08/13/tesla-powerwall-backup-lease-tesla-electric-texas/
[43] Texas Energy Fund TBPP — https://www.txenergyfund.texas.gov/TBPP
[51] Tesla Storm Watch — https://www.tesla.com/support/energy/powerwall/mobile-app/storm-watch
[52] Canary Media SPAN — https://www.canarymedia.com/articles/electrification/span-edge-smart-panel-utility-meter
[66] CPUC Rule 21 — https://www.cpuc.ca.gov/Rule21/
[68] TPPF Uri — https://www.texaspolicy.com/fool-me-twice-why-the-texas-grid-is-still-vulnerable-to-winter-storms/
[69] ERCOT Market Notice M-A030226-01 — https://www.ercot.com/services/comm/mkt_notices/M-A030226-01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[44] DEWA slab tariff — https://www.dewa.gov.ae/en/consumer/billing/slab-tariff
[45] SurgePV Shams Dubai † — https://www.surgepv.com/solar-compliance/uae/guides/dewa-shams-dubai
[46] Dubai DSM 2050 — https://dubaisce.gov.ae/en/dsmstrategy2050/
[47] SERA tariff — https://www.sera.gov.sa/en/consumer/electric-tariff/electric-tariff-categories/consumption-tariff
[48] ScienceDirect 2025 사우디 · vision2030.ai † — https://www.sciencedirect.com/science/article/abs/pii/S0957178725000852 · https://vision2030.ai/encyclopedia/saudi-arabia-electricity-consumption/
[49] Kahramaa BeSolar — https://www.km.qa/RenewableEnergy/Pages/BeSolar.aspx
[70] GASTAT Household Energy Statistics 2024 — https://www.stats.gov.sa/en/w/news/125
[75] DEWA Cooling / Smart Living — https://www.dewa.gov.ae/en/consumer/sustainability/sustainability-and-conservation/cooling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[55] Samsung SmartThings Energy — https://partners.smartthings.com/press-release/new-smartthings-energy-features-take-home-energy-management-to-next-level
[64] EcoFlow OCEAN Pro — https://energy.ecoflow.com/us/products/ocean-pro-home-solar-battery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[19] Kraken 2GW — https://www.evinfrastructurenews.com/ev-technology/ai-powered-vpp-kraken-reaches-2gw-managed-domestic-assets
[50] 1KOMMA5 1GW — https://www.ess-news.com/2026/05/21/1komma5-achieves-1-gw-of-shiftable-load-with-its-virtual-power-plant-globally/
[52] Canary Media SPAN — https://www.canarymedia.com/articles/electrification/span-edge-smart-panel-utility-meter
[53] Enphase IQ EM — https://investor.enphase.com/news-releases/news-release-details/enphase-energy-launches-iq-energy-management-australia-and-new
[54] pv Europe Huawei — https://www.pveurope.eu/planning/huawei-fusionsolar-rebrands-emma-smart-assistant
[55] Samsung SmartThings Energy — https://partners.smartthings.com/press-release/new-smartthings-energy-features-take-home-energy-management-to-next-level
[56] Schneider Wiser — https://www.se.com/ww/en/about-us/newsroom/news/press-releases/schneider-electric-launches-ai-powered-home-energy-management-feature-for-wiser-home-66d6bac4d6b0eff3580dc113/
[57] sonnen VPP — https://sonnengroup.com/press/europes-largest-vpp/
[60] POWER Voltus–Octopus — https://www.powermag.com/flexibility-as-a-service-gains-u-s-foothold-with-new-voltus-octopus-partnership/
[61] Sigenergy — https://www.sigenergy.com/en/products/sigenstor
[63] Mitsubishi Electric §14a — https://www.mitsubishi-les.com/en-de/knowledge/section-14-a-enwg-and-its-significance-21120.html
[76] Midea H-Pack (MCE 2026) — https://tools.prnewswire.com/en-us/live/20823/release/20260331EN23507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[19] Kraken 2GW — https://www.evinfrastructurenews.com/ev-technology/ai-powered-vpp-kraken-reaches-2gw-managed-domestic-assets
[50] 1KOMMA5 1GW — https://www.ess-news.com/2026/05/21/1komma5-achieves-1-gw-of-shiftable-load-with-its-virtual-power-plant-globally/
[52] Canary Media SPAN — https://www.canarymedia.com/articles/electrification/span-edge-smart-panel-utility-meter
[53] Enphase IQ EM — https://investor.enphase.com/news-releases/news-release-details/enphase-energy-launches-iq-energy-management-australia-and-new
[54] pv Europe Huawei — https://www.pveurope.eu/planning/huawei-fusionsolar-rebrands-emma-smart-assistant
[55] Samsung SmartThings Energy — https://partners.smartthings.com/press-release/new-smartthings-energy-features-take-home-energy-management-to-next-level
[56] Schneider Wiser — https://www.se.com/ww/en/about-us/newsroom/news/press-releases/schneider-electric-launches-ai-powered-home-energy-management-feature-for-wiser-home-66d6bac4d6b0eff3580dc113/
[57] sonnen VPP — https://sonnengroup.com/press/europes-largest-vpp/
[60] POWER Voltus–Octopus — https://www.powermag.com/flexibility-as-a-service-gains-u-s-foothold-with-new-voltus-octopus-partnership/
[61] Sigenergy — https://www.sigenergy.com/en/products/sigenstor
[63] Mitsubishi Electric §14a — https://www.mitsubishi-les.com/en-de/knowledge/section-14-a-enwg-and-its-significance-21120.html
[76] Midea H-Pack (MCE 2026) — https://tools.prnewswire.com/en-us/live/20823/release/20260331EN23507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
[6] pv magazine, 독일 배터리 2025 — https://www.pv-magazine.com/2026/01/12/germany-adds-6-57-gwh-of-battery-storage-in-2025-total-hits-24-gwh/ · https://www.pv-magazine.de/2026/01/06/weniger-neue-batteriespeicher-2025-installiert-aber-mit-mehr-kapazitaet/
[7] 독일 HP 2025 — https://www.renewable-energy-industry.com/news/world/article-7202-space-heating-heat-pumps-2025-in-germany-sales-rise-by-55-percent-industry-demands-clear-rules-in-the-building-energy-act
[17] NESO DFS — https://www.neso.energy/industry-information/balancing-services/demand-flexibility-service-dfs
[21] Enedis — https://www.enedis.fr/presse/enedis-met-en-oeuvre-la-reforme-des-heures-creuses-pour-accompagner-les-nouveaux-usages-lies
[25] Rijksoverheid — https://www.rijksoverheid.nl/themas/klimaat-milieu-en-natuur/energie-thuis/salderingsregeling
[31] CPUC NBT — https://www.cpuc.ca.gov/industries-and-topics/electrical-energy/demand-side-management/customer-generation/nem-revisit/net-billing-tariff
[46] Dubai DSM 2050 — https://dubaisce.gov.ae/en/dsmstrategy2050/
[67] Carbon Brief Warm Homes Plan — https://www.carbonbrief.org/qa-what-uks-warm-homes-plan-means-for-climate-change-and-energy-bills
[69] ERCOT Market Notice M-A030226-01 — https://www.ercot.com/services/comm/mkt_notices/M-A030226-01
[70] GASTAT Household Energy Statistics 2024 — https://www.stats.gov.sa/en/w/news/125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Bundesnetzagentur, Dynamische Stromtarife — https://www.bundesnetzagentur.de/DE/Vportal/Energie/Vertragsarten/DynStromtarife/start.html
[2] Bundesnetzagentur, §14a — https://www.bundesnetzagentur.de/DE/Vportal/Energie/SteuerbareVBE/start.html
[3] Utility Partners † — https://www.utility-partners.de/der-weg-zum-massenfaehigen-steuerungsrollout-ist-noch-lang/
[4] Verivox(blackout-news) † — https://blackout-news.de/en/news/dynamic-electricity-tariffs-more-expensive-than-fixed-price-plans-despite-consumption-optimization/
[5] pv magazine, Solarspitzengesetz — https://www.pv-magazine.com/2025/02/17/germany-introduces-new-rules-for-solar-remuneration-during-negative-prices/
[6] pv magazine, 독일 배터리 2025 — https://www.pv-magazine.com/2026/01/12/germany-adds-6-57-gwh-of-battery-storage-in-2025-total-hits-24-gwh/ · https://www.pv-magazine.de/2026/01/06/weniger-neue-batteriespeicher-2025-installiert-aber-mit-mehr-kapazitaet/
[7] 독일 HP 2025 — https://www.renewable-energy-industry.com/news/world/article-7202-space-heating-heat-pumps-2025-in-germany-sales-rise-by-55-percent-industry-demands-clear-rules-in-the-building-energy-act
[8] The Mobility House, V2G — https://www.mobilityhouse.com/int_en/our-company/newsroom/article/german-parliament-removes-key-barrier-to-bidirectional-charging-vehicle-to-grid-becomes-possible
[9] heatload † — https://heatload.ing/hems-integration-2026-warmepumpe-und-pv-mit-eebus-sg-ready-und-modbus-vernetzen
[10] Vattenfall, §14a — https://www.vattenfall.de/steuerbare-verbrauchseinrichtungen-14a-enwg
[11] Eurostat — https://ec.europa.eu/eurostat/web/products-eurostat-news/w/ddn-20260505-1
[12] Ofgem price cap — https://www.ofgem.gov.uk/your-energy-supply/your-energy-bill/energy-price-cap-unit-rates-and-standing-charges
[13] Ofgem 2025 flexibility survey — https://www.ofgem.gov.uk/research/tracking-energy-consumers-use-low-carbon-and-flexible-products-and-services-2025
[14] GOV.UK HP stats June 2026 — https://www.gov.uk/government/statistics/heat-pump-deployment-statistics-june-2026/heat-pump-deployment-statistics-june-2026-summary
[15] MCS Foundation — https://mcsfoundation.org.uk/news/heat-pump-skills-competition-puts-uk-warm-homes-ambition-at-risk-warns-new-report/
[16] Elexon MHHS — https://www.elexon.co.uk/bsc/operational/market-wide-half-hourly-settlement/
[17] NESO DFS — https://www.neso.energy/industry-information/balancing-services/demand-flexibility-service-dfs
[18] Fuse Energy † — https://www.fuseenergy.com/blog/plug-in-solar-legislation
[19] Kraken 2GW — https://www.evinfrastructurenews.com/ev-technology/ai-powered-vpp-kraken-reaches-2gw-managed-domestic-assets
[20] Reonic G100 † — https://reonic.com/en-gb/blog/g100-export-limitation/
[21] Enedis — https://www.enedis.fr/presse/enedis-met-en-oeuvre-la-reforme-des-heures-creuses-pour-accompagner-les-nouveaux-usages-lies
[22] photovoltaique.info — https://www.photovoltaique.info/fr/tarifs-dachat-et-autoconsommation/tarifs-dachat/arrete-tarifaire-en-vigueur/tarifs-de-vente-et-primes-autoconsommation-100kwc/
[23] Selectra Linky † — https://en.selectra.info/energy-france/guides/electricity/linky
[24] CAPEB — https://www.capeb.fr/actualites/suspension-du-dispositif-maprimerenov-au-1er-janvier-2026-usnchl
[25] Rijksoverheid — https://www.rijksoverheid.nl/themas/klimaat-milieu-en-natuur/energie-thuis/salderingsregeling
[26] ENTSO-E Iberian report — https://eepublicdownloads.blob.core.windows.net/public-cdn-container/clean-documents/Publications/2025/iberian-blackout/Final%20Report%20on%20the%20Grid%20Incident%20in%20Spain%20and%20Portugal%20on%2028%20April%202025.pdf
[27] The Local Italy — https://www.thelocal.it/20260917/why-are-italys-electricity-prices-among-the-highest-in-europe
[28] SolarPower Europe — https://www.solarpowereurope.org/press-releases/new-report-eu-installs-27-1-g-wh-of-new-batteries-in-2025-as-utility-scale-storage-drives-record-growth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[29] European Commission EMD — https://energy.ec.europa.eu/news/electricity-market-design-deadline-transposing-new-rules-national-law-2025-01-17_en
[30] IEA Electricity 2026 — https://www.iea.org/reports/electricity-2026/flexibility
[31] CPUC NBT — https://www.cpuc.ca.gov/industries-and-topics/electrical-energy/demand-side-management/customer-generation/nem-revisit/net-billing-tariff
[32] Solar.com PG&amp;E † — https://www.solar.com/learn/pge-electric-rates/
[33] Brattle VPP — https://www.brattle.com/wp-content/uploads/2025/08/Assessing-VPP-Performance-Impacts-of-a-Test-Event-in-California-1.pdf
[34] pv magazine USA DSGS — https://pv-magazine-usa.com/2025/09/15/california-cuts-funding-for-nations-largest-virtual-power-plant/
[35] SEIA OBBB — https://seia.org/research-resources/clean-energy-provisions-big-beautiful-bill/
[36] ACEEE panel survey — https://www.aceee.org/sites/default/files/proceedings/ssb24/pdfs/A%20Comprehensive%20Survey%20of%20Electrical%20Panel%20Capacities%20in%20U.S.%20Single-Family%20Homes%20and%20Implications%20for%20Nationwide%20Electrification.pdf
[37] Solar Builder † — https://solarbuildermag.com/energy-storage/soft-costs-get-lost-keeping-residential-storage-installations-profitable/
[38] US DOE VPP Liftoff 2025 — https://liftoff.energy.gov/wp-content/uploads/2025/01/LIFTOFF_DOE_VirtualPowerPlants2025Update.pdf
[39] Utility Dive / EIA — https://www.utilitydive.com/news/data-centers-electricity-residential-rates-eia/820342/
[40] Utility Dive Tesla ERCOT — https://www.utilitydive.com/news/tesla-virtual-power-plants-vpp-ercot-puc-texas-grid/691713/
[41] Texas Tribune Beryl — https://www.texastribune.org/2024/07/25/texas-power-grid-puc-centerpoint-hurricane-beryl
[42] Electrek Tesla lease — https://electrek.co/2026/08/13/tesla-powerwall-backup-lease-tesla-electric-texas/
[43] Texas Energy Fund TBPP — https://www.txenergyfund.texas.gov/TBPP
[44] DEWA slab tariff — https://www.dewa.gov.ae/en/consumer/billing/slab-tariff
[45] SurgePV Shams Dubai † — https://www.surgepv.com/solar-compliance/uae/guides/dewa-shams-dubai
[46] Dubai DSM 2050 — https://dubaisce.gov.ae/en/dsmstrategy2050/
[47] SERA tariff — https://www.sera.gov.sa/en/consumer/electric-tariff/electric-tariff-categories/consumption-tariff
[48] ScienceDirect 2025 사우디 · vision2030.ai † — https://www.sciencedirect.com/science/article/abs/pii/S0957178725000852 · https://vision2030.ai/encyclopedia/saudi-arabia-electricity-consumption/
[49] Kahramaa BeSolar — https://www.km.qa/RenewableEnergy/Pages/BeSolar.aspx
[50] 1KOMMA5 1GW — https://www.ess-news.com/2026/05/21/1komma5-achieves-1-gw-of-shiftable-load-with-its-virtual-power-plant-globally/
[51] Tesla Storm Watch — https://www.tesla.com/support/energy/powerwall/mobile-app/storm-watch
[52] Canary Media SPAN — https://www.canarymedia.com/articles/electrification/span-edge-smart-panel-utility-meter
[53] Enphase IQ EM — https://investor.enphase.com/news-releases/news-release-details/enphase-energy-launches-iq-energy-management-australia-and-new
[54] pv Europe Huawei — https://www.pveurope.eu/planning/huawei-fusionsolar-rebrands-emma-smart-assistant
[55] Samsung SmartThings Energy — https://partners.smartthings.com/press-release/new-smartthings-energy-features-take-home-energy-management-to-next-level
[56] Schneider Wiser — https://www.se.com/ww/en/about-us/newsroom/news/press-releases/schneider-electric-launches-ai-powered-home-energy-management-feature-for-wiser-home-66d6bac4d6b0eff3580dc113/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[57] sonnen VPP — https://sonnengroup.com/press/europes-largest-vpp/
[58] CSA Matter 1.4 — https://csa-iot.org/newsroom/matter-1-4-enables-more-capable-smart-homes/
[59] Smart thermostat review (ScienceDirect) — https://www.sciencedirect.com/science/article/pii/S2666792425000307
[60] POWER Voltus–Octopus — https://www.powermag.com/flexibility-as-a-service-gains-u-s-foothold-with-new-voltus-octopus-partnership/
[61] Sigenergy — https://www.sigenergy.com/en/products/sigenstor
[62] DOE review (Applied Energy) — https://www.sciencedirect.com/science/article/pii/S030626192600824X
[63] Mitsubishi Electric §14a — https://www.mitsubishi-les.com/en-de/knowledge/section-14-a-enwg-and-its-significance-21120.html
[64] EcoFlow OCEAN Pro — https://energy.ecoflow.com/us/products/ocean-pro-home-solar-battery
[65] gridX † — https://www.gridx.ai/knowledge/what-is-net-metering-in-the-netherlands-salderingsregeling
[66] CPUC Rule 21 — https://www.cpuc.ca.gov/Rule21/
[67] Carbon Brief Warm Homes Plan — https://www.carbonbrief.org/qa-what-uks-warm-homes-plan-means-for-climate-change-and-energy-bills
[68] TPPF Uri — https://www.texaspolicy.com/fool-me-twice-why-the-texas-grid-is-still-vulnerable-to-winter-storms/
[69] ERCOT Market Notice M-A030226-01 — https://www.ercot.com/services/comm/mkt_notices/M-A030226-01
[70] GASTAT Household Energy Statistics 2024 — https://www.stats.gov.sa/en/w/news/125
[71] Santé publique France, Summer 2025 — https://www.santepubliquefrance.fr/en/climat/fortes-chaleurs-canicule/national-bulletin/heat-and-health-a-review-summer-2025
[72] Ofgem FANZ Survey 2025 — https://www.ofgem.gov.uk/sites/default/files/2026-05/Flexibility-and-Net-Zero-Survey-Findings-Report-2025.pdf
[73] Connexion, 프랑스 폭염 대응 계획 † — https://www.connexionfrance.com/practical/france-heatwave-minister-unveils-plan-to-help-homes-and-cities-cope/796965
[74] Connexion, 공동주택 에어컨 승인 † — https://www.connexionfrance.com/practical/why-does-it-take-so-long-to-get-air-conditioning-approved-for-a-flat-in-france/804681
[75] DEWA Cooling / Smart Living — https://www.dewa.gov.ae/en/consumer/sustainability/sustainability-and-conservation/cooling
[76] Midea H-Pack (MCE 2026) — https://tools.prnewswire.com/en-us/live/20823/release/20260331EN23507
[77] EU JRC, Energy Smart Appliances Code of Conduct 확대(2026.3) — https://joint-research-centre.ec.europa.eu/jrc-news-and-updates/energy-smart-appliances-code-conduct-expands-coverage-promoting-interoperability-2026-03-25_en
[78] Samsung, SmartThings Flex Connect 확대 — https://news.samsung.com/us/samsung-smartthings-flex-connect-expands-reach-maximize-energy-savings-rewards
[79] Renew Home, Rush Hour Rewards 2024 — https://www.renewhome.com/press/press-release/rush-hour-rewards-participants-received-more-than-40-million-in-rewards-last-year
[80] CSA, Matter 1.5 에너지 관리 — https://csa-iot.org/newsroom/matter-1-5-introduces-cameras-closures-and-enhanced-energy-management-capabilities/
[81] CSA, Matter for Energy Smart Appliances — https://csa-iot.org/newsroom/matter-enabling-universal-grid-friendly-integration-for-energy-smart-appliances-and-more/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325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· FULL v4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830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HEMS와 Energy Pack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2027–2028 신기술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HEMS는 모든 집의 두뇌, Energy Pack은 그 두뇌가 가장 큰 힘을 내는 HW 패키지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4526280"/>
            <a:ext cx="3244977" cy="384048"/>
          </a:xfrm>
          <a:prstGeom prst="roundRect">
            <a:avLst>
              <a:gd name="adj" fmla="val 50000"/>
            </a:avLst>
          </a:prstGeom>
          <a:solidFill>
            <a:srgbClr val="22344A"/>
          </a:solidFill>
          <a:ln w="9525">
            <a:solidFill>
              <a:srgbClr val="2234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4526280"/>
            <a:ext cx="324497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유럽 · 독일 영국 프랑스 네덜란드 남유럽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59377" y="4526280"/>
            <a:ext cx="2140839" cy="384048"/>
          </a:xfrm>
          <a:prstGeom prst="roundRect">
            <a:avLst>
              <a:gd name="adj" fmla="val 50000"/>
            </a:avLst>
          </a:prstGeom>
          <a:solidFill>
            <a:srgbClr val="22344A"/>
          </a:solidFill>
          <a:ln w="9525">
            <a:solidFill>
              <a:srgbClr val="2234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59377" y="4526280"/>
            <a:ext cx="2140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북미 · California Texas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83096" y="4526280"/>
            <a:ext cx="2136038" cy="384048"/>
          </a:xfrm>
          <a:prstGeom prst="roundRect">
            <a:avLst>
              <a:gd name="adj" fmla="val 50000"/>
            </a:avLst>
          </a:prstGeom>
          <a:solidFill>
            <a:srgbClr val="22344A"/>
          </a:solidFill>
          <a:ln w="9525">
            <a:solidFill>
              <a:srgbClr val="2234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83096" y="4526280"/>
            <a:ext cx="21360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중동 · UAE 사우디 카타르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802014" y="4526280"/>
            <a:ext cx="1147115" cy="384048"/>
          </a:xfrm>
          <a:prstGeom prst="roundRect">
            <a:avLst>
              <a:gd name="adj" fmla="val 50000"/>
            </a:avLst>
          </a:prstGeom>
          <a:solidFill>
            <a:srgbClr val="22344A"/>
          </a:solidFill>
          <a:ln w="9525">
            <a:solidFill>
              <a:srgbClr val="2234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802014" y="4526280"/>
            <a:ext cx="11471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 포함 6명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257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2026.09.30 · 2025–2026 공식·규제기관·업계 자료 81건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내년에 이 과제로 무엇을 하는가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91672" cy="1417320"/>
          </a:xfrm>
          <a:prstGeom prst="rect">
            <a:avLst/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481328"/>
            <a:ext cx="10561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Pack이 있는 집이든 우리 가전만 있는 집이든, </a:t>
            </a:r>
            <a:pPr indent="0" marL="0">
              <a:buNone/>
            </a:pPr>
            <a:r>
              <a:rPr lang="en-US" sz="17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연결하는 순간 스스로 설정되고(GT-1), 냉난방을 불편 없이 조절하고(GT-2), 가전 안에서 바로 동작하며(GT-3), 절감을 돈으로 증명하는(GT-4)</a:t>
            </a:r>
            <a:pPr indent="0" marL="0">
              <a:buNone/>
            </a:pPr>
            <a:r>
              <a:rPr lang="en-US" sz="17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HEMS를 만들고, Energy Pack에는 계통 한도를 지키는 Power Hub(GT-5)를 더한다.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566160" cy="315468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0332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집의 에너지 두뇌(SW·AI). Energy Pack이 없어도 자사 에어컨·히트펌프·세탁기·건조기·온수기만으로 동작.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623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GT-1 · GT-2 · GT-3 · GT-4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3017520"/>
            <a:ext cx="3566160" cy="3154680"/>
          </a:xfrm>
          <a:prstGeom prst="rect">
            <a:avLst/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Pack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70332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PV·ESS·히트펌프·에어컨을 묶은 HW 패키지. HEMS가 가장 큰 가치를 내는 집이지만 유일한 무대는 아님.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5623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GT-5 Power Hub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3017520"/>
            <a:ext cx="3566160" cy="315468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경로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70332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Energy Pack 설치 집 · B 자사 가전만 있는 집 · C 타사 기기가 섞인 집. Energy Pack이 늦게 팔려도 B·C로 HEMS 고객이 쌓임.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5623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B · 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 Technology 5개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4개 + Energy Pack HW 1개 · 예측 정확도·대시보드·Digital Twin·단독 Autopilot은 제외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66160" cy="219456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892808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892808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487729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연결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2860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Zero-Touch Commissioning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89864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타사 기기까지 자동 발견하고 시험 신호로 배선·제어권 확인. 설치기사 수작업 2–4시간 → 앱 확인 수준.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7680" y="1691640"/>
            <a:ext cx="3566160" cy="219456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1892808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1892808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36769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제어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2860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Comfort-Bounded Thermal Flex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289864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싼 시간에 집에 열을 미리 저장하고 비싼 시간엔 덜 돌려 배터리 없이 절감. 사용자 설정 변경을 선호로 학습.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1691640"/>
            <a:ext cx="3566160" cy="219456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1892808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1892808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985809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확산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22860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Appliance-Embedded HEMS &amp; Fleet Flex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289864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 없이 AC·HP 안에서 HEMS가 동작. 이미 팔린 가전을 묶어 가전 VPP로.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069080"/>
            <a:ext cx="3566160" cy="219456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270248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270248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487729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가치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6634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 Value &amp; Control Arbitration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27608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“제어 없었다면 £126, 실제 £89” 검증 절감, 요금제 자동 선택, 소매사·VPP·DSO 명령 중재.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97680" y="4069080"/>
            <a:ext cx="3566160" cy="2194560"/>
          </a:xfrm>
          <a:prstGeom prst="rect">
            <a:avLst/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26280" y="4270248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26280" y="4270248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GT-5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236769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Pack HW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26280" y="46634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Grid-Envelope Power Hub</a:t>
            </a:r>
            <a:endParaRPr lang="en-US" sz="1550" dirty="0"/>
          </a:p>
        </p:txBody>
      </p:sp>
      <p:sp>
        <p:nvSpPr>
          <p:cNvPr id="36" name="Text 34"/>
          <p:cNvSpPr txBox="1"/>
          <p:nvPr/>
        </p:nvSpPr>
        <p:spPr>
          <a:xfrm>
            <a:off x="4526280" y="527608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계측·회로 제어 HW로 §14a·G100·100A 패널 한도를 1초 안에 지키며 HP·EV·ESS 동시 운전.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046720" y="4069080"/>
            <a:ext cx="3566160" cy="219456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75320" y="4270248"/>
            <a:ext cx="590245" cy="274320"/>
          </a:xfrm>
          <a:prstGeom prst="roundRect">
            <a:avLst>
              <a:gd name="adj" fmla="val 50000"/>
            </a:avLst>
          </a:prstGeom>
          <a:solidFill>
            <a:srgbClr val="F7ECD2"/>
          </a:solidFill>
          <a:ln w="9525">
            <a:solidFill>
              <a:srgbClr val="F7ECD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75320" y="4270248"/>
            <a:ext cx="5902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957005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신기술 아님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75320" y="46634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연장선 기술은 Enabler로</a:t>
            </a:r>
            <a:endParaRPr lang="en-US" sz="1550" dirty="0"/>
          </a:p>
        </p:txBody>
      </p:sp>
      <p:sp>
        <p:nvSpPr>
          <p:cNvPr id="42" name="Text 40"/>
          <p:cNvSpPr txBox="1"/>
          <p:nvPr/>
        </p:nvSpPr>
        <p:spPr>
          <a:xfrm>
            <a:off x="8275320" y="527608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정확도 향상, 대시보드, Digital Twin, 단독 Energy Autopilot. 기존 예측·최적화·HVAC 제어는 5개의 기반.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만드는가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HEMS·Energy Pack 구조 · Gateway Technology 5개 · 6명 실행계획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HEMS와 Energy Pack의 구조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두뇌와 몸을 나눠서 본다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2377440" cy="1078992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971800" y="1417320"/>
            <a:ext cx="866851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신기술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SW·AI · 모든 집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54680" y="1600200"/>
            <a:ext cx="2641016" cy="310896"/>
          </a:xfrm>
          <a:prstGeom prst="rect">
            <a:avLst/>
          </a:prstGeom>
          <a:solidFill>
            <a:srgbClr val="F6EADF"/>
          </a:solidFill>
          <a:ln w="9525">
            <a:solidFill>
              <a:srgbClr val="B864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54680" y="1600200"/>
            <a:ext cx="264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GT-1 Zero-Touch Commissioning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05424" y="1600200"/>
            <a:ext cx="1661693" cy="310896"/>
          </a:xfrm>
          <a:prstGeom prst="rect">
            <a:avLst/>
          </a:prstGeom>
          <a:solidFill>
            <a:srgbClr val="F6EADF"/>
          </a:solidFill>
          <a:ln w="9525">
            <a:solidFill>
              <a:srgbClr val="B864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05424" y="1600200"/>
            <a:ext cx="16616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GT-2 Thermal Flex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676845" y="1600200"/>
            <a:ext cx="2472995" cy="310896"/>
          </a:xfrm>
          <a:prstGeom prst="rect">
            <a:avLst/>
          </a:prstGeom>
          <a:solidFill>
            <a:srgbClr val="F6EADF"/>
          </a:solidFill>
          <a:ln w="9525">
            <a:solidFill>
              <a:srgbClr val="B8641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76845" y="1600200"/>
            <a:ext cx="24729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GT-3 가전 내장 HEMS·가전 VPP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154680" y="2002536"/>
            <a:ext cx="2645816" cy="310896"/>
          </a:xfrm>
          <a:prstGeom prst="rect">
            <a:avLst/>
          </a:prstGeom>
          <a:solidFill>
            <a:srgbClr val="F6EADF"/>
          </a:solidFill>
          <a:ln w="9525">
            <a:solidFill>
              <a:srgbClr val="B8641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54680" y="2002536"/>
            <a:ext cx="2645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GT-4 검증 절감·요금제·권한 중재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10224" y="2002536"/>
            <a:ext cx="1656893" cy="310896"/>
          </a:xfrm>
          <a:prstGeom prst="rect">
            <a:avLst/>
          </a:prstGeom>
          <a:solidFill>
            <a:srgbClr val="F2F4F7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10224" y="2002536"/>
            <a:ext cx="16568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T6 정전 대응(지역)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2633472"/>
            <a:ext cx="2377440" cy="1078992"/>
          </a:xfrm>
          <a:prstGeom prst="rect">
            <a:avLst/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971800" y="2633472"/>
            <a:ext cx="866851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2816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Pack 신기술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2278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 · Energy Pack 집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154680" y="2816352"/>
            <a:ext cx="2559406" cy="310896"/>
          </a:xfrm>
          <a:prstGeom prst="rect">
            <a:avLst/>
          </a:prstGeom>
          <a:solidFill>
            <a:srgbClr val="F6EADF"/>
          </a:solidFill>
          <a:ln w="9525">
            <a:solidFill>
              <a:srgbClr val="B8641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54680" y="2816352"/>
            <a:ext cx="25594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GT-5 Grid-Envelope Power Hub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823814" y="2816352"/>
            <a:ext cx="1824914" cy="310896"/>
          </a:xfrm>
          <a:prstGeom prst="rect">
            <a:avLst/>
          </a:prstGeom>
          <a:solidFill>
            <a:srgbClr val="F2F4F7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823814" y="2816352"/>
            <a:ext cx="18249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Pack Gateway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758455" y="2816352"/>
            <a:ext cx="1536878" cy="310896"/>
          </a:xfrm>
          <a:prstGeom prst="rect">
            <a:avLst/>
          </a:prstGeom>
          <a:solidFill>
            <a:srgbClr val="F2F4F7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58455" y="2816352"/>
            <a:ext cx="15368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T13 일체형 HP/AC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405061" y="2816352"/>
            <a:ext cx="845591" cy="310896"/>
          </a:xfrm>
          <a:prstGeom prst="rect">
            <a:avLst/>
          </a:prstGeom>
          <a:solidFill>
            <a:srgbClr val="F2F4F7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405061" y="2816352"/>
            <a:ext cx="8455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T10 V2H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154680" y="3218688"/>
            <a:ext cx="1944929" cy="310896"/>
          </a:xfrm>
          <a:prstGeom prst="rect">
            <a:avLst/>
          </a:prstGeom>
          <a:solidFill>
            <a:srgbClr val="F2F4F7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154680" y="3218688"/>
            <a:ext cx="19449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 임차인 Micro Pack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48640" y="3849624"/>
            <a:ext cx="2377440" cy="1078992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971800" y="3849624"/>
            <a:ext cx="866851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31520" y="403250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적응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731520" y="44439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8–9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3154680" y="4032504"/>
            <a:ext cx="3649142" cy="310896"/>
          </a:xfrm>
          <a:prstGeom prst="rect">
            <a:avLst/>
          </a:prstGeom>
          <a:solidFill>
            <a:srgbClr val="F2F4F7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154680" y="4032504"/>
            <a:ext cx="36491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요금·규제 적응(전력요금 문서 Agent → 규칙팩)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913550" y="4032504"/>
            <a:ext cx="3831565" cy="310896"/>
          </a:xfrm>
          <a:prstGeom prst="rect">
            <a:avLst/>
          </a:prstGeom>
          <a:solidFill>
            <a:srgbClr val="F2F4F7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913550" y="4032504"/>
            <a:ext cx="38315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기기·프로토콜 연동(EEBus·SunSpec·OCPP·Matter)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548640" y="5065776"/>
            <a:ext cx="2377440" cy="1078992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971800" y="5065776"/>
            <a:ext cx="8668512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31520" y="52486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 기술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731520" y="56601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1–7 · Enabler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3154680" y="5248656"/>
            <a:ext cx="1196035" cy="310896"/>
          </a:xfrm>
          <a:prstGeom prst="rect">
            <a:avLst/>
          </a:prstGeom>
          <a:solidFill>
            <a:srgbClr val="F2F4F7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154680" y="5248656"/>
            <a:ext cx="11960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 발전 예측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460443" y="5248656"/>
            <a:ext cx="951205" cy="310896"/>
          </a:xfrm>
          <a:prstGeom prst="rect">
            <a:avLst/>
          </a:prstGeom>
          <a:solidFill>
            <a:srgbClr val="F2F4F7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460443" y="5248656"/>
            <a:ext cx="9512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 예측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5521376" y="5248656"/>
            <a:ext cx="1277645" cy="310896"/>
          </a:xfrm>
          <a:prstGeom prst="rect">
            <a:avLst/>
          </a:prstGeom>
          <a:solidFill>
            <a:srgbClr val="F2F4F7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521376" y="5248656"/>
            <a:ext cx="12776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ESS 최적 제어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908749" y="5248656"/>
            <a:ext cx="1359256" cy="310896"/>
          </a:xfrm>
          <a:prstGeom prst="rect">
            <a:avLst/>
          </a:prstGeom>
          <a:solidFill>
            <a:srgbClr val="F2F4F7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908749" y="5248656"/>
            <a:ext cx="1359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HVAC·가전 제어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8377733" y="5248656"/>
            <a:ext cx="1047217" cy="310896"/>
          </a:xfrm>
          <a:prstGeom prst="rect">
            <a:avLst/>
          </a:prstGeom>
          <a:solidFill>
            <a:srgbClr val="F2F4F7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377733" y="5248656"/>
            <a:ext cx="10472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TOU 최적화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9534677" y="5248656"/>
            <a:ext cx="1248842" cy="310896"/>
          </a:xfrm>
          <a:prstGeom prst="rect">
            <a:avLst/>
          </a:prstGeom>
          <a:solidFill>
            <a:srgbClr val="F2F4F7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9534677" y="5248656"/>
            <a:ext cx="1248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재실·스케줄링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3154680" y="5650992"/>
            <a:ext cx="1628089" cy="310896"/>
          </a:xfrm>
          <a:prstGeom prst="rect">
            <a:avLst/>
          </a:prstGeom>
          <a:solidFill>
            <a:srgbClr val="F2F4F7"/>
          </a:solidFill>
          <a:ln w="9525">
            <a:solidFill>
              <a:srgbClr val="D3DAE1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3154680" y="5650992"/>
            <a:ext cx="16280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절감 알고리즘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HEMS와 Energy Pack의 구조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고객 진입 경로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Pack이 늦게 팔려도 경로 B·C로 HEMS 고객과 데이터가 쌓인다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331720"/>
                <a:gridCol w="1737360"/>
                <a:gridCol w="1600200"/>
                <a:gridCol w="2240280"/>
                <a:gridCol w="1856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 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HEMS가 동작하는 곳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기술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가치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수익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· Energy Pack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PV·ESS·HP·AC를 Energy Pack으로 설치한 단독주택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 Pack Gateway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GT-1·2·4·5 전부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 절감 + 계통 참여 수익 + 증설 회피 + 백업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 Pack 판매, 성과형 서비스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· 가전만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 에어컨·HP·세탁기·건조기·온수기만 있는 집(임차·공동주택 포함)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가전 제어기 내장 HEMS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GT-3 + GT-2 + GT-4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장비 없이 요금 절감·DR 보상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가전 프리미엄, 가전 VPP 수익 배분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· 타사 혼합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타사 PV·ESS·충전기 + 자사 HP·AC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 Pack Gateway(단독 판매)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GT-1 + GT-2 + GT-4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기기를 버리지 않고 통합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게이트웨이·설치 라이선스, 이후 Energy Pack 전환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572000"/>
            <a:ext cx="5422392" cy="173736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4663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HEMS를 Energy Pack과 분리하나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50017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Pack은 설치가 크고 판매 주기가 김. HEMS가 묶이면 판매량만큼만 큼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가전은 이미 많은 집에 있음. 경로 B로 먼저 쌓고 경로 A로 전환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경쟁사도 이 방향: Samsung Flex Connect(가전·TV DR), Nest Rush Hour Rewards 130만 가구·연 $40M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53912" y="4572000"/>
            <a:ext cx="5422392" cy="173736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28232" y="4663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표준이 가전 HEMS를 밀어준다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6428232" y="500176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Matter 1.4: 가전이 소비 예측 보고, 시작 지연·일시정지·출력 조절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Matter 1.5(2025.11): 요금·탄소 정보를 기기에 직접 전달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스마트가전 상호운용 규약: Daikin·Mitsubishi·Panasonic 서명, 2026.3 EMS·배터리·충전기로 확대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무엇을 만드나 · GT-1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Zero-Touch Commissioning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설치를 사람의 숙련에서 기계의 검증으로 바꾼다. 경로 A·C.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2971800" cy="461772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810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3957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연결 · T1 + T2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310128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10기종 지원(자사 HP·AC + 타사 인버터3·ESS3·충전기2)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설정·검증 시간 50%↓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설정 성공 95%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배선 오류 검출 90%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5212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4864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상반기 시제품 · 2027 하반기 독일·영국 현장 100호 · 2028 제품 탑재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1938528"/>
            <a:ext cx="7891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자동 탐색 엔진(EEBus·SunSpec Modbus·OCPP·Matter 1.4·SG-Ready) ② 능동 시험(Active Probe) 엔진 ③ 국가 규칙팩(독일 §14a·영국 G100부터, 전력요금 문서 Agent 확장) ④ 준공 리포트 생성기 ⑤ 설치기사 앱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Energy Pack Gateway: 3상 CT 입력, RS485, Ethernet, Wi-Fi/Thread, SG-Ready 릴레이 2개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749040" y="4160520"/>
            <a:ext cx="3867912" cy="2103120"/>
          </a:xfrm>
          <a:prstGeom prst="rect">
            <a:avLst/>
          </a:prstGeom>
          <a:solidFill>
            <a:srgbClr val="F5E1E1"/>
          </a:solidFill>
          <a:ln w="9525">
            <a:solidFill>
              <a:srgbClr val="F5E1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0" y="4160520"/>
            <a:ext cx="3867912" cy="2103120"/>
          </a:xfrm>
          <a:prstGeom prst="rect">
            <a:avLst/>
          </a:prstGeom>
          <a:solidFill>
            <a:srgbClr val="E1EFE7"/>
          </a:solidFill>
          <a:ln w="9525">
            <a:solidFill>
              <a:srgbClr val="E1EFE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3192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95528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GT-1 이후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4590288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기사가 인버터·ESS·HP·충전기를 하나씩 등록하고 레지스터·CT 방향·요금·한도를 수작업 설정. 틀리면 몇 주 뒤 성능 저하로 발견되고 재방문.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4590288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 전원 → 기기 자동 발견 → ESS 1kW·HP ±1K·EV 6↔10A 시험 신호 5분 → 앱에 “CT L2 방향 반대” 같은 오류 표시 → 수정 후 준공 PDF 자동 발급.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무엇을 만드나 · GT-2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Comfort-Bounded Thermal Flex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HP·AC로 집에 열을 저장해 배터리 역할을 대신한다. 경로 A·B·C.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2971800" cy="461772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810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GT-2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3957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제어 · T3 + T16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310128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재실 중 쾌적 범위 유지 95%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 시간 전력 20%↓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개입(override) 5% 미만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배터리 없이 PV 자가소비 +10%p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5212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4864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상반기 자사 HP 초기 엔진 · 2027 하반기 난방 시즌 실증 · 2028 AC(중동)·온수기 확장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1938528"/>
            <a:ext cx="7891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엔진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집별 열 응답(단열·크기) + 가족의 쾌적 범위 학습 → “향후 N시간 동안 ±X kW 조절 가능, 신뢰도 Y%” 계산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범위 안에서만 예열·예냉·급탕 축열, 쾌적 이탈 조짐 시 즉시 복귀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 학습(T16)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사용자가 설정을 바꾸면 그것을 선호 신호로 학습해 다음부터 반영, “왜 지금 이렇게 돌리는지” 한 줄 설명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자사 HP·AC 내부 상태(압축기 주파수·제상·출수온도), 실내 온습도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749040" y="4160520"/>
            <a:ext cx="3867912" cy="2103120"/>
          </a:xfrm>
          <a:prstGeom prst="rect">
            <a:avLst/>
          </a:prstGeom>
          <a:solidFill>
            <a:srgbClr val="F5E1E1"/>
          </a:solidFill>
          <a:ln w="9525">
            <a:solidFill>
              <a:srgbClr val="F5E1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0" y="4160520"/>
            <a:ext cx="3867912" cy="2103120"/>
          </a:xfrm>
          <a:prstGeom prst="rect">
            <a:avLst/>
          </a:prstGeom>
          <a:solidFill>
            <a:srgbClr val="E1EFE7"/>
          </a:solidFill>
          <a:ln w="9525">
            <a:solidFill>
              <a:srgbClr val="E1EFE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3192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95528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GT-2 이후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4590288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HEMS가 HP를 켜고 끄는 수준. 얼마나 줄여도 되는지 몰라 보수적으로 제어하거나, 불편해진 사용자가 제어를 끔(여름 DR에서 12.9%).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4590288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독일 겨울: 전기가 싼 03–06시에 21→22.5℃로 미리 데우고(열 저장), 비싼 17–20시에는 압축기 출력 60%↓. 실내는 21℃ 유지. 두바이 여름: PV가 많은 13시에 미리 식히고, 피크 시간엔 빈 방부터 출력을 줄인다.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무엇을 만드나 · GT-3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Appliance-Embedded HEMS &amp; Fleet Flex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 없이 가전 안에서 도는 HEMS, 그리고 그 가전들을 묶은 가전 VPP. 경로 B.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2971800" cy="461772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810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GT-3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3957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확산 · T15 + T14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310128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제품군 탑재(AC·HP·온수기·세탁기·건조기)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HW 없이 동작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1,000대 시범에서 이벤트 감축량 예측 오차 ±10%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유지율 80%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5212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4864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상반기 AC 제어기 PoC · 2027 하반기 가전 1,000대 시범(영국·미국 DR 프로그램) · 2028 제품군 확대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1938528"/>
            <a:ext cx="7891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 HEMS(T15)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에어컨·HP 제어기 펌웨어에 경량 HEMS 탑재. 집 안 대표 가전(보통 HP 또는 AC)이 “코디네이터”가 되어 Matter 1.4 DEM·EEBus로 세탁기·건조기·식기세척기·온수기의 시작 시간과 출력을 조정. 요금은 Matter 1.5 Tariff 또는 클라우드로 수신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VPP(T14)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 가전 수만~수백만 대의 “지금 미룰 수 있는 부하”를 모아 이벤트별 감축량을 예측하고 소매사·Utility DR 프로그램에 입찰, 보상을 사용자와 나눔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749040" y="4160520"/>
            <a:ext cx="3867912" cy="2103120"/>
          </a:xfrm>
          <a:prstGeom prst="rect">
            <a:avLst/>
          </a:prstGeom>
          <a:solidFill>
            <a:srgbClr val="F5E1E1"/>
          </a:solidFill>
          <a:ln w="9525">
            <a:solidFill>
              <a:srgbClr val="F5E1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0" y="4160520"/>
            <a:ext cx="3867912" cy="2103120"/>
          </a:xfrm>
          <a:prstGeom prst="rect">
            <a:avLst/>
          </a:prstGeom>
          <a:solidFill>
            <a:srgbClr val="E1EFE7"/>
          </a:solidFill>
          <a:ln w="9525">
            <a:solidFill>
              <a:srgbClr val="E1EFE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3192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95528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GT-3 이후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4590288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앱은 가전마다 따로 있고, 에너지 기능은 “절전 모드” 수준. HEMS를 쓰려면 별도 허브·게이트웨이를 사야 해서 임차인·공동주택은 사실상 제외.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4590288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에어컨을 설치하고 앱에서 “요금 절감” 한 번만 켜면, 에어컨이 집의 세탁기·건조기를 싼 시간으로 미루고 여름 피크 이벤트에 참여해 보상을 받는다. 추가 장비 0원, 설치 0분.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무엇을 만드나 · GT-4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Verified Value &amp; Control Arbitration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절감을 “주장”에서 “정산 가능한 숫자”로. 경로 A·B·C.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2971800" cy="461772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810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GT-4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3957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가치 · T8 + T7 + T17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310128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오차 ±5%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추천 연간 비용 오차 ±5%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리포트 자동 발행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1곳 성과형 요금 시범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5212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4864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상반기 기준선 엔진 · 2027 하반기 요금제 선택·DSO·소매사 1곳과 권한 원장 공동 설계 · 2028 성과형 요금 시범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1938528"/>
            <a:ext cx="7891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엔진(T8)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날씨·재실에서 제어가 없었다면의 사용량·요금 추정, 무작위 짧은 제어 휴지 구간으로 스스로 검증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선택(T17)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검증 데이터로 “이 집은 동적요금이 연 €X 유리”를 계산해 요금제 추천·전환, 전환 후 실제 결과로 재검증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원장(T7)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DSO 명령 &gt; 안전·쾌적 &gt; 약정 VPP &gt; 요금 최적화 순으로 중재, 결정 기록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월간 검증 절감 리포트, 성과형 과금 정산 데이터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749040" y="4160520"/>
            <a:ext cx="3867912" cy="2103120"/>
          </a:xfrm>
          <a:prstGeom prst="rect">
            <a:avLst/>
          </a:prstGeom>
          <a:solidFill>
            <a:srgbClr val="F5E1E1"/>
          </a:solidFill>
          <a:ln w="9525">
            <a:solidFill>
              <a:srgbClr val="F5E1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0" y="4160520"/>
            <a:ext cx="3867912" cy="2103120"/>
          </a:xfrm>
          <a:prstGeom prst="rect">
            <a:avLst/>
          </a:prstGeom>
          <a:solidFill>
            <a:srgbClr val="E1EFE7"/>
          </a:solidFill>
          <a:ln w="9525">
            <a:solidFill>
              <a:srgbClr val="E1EFE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3192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95528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GT-4 이후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4590288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“예상 절감”만 표시. 사용자는 믿지 않고(영국 TOU 전환 의향 17%), 어떤 요금제가 유리한지 모르며, 신호가 겹치면 한 프로그램만 참여.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4590288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“이번 달 제어가 없었다면 £126, 실제 £89, 검증 절감 £37(오차 ±5%). 동적요금으로 바꾸면 연 £140 추가 절감 예상”. 이 숫자로 “효과 없으면 무료” 요금제를 운영.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무엇을 만드나 · GT-5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Grid-Envelope Power Hub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집의 전기 용량 안에서 전기화를 끝낸다. 경로 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2971800" cy="4617720"/>
          </a:xfrm>
          <a:prstGeom prst="rect">
            <a:avLst/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810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GT-5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3957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Pack HW · T4 + T5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310128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 0건(1초 이내 대응)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증설 없이 HP+EV+ESS 동시 운전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§14a Modul 1–3 대응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5212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4864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하반기 EU 3상 설계안 · 2028 시제품, 미국 PCS(UL 3141) 버전은 파트너와 검토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것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1938528"/>
            <a:ext cx="78912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게이트웨이 확장 모듈: 연계점 계량기급 측정, 회로 단위 릴레이·접촉기 제어, 인증 전력기기 인터페이스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Grid-Envelope Controller: DSO 동적 한도(§14a·G100·DOE)를 받아 1초 안에 EV·HP·ESS 전력 재배분, 준법 로그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749040" y="4160520"/>
            <a:ext cx="3867912" cy="2103120"/>
          </a:xfrm>
          <a:prstGeom prst="rect">
            <a:avLst/>
          </a:prstGeom>
          <a:solidFill>
            <a:srgbClr val="F5E1E1"/>
          </a:solidFill>
          <a:ln w="9525">
            <a:solidFill>
              <a:srgbClr val="F5E1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0" y="4160520"/>
            <a:ext cx="3867912" cy="2103120"/>
          </a:xfrm>
          <a:prstGeom prst="rect">
            <a:avLst/>
          </a:prstGeom>
          <a:solidFill>
            <a:srgbClr val="E1EFE7"/>
          </a:solidFill>
          <a:ln w="9525">
            <a:solidFill>
              <a:srgbClr val="E1EFE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3192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95528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GT-5 이후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4590288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HP와 EV 충전기를 추가하려면 패널·인입 증설(미국 100→200A 수천~1만 달러+). 독일은 §14a 스로틀 시 기기가 제각각 꺼짐.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4590288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한도가 11kW → 4.2kW로 내려오면 EV를 먼저 늦추고, HP는 압축기 주파수만 낮추고, ESS가 모자란 만큼 방전. 한도는 지키고 쾌적은 유지.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무엇을 만드나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입장에서 본 한 달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HEMS가 Energy Pack 집과 가전만 있는 집에서 어떻게 보이는가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25400">
            <a:solidFill>
              <a:srgbClr val="D3DA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11680"/>
            <a:ext cx="274320" cy="274320"/>
          </a:xfrm>
          <a:prstGeom prst="ellipse">
            <a:avLst/>
          </a:prstGeom>
          <a:solidFill>
            <a:srgbClr val="B864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첫날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190320" cy="292608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71800"/>
            <a:ext cx="119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GT-1 · GT-3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7472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Pack 집은 기사가 앱으로 확인만 한다. 가전만 있는 집은 앱에서 “요금 절감”을 켜면 끝.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47872" y="2011680"/>
            <a:ext cx="274320" cy="274320"/>
          </a:xfrm>
          <a:prstGeom prst="ellipse">
            <a:avLst/>
          </a:prstGeom>
          <a:solidFill>
            <a:srgbClr val="B864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64992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64992" y="2971800"/>
            <a:ext cx="1190320" cy="292608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64992" y="2971800"/>
            <a:ext cx="119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GT-2 · GT-3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364992" y="347472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싼 시간에 미리 데우고, 세탁·건조는 싼 시간으로 밀린다. 집은 계속 따뜻하다.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64224" y="2011680"/>
            <a:ext cx="274320" cy="274320"/>
          </a:xfrm>
          <a:prstGeom prst="ellipse">
            <a:avLst/>
          </a:prstGeom>
          <a:solidFill>
            <a:srgbClr val="B864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81344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 이벤트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81344" y="2971800"/>
            <a:ext cx="1761592" cy="292608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81344" y="2971800"/>
            <a:ext cx="1761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GT-3 · GT-4 · GT-5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181344" y="347472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VPP가 부하를 줄이고, 한도가 내려오면 EV부터 늦춘다. 누구 명령이 먼저인지 원장이 정한다.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80576" y="2011680"/>
            <a:ext cx="274320" cy="274320"/>
          </a:xfrm>
          <a:prstGeom prst="ellipse">
            <a:avLst/>
          </a:prstGeom>
          <a:solidFill>
            <a:srgbClr val="B864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97696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월말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997696" y="2971800"/>
            <a:ext cx="619049" cy="292608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97696" y="2971800"/>
            <a:ext cx="6190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997696" y="347472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“제어가 없었다면 대비 £37 절감”과 더 유리한 요금제 추천을 받는다.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6명 실행계획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만드나 (PL 1 + 팀원 5)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737360"/>
                <a:gridCol w="3840480"/>
                <a:gridCol w="1600200"/>
                <a:gridCol w="1600200"/>
                <a:gridCol w="1444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 상반기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 하반기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범위·KPI, 자사 HP·AC·가전 API와 펌웨어 접근, 독일·영국 실증 파트너, 영국·미국 DR 프로그램 파트너, CTO·사업부 보고, 특허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파트너 계약, 12주 판단 보고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실증 결과 보고, 특허 출원 5건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제품화 이관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팀원 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SW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GT-1 · GT-3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게이트웨이 SW 스택, EEBus·Modbus·OCPP·Matter 드라이버, 기기 공통 표현(Capability 모델), 설치 앱, 가전 간 Matter DEM 연동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10기종 자동 발견, 가전 연동 PoC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100호 운영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기종 확대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팀원 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커미셔닝 AI·규칙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GT-1 · GT-4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능동 시험 신호 설계, 배선·상·CT 방향 식별 AI, 준공 리포트, 전력요금 문서 Agent를 검증형 규칙팩으로 확장, 요금제 선택 로직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 Probe 엔진, DE·UK 규칙팩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검출 90% 검증, 요금제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FR·NL·US 규칙팩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팀원 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Thermal Flex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 HP·AC 운전 제약 모델, 열 응답·쾌적 학습, flex 용량 계산, 예열·예냉 제어, override 기반 선호 학습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HP 초기 엔진, 10호 탐색 실증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난방 시즌 실증(쾌적 95%·피크 20%↓)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AC(중동)·온수기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팀원 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임베디드·HW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GT-5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게이트웨이 HW·계측 보드, 가전 제어기 내장 HEMS 펌웨어, Power Hub 회로 제어, Grid-Envelope Controller, 인증사 연계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게이트웨이 시제품, AC 제어기 내장 PoC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3상 Power Hub 설계안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Power Hub 시제품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팀원 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가치·실증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GT-4 · GT-3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반사실 기준선 엔진, 권한 원장, 가전 VPP 감축량 예측·집계, 실증 설계(대조군·로그), 월간 검증 리포트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 엔진, 실증 프로토콜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가전 1,000대 시범, 기준선 ±5% 검증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성과형 요금 시범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6명 실행계획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분기별 일정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과제(파랑)는 2027년에 성과를 내고, Energy Pack HW(구리색)는 2027 하반기 설계부터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044952"/>
                <a:gridCol w="1143000"/>
                <a:gridCol w="1143000"/>
                <a:gridCol w="1188720"/>
                <a:gridCol w="1143000"/>
                <a:gridCol w="1143000"/>
                <a:gridCol w="1143000"/>
                <a:gridCol w="1143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 Q4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 Q1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 Q2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 Q3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 Q4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 H1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 H2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GT-1 게이트웨이 SW·앱·Active Probe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10기종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규칙팩 확대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3DA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GT-2 Thermal Flex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탐색 실증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3DAE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난방 실증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냉방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냉방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GT-3 가전 내장 HEMS·가전 VPP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 탑재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1,000대 시범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1,000대 시범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제품군 확대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GT-4 기준선·요금제·원장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탐색 실증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공동 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GT-5 Power Hub (Energy Pack)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GW 시제품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3상 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3상 설계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시제품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6명 실행계획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 실증, 판단 기준, 하지 않는 것, 특허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22392" cy="233172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5819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 탐색 실증 (2027 상반기)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8424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1–3주: 독일·영국 고객 10명, 설치기사 5명 인터뷰, 기기 접근 확인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4–6주: 지원 10기종 설치 시험, 기존 HEMS와 설정 시간 비교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7–10주: 독일·영국 각 10호 실증(GT-2·4), 자사 AC 내장 HEMS 시험(GT-3)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11–12주: 계속/축소 판단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53912" y="1417320"/>
            <a:ext cx="5422392" cy="2331720"/>
          </a:xfrm>
          <a:prstGeom prst="rect">
            <a:avLst/>
          </a:prstGeom>
          <a:solidFill>
            <a:srgbClr val="E1EFE7"/>
          </a:solidFill>
          <a:ln w="9525">
            <a:solidFill>
              <a:srgbClr val="E1EF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15819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D6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계속/축소 판단 기준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198424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설정·검증 시간 50% 단축 가능성 (GT-1)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쾌적 유지 95% + 피크 전력 20%↓ (GT-2)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HW 없이 가전 2종 이상 협조 제어 (GT-3)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실증 또는 구매 조건을 제시한 파트너 1곳 이상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04488"/>
            <a:ext cx="5422392" cy="233172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6명이 하지 않는 것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471416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배터리 셀·인버터 전체 개발(인증 파트너 HW 사용)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국가별 영업·설치 운영(사업부·현지 파트너)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PCS·V2H·중동 B2G는 2028년 파트너와 확장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53912" y="3904488"/>
            <a:ext cx="5422392" cy="2331720"/>
          </a:xfrm>
          <a:prstGeom prst="rect">
            <a:avLst/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8232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 출원 후보 (2027)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4471416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직교 시험 신호로 다기기 배선·상 동시 식별 (GT-1)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쾌적 이탈 확률 제약 flex 용량 계산 (GT-2)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제어기가 코디네이터가 되는 게이트웨이 없는 HEMS (GT-3)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 휴지 구간 기반 실시간 인과 절감 정산 (GT-4)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열부하·EV 여유 공통 단위 환산 배분 (GT-5)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신기술 후보 17개 평가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평가표 (1/3)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= SW·AI 기술 · EP = Energy Pack HW 기술 · 굵은 GT 표시는 Gateway Technology 구성 기술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097280"/>
                <a:gridCol w="868680"/>
                <a:gridCol w="1874520"/>
                <a:gridCol w="960120"/>
                <a:gridCol w="1005840"/>
                <a:gridCol w="1097280"/>
                <a:gridCol w="1051560"/>
                <a:gridCol w="64008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신기술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 Pain Point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Target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기술과 차이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HW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기술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경쟁사 현황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차별화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 Active-Probe Auto-Commissioning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  ·  GT-1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인력·시간·오류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 UK US NL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선택이 아니라 시험 신호로 실제 배선·응답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식별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멀티프로토콜 GW + CT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능동 식별, 자동 준공 시험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 생태계 내만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T2 Regulation-as-Code Compiler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  ·  GT-1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요금·규제 변경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국가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규칙을 검증 가능한 제약으로 컴파일·버전 관리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문서→규칙 추출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검증, 정책팩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수작업 지역화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 Comfort-Bounded Thermal Flex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  ·  GT-2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냉난방 flex 미활용, override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 UK NL FR TX SA AE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가정별 쾌적 한계·flex 용량 보증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응답·쾌적 학습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온습도 센서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확률적 envelope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Octopus·Nest 일부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T4 Grid-Envelope Controller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  ·  GT-5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§14a·G100·계약용량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 UK NL IT US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연계점 한도 보장 실시간 배분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손실 최소 배분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계량기급 측정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&lt;1초 루프, 준법 로그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기기별 스로틀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매우 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T5 Virtual Service Upgrade Hub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  ·  GT-5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패널 증설 비용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 IT UK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retrofit 허브, 제조사 중립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선제 차단 계획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핵심(PCS)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UL 3141 PCS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SPAN·Schneider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T6 Resilience Autopilot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정전 생존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TX CA ES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부하 단위 생존시간 극대화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정전 위험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회로 차단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목적함수 자동 전환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Tesla Storm Watch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신기술 후보 17개 평가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평가표 (2/3)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= SW·AI 기술 · EP = Energy Pack HW 기술 · 굵은 GT 표시는 Gateway Technology 구성 기술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097280"/>
                <a:gridCol w="868680"/>
                <a:gridCol w="1874520"/>
                <a:gridCol w="960120"/>
                <a:gridCol w="1005840"/>
                <a:gridCol w="1097280"/>
                <a:gridCol w="1051560"/>
                <a:gridCol w="64008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신기술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 Pain Point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Target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기술과 차이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HW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기술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경쟁사 현황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차별화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T7 Control-Rights Arbiter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  ·  GT-4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다자간 제어 충돌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 UK DE TX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우선순위 기반 다중 참여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기회비용 배분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실행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원장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T8 Verified Savings &amp; Settlement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  ·  GT-4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ROI 불확실, 구독 저항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국가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반사실 기준선 검증 절감·성과형 과금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인과추론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M&amp;V, 정산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대부분 추정치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T9 Legacy Appliance Enablement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비연결 AC·온수기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 SA QA FR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NILM + retrofit 액추에이터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부하 분리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IR·릴레이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폐루프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스마트플러그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T10 Mobility-Aware V2H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EV를 가정 배터리로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 US UK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ISO 15118-20 중립 + 이동 보증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출발 예측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 양방향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 버스 공유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Sigenergy, GM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2028+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T11 Remote Performance Assurance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후 성능 저하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UK DE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원격 자동 교정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 진단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GW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재튜닝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제조사 일부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T12 Renter Micro Pack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임차인 배제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UK DE NL FR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공사 없는 800VA PV + 소형 ESS + 가전 연동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가전 협조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플러그인 ESS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역송 방지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EcoFlow, Anker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신기술 후보 17개 평가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평가표 (3/3)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= SW·AI 기술 · EP = Energy Pack HW 기술 · 굵은 GT 표시는 Gateway Technology 구성 기술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097280"/>
                <a:gridCol w="868680"/>
                <a:gridCol w="1874520"/>
                <a:gridCol w="960120"/>
                <a:gridCol w="1005840"/>
                <a:gridCol w="1097280"/>
                <a:gridCol w="1051560"/>
                <a:gridCol w="64008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신기술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 Pain Point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Target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기술과 차이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HW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기술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경쟁사 현황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차별화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T13 Permit-Light Plug-in HP/AC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에어컨 설치 규제·폭염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 IT ES DE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실외기 허가 없는 일체형 HP/AC + Energy Pack 연동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소음 제약 쾌적 제어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핵심(일체형 HP)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일체형 인버터 HP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Midea H-Pack, Gradient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높음(남유럽)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T14 Appliance Fleet Flex (가전 VPP)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  ·  GT-3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 Pack 없는 집은 계통 참여 불가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 UK DE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온도조절기 단품 DR이 아니라 AC·HP·세탁·건조·온수를 묶은 감축량 예측·입찰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이벤트별 감축량 예측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불필요(가전 연결)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집계·입찰·보상 배분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Samsung Flex Connect, Nest RHR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T15 Appliance-Embedded HEMS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  ·  GT-3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허브·게이트웨이 구매·설치 장벽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국가(임차·공동주택)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장비 없이 가전 제어기 안에서 HEMS 동작, 가전이 코디네이터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경량 온디바이스 최적화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가전 제어기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Matter DEM·EEBus 코디네이션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사례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T16 Override-Learning Delegation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  ·  GT-2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제어를 끄는 문제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국가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override를 실패가 아니라 선호 학습 신호로 사용, 결정 이유 설명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선호 학습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개입률 최소화 학습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설정·수동 조정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T17 Tariff Auto-Select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  ·  GT-4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요금제가 유리한지 모름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UK DE FR US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비교가 아니라 우리 집 실측·제어 능력 기준으로 요금제 추천·재검증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반사실 시뮬레이션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 규칙팩 + 기준선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 비교 사이트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1-B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기술별 상세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17개 신기술 × 10개 질문 · Pain Point에서 특허 아이디어까지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  Active-Probe Auto-Commissioning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506017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06017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인력·시간·오류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 UK US NL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선택이 아니라 시험 신호로 실제 배선·응답 확인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 · 매우 높음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독일 HEMS 통합 2–8k€·프로토콜 혼용 오류, 영국 설치자 약 9,000명, 미국 soft cost 58%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정보를 설치자 입력에 의존. CT 방향 반전·상 오결선·릴레이 극성·제어권 미부여가 운전 후 성능 저하로 드러남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멀티프로토콜 탐색(EEBus, SunSpec, OCPP, Matter 1.4, SG-Ready) + 작은 시험 신호와 계량 응답으로 배선·상·지연·제어 방향 식별 + 국가 규칙 설정 자동 생성 + 준공 시험 보고서 자동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기기 응답이 겹친 계량 신호를 기기별로 분리하는 시스템 식별 문제. 규칙 기반으로는 조합이 폭발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필요. 상별 CT·동기 계측, RS485·Ethernet·Thread, 릴레이 출력을 갖춘 게이트웨이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당일부터 정상 작동, 재방문 감소, 설치비 절감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준법 상태가 증명된 채 등록, §14a·G100 제어가 실제로 동작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Tesla·Enphase·Huawei·Sigenergy는 자사 기기 앱 커미셔닝만. 1KOMMA5 Heartbeat Box는 타사를 연결하지만 능동 검증은 공개되지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 HP·AC 내부 상태 접근 + 현장에서 쌓이는 “기기 모델별 응답 서명” 라이브러리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(a) 기기별 시험 신호를 시간·주파수 직교 설계해 여러 기기의 배선·상을 동시 식별 (b) 식별 결과 + 국가 규칙팩으로 준공 시험 자동 생성·판정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  Regulation-as-Code Compiler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506017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06017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요금·규제 변경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국가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검증 가능한 제약으로 컴파일·버전 관리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· 높음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프랑스 Heures Creuses 개편(1,100만 고객), 독일 §14a·Solarspitzen, 네덜란드 2027 상계 종료, 캘리포니아 DSGS 예산 변동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규칙을 사람이 코드로 옮김 → 반영 지연, 오류는 고객 손해·준법 위반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요금표·망규정·약관을 기계 판독 제약(시간대 단가, 한도, 금지 조건)으로 변환 → 모순·누락 형식 검증 → 서명된 정책팩 배포. 청구서·스마트미터 데이터로 가입 요금 역추정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비정형 문서(PDF 요금표, 다국어 약관)에서 규칙 후보 추출에 LLM이 필요. 기기 제어에는 검증 통과 규칙만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불필요(게이트웨이에서 정책팩 실행)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요금이 바뀌어도 재설정 불필요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요금·프로그램을 수백만 가구에 즉시·정확하게 반영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 API 연동(Tibber, Octopus, gridX)은 흔하나 규제 전반의 검증형 컴파일은 공개 사례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전력요금 문서 Agent + 국가별 검증 규칙 라이브러리·회귀 시험 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요금·계통 규칙을 제약식으로 변환하고 실측 청구 데이터와 대조해 가입 요금을 자동 식별·검증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  Comfort-Bounded Thermal Flex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506017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06017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냉난방 flex 미활용, override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 UK NL FR TX SA AE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가정별 쾌적 한계·flex 용량 보증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 · 매우 높음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독일 HP 29.9만 대(80% 기존주택), 사우디 냉방 피크, DR override 12.9%, 네덜란드 배터리 ROI 약함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HP를 SG-Ready on/off·스케줄로만 다룸. 집마다 얼마나 줄여도 되는지 몰라 보수적으로 제어하거나 고객이 override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가정별 열 응답·쾌적 한계 학습 → “N시간 동안 X kW 증감 가능”을 신뢰구간으로 산출 → 한계 안에서만 예열·예냉·급탕 축열, 이탈 시 즉시 복귀. 중동은 습도(잠열) 포함, 방 단위 제어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열용량·손실과 개인 쾌적 선호를 설치 후 운전 데이터만으로 추정. 쾌적 선호는 물리 모델로 표현 불가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필요. 온습도 센서, HP·AC 내부 상태(압축기 주파수, 제상) 접근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배터리 없이도 PV 자가소비·요금 절감, 불편은 계약 범위 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가정 부하를 신뢰 가능한 flex 자원으로 입찰, 걸프국 냉방 피크 저감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Octopus 자사 설치 HP 요금 운전, Nest 온도조절기 DR, 1KOMMA5 AC 진입. 쾌적 보증형 용량 산출은 공개 사례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HVAC만 제어해 7–12% 절감한 자사 실증 + 제조사만 가진 내부 운전 한계 데이터 + 계절 실증 누적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(a) 쾌적 이탈 확률을 제약으로 한 flex 용량 산출·입찰 (b) 이벤트 중 재실자 수동 조작을 신호로 쾌적 한계 실시간 갱신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  Grid-Envelope Controller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435608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435608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GT-5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§14a·G100·계약용량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 UK NL IT US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연계점 한도 보장 실시간 배분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 · 매우 높음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§14a 스로틀, PV 60% 송출 제한, 영국 G100(5초), 네덜란드 혼잡, 이탈리아 3kW 계약, DOE 확산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기기별 스로틀만 가능해 연계점 합계를 보장하지 못함 → DSO는 보수적 한도, 고객은 증설 요구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연계점 측정 → 동적 한도 수신 → 비용·쾌적 손실 최소 재배분(&lt;1초) → 감사 가능한 준법 로그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한도 축소 시 어떤 부하를 얼마나 줄일지는 T3 쾌적 envelope·EV 출발 시각·ESS 가치에 달림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핵심. 계량기급 측정, 빠른 제어 출력, 인증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증설 없이 HP·EV 추가, 빠른 연계 승인, §14a 할인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flexible connection 확대(EU EMD)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G100 장치(SolarEdge, GivEnergy), §14a HEMS — 대부분 PV·ESS 한도 제어에 머묾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 HP 압축기 연속 가변 제어로 on/off보다 손실 작은 조정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동적 연계 한도 하에서 열부하 쾌적 여유와 EV 이동 여유를 공통 단위로 환산해 배분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T5  Virtual Service Upgrade Hub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T5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435608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435608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GT-5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패널 증설 비용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 IT UK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retrofit 허브, 제조사 중립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· 높음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단독주택 29.5%가 100A 이하. 서비스 증설 수천~1만 달러 이상, 수개월 대기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SW만으로는 전기 규정(NEC) 부하 계산을 대체할 수 없어 인증된 전력제어시스템(PCS)이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패널 교체 없이 붙이는 retrofit 허브·미터칼라에 회로 단위 릴레이·계측 + UL 3141 PCS 로직, ESS·EV·HP 연결 일원화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차단 없이 한도를 지키려면 부하 예측 기반 선제 배분 필요(T4 공유)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전기화 비용 절감(업계 추정 $2.5–5k)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변압기·인입선 증설 이연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SPAN(Eaton 투자), Schneider Pulse, ConnectDER, Tesla Backup Switch — 경쟁 치열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패널 자체보다 Energy Pack 일체형 허브 + 유럽 3상 버전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시 T1 식별 결과로 PCS 한도 설정을 자동 산출·검증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T6  Resilience Autopilot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T6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506017" y="2286000"/>
            <a:ext cx="969493" cy="274320"/>
          </a:xfrm>
          <a:prstGeom prst="roundRect">
            <a:avLst>
              <a:gd name="adj" fmla="val 50000"/>
            </a:avLst>
          </a:prstGeom>
          <a:solidFill>
            <a:srgbClr val="F7ECD2"/>
          </a:solidFill>
          <a:ln w="9525">
            <a:solidFill>
              <a:srgbClr val="F7ECD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06017" y="2286000"/>
            <a:ext cx="9694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모듈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정전 생존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 CA ES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 단위 생존시간 극대화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· 지역 높음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Uri 450만 가구 최장 4일 정전, Beryl 폭염 속 수일 정전, 이베리아 대정전, 캘리포니아 PSPS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“폭풍 예보 시 100% 충전”에서 끝. 정전 중에는 고객이 직접 부하를 끄거나 고정 백업 회로만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정전 위험에 따라 VPP 방전 대비 예비 잔량 조정 → 정전 중 중요부하 우선순위·PV 충전 예상으로 부하 사이클링(냉장고 듀티, AC 간헐) → 생존시간 표시. 평상시 비용 → 계통 이벤트 → 정전 위험 → 정전으로 목적함수 자동 전환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정전 확률·지속시간 추정, 다수 부하 사이클링 최적화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필요. 회로 차단 릴레이(T5), grid-forming 인버터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배터리로 더 오래, 폭염·한파 시 안전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평시 VPP 참여를 늘려도 고객 백업 보장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Tesla Storm Watch, SPAN 회로 차단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 AC·냉장고 저전력 운전 모드와 결합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정전 위험도에 따라 VPP 약정 잔량과 백업 예비량을 확률적으로 배분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  Control-Rights Arbiter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506017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06017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GT-4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다자간 제어 충돌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 UK DE TX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우선순위 기반 다중 참여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 · 높음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북미 VPP 등록 &lt;1/5, 텍사스 소매사·ERCOT 신호 병존, 독일 §14a와 동적요금 동시 수신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제어 주체를 가정. 충돌 시 먼저 온 신호가 이기거나 참여 자체를 막음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권한 원장. 우선순위: DSO 규제 명령 &gt; 안전·쾌적 &gt; 약정 VPP &gt; 요금 최적화. 모든 결정을 감사 로그로 남겨 T8 정산과 연결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동시 요청 사이의 기회비용 비교·배분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실행 필요(클라우드 장애 시에도 DSO 명령 준수)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프로그램 동시 수익, 공급사 변경 시 재설정 불필요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설치된 DER의 VPP 등록 확대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공개된 상용 제품 없음. Kraken·Tesla는 자사가 단일 제어자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DSO·소매사와의 초기 표준 계약(선점 효과)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다수 제어 주체의 명령을 계약 우선순위·기회비용으로 중재하고 정산 가능한 원장에 기록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T8  Verified Savings &amp; Settlement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T8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506017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06017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GT-4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ROI 불확실, 구독 저항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국가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반사실 기준선 검증 절감·성과형 과금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· 높음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영국 TOU 전환 의향 17%, 이유는 절감 보장 없음. 독일 동적요금 역전. 렌탈·구독 저항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대시보드는 예상 절감만. 날씨·재실이 바뀌어 실제 절감을 증명할 수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반사실 기준선 + 무작위 제어 휴지 구간 자체 검증 + 감사 가능 정산 → 절감 보증·성과형 과금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가정별 반사실 추정은 인과추론 문제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계량 데이터(게이트웨이 측정)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“효과가 없으면 돈을 내지 않는다”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DR·VPP 성과 측정 비용 절감, 분쟁 감소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VPP 기준선 방법론은 있으나 가정 단위 통합 절감 검증은 드묾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대조군 데이터 누적, 기존 실증 절감 알고리즘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제어 알고리즘이 짧은 무작위 휴지 구간을 스스로 삽입해 실시간 인과 효과를 추정·정산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T9  Legacy Appliance Enablement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T9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비연결 AC·온수기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 SA QA FR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NILM + retrofit 액추에이터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· 중간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UAE·사우디 빌라의 다수 split AC, 프랑스 전기온수기 타이머, 미국 구형 HVAC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API가 없으면 제어 대상에서 빠짐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분전반 계측 NILM으로 기기 식별 + IR·릴레이 retrofit 액추에이터 + 계측으로 실제 동작을 확인하는 폐루프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부하 분리, IR 코드·능력 추정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저가 액추에이터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교체 없이 냉방비·온수비 절감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설비를 DR 자원으로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Sensibo 등 IR 컨트롤러, 스마트플러그 — 계통 연계 약함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 신형 AC 교체 경로 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IR 명령 전후 전력 서명으로 명령 성공·기기 능력 자동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T10  Mobility-Aware V2H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T10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EV를 가정 배터리로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 US UK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 15118-20 중립 + 이동 보증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· 2028+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독일 2026년부터 V2G 이중 망요금 폐지. EV 배터리는 가정 ESS의 5–8배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V2H가 OEM·충전기 조합별로만 가능. 이동 필요량 보장이 불명확해 고객이 거부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ISO 15118-20 기반 제조사 중립 V2H, ESS DC 버스 공유, 출발 시각·주행 필요량 보증 제약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출발 시각·주행거리 예측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 양방향 모듈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ESS 없이 백업·요금 절감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대용량 flex 자원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Sigenergy DC 25kW 양방향, GM·Ford·Tesla 자사 조합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 차량 보급이 2028년 이후 → 중기 과제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필요량의 확률적 보증을 제약으로 한 V2H 방전 한도 산출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T11  Remote Performance Assurance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T11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후 성능 저하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UK DE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자동 교정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· 중간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품질이 낮은 HP는 SCOP 15–30% 저하(업계), 영국 설치자 부족으로 재방문 비용 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모니터링은 이상 알림까지, 원인 파악·교정은 방문 기사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 데이터로 원인(히트커브, 유량, 과대 용량) 진단 → 안전 범위 내 원격 자동 재튜닝 → 효과 검증(T8)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 원인 분류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게이트웨이로 충분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운전비 절감, 불편 감소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겨울 피크 감소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제조사 원격 진단 서비스 일부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 기기 한정으로 빠르게 구현, 판매 품질 경쟁력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원격 재튜닝 전후 자동 A/B 검증·롤백 절차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  Renter Micro Pack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임차인 배제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UK DE NL FR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공사 없는 800VA PV + 소형 ESS + 가전 연동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· 중간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영국 2026.8.27 800VA 플러그인 PV 합법화·저소득층 £25m 시범. 임차인은 설치공사 불가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HEMS는 자가 단독주택 설치를 전제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플러그인 PV + 소형 ESS + 자사 가전(세탁기·냉장고·AC) 협조 운전으로 역송 없이 자가소비 극대화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분전반 계측 없이 소켓 단위로 가정 전체 부하 추정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필요(플러그인 ESS)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공사 없이 설치, 이사 시 가져감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역송 없는 소규모 분산 자원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EcoFlow, Anker, Zendure — 가격 경쟁 심함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가전 협조 제어만 차별화 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소켓 계측·가전 상태로 계량점 전체 역송 추정·방지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T13  Permit-Light Plug-in HP/AC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T13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에어컨 설치 규제·폭염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 IT ES DE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실외기 허가 없는 일체형 HP/AC + Energy Pack 연동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· 높음(남유럽)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프랑스 2025 여름 폭염 사망 5,700명 이상. 공동주택 에어컨 설치는 관리조합 승인·도시계획 신고로 수개월 지연 → 소음·효율 나쁜 이동식 AC로 버팀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SW가 아니라 설치 허가의 문제. HEMS는 설치된 기기가 있어야 작동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실외기 없이 창·벽에 설치하는 일체형 인버터 HP/AC(냉난방 겸용, 저소음) + Energy Pack·PV 연동으로 한낮 PV 냉방·피크 회피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일체형 구조의 소음·배열 제약 안에서 쾌적을 유지하는 운전(T3 공유)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핵심(기구·압축기·소음)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허가 대기 없이 여름 전 설치, 이동식 대비 효율·소음 개선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 늘어나는 냉방 부하를 처음부터 제어 가능한 자원으로 편입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Midea 창문형 HP·실내형 H-Pack(유럽 2026 하반기), Gradient(미국)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HW 단독으로는 Midea와 경쟁. Energy Pack·flex 제어와 묶을 때 차별화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일체형 HP의 실내 소음 한계를 제약으로 한 PV 연동 예냉 스케줄링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T14  Appliance Fleet Flex (가전 VPP)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T14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506017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06017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GT-3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Pack 없는 집은 계통 참여 불가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 UK DE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온도조절기 단품 DR이 아니라 AC·HP·세탁·건조·온수를 묶은 감축량 예측·입찰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· 높음</a:t>
            </a:r>
            <a:endParaRPr lang="en-US" sz="11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 Pack·ESS가 없는 대다수 가정은 계통 참여 수익을 얻을 길이 없음. 북미 DER 중 VPP 등록 &lt;1/5, 영국 DFS는 참여 확대 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DR은 온도조절기 단품 중심. 세탁·건조·온수기는 한 대당 조절량이 작고 사용자 일정에 좌우돼 감축량을 믿을 수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가전별 “지금 미룰 수 있는 부하”를 실시간 집계 → 이벤트별 감축량을 신뢰구간으로 예측 → 소매사·Utility DR 입찰 → 실제 감축을 기준선으로 검증(T8) → 보상 배분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수만 대 가전의 사용 패턴·참여 확률을 학습해 집계 감축량을 예측해야 입찰이 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불필요(이미 연결된 가전 사용)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구매 없이 DR 보상, 요금 절감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여름·겨울 피크 저감 자원을 설치 공사 없이 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Samsung Flex Connect(Leap): 가전·TV·AC가 DR 참여, 캘리포니아·뉴욕→텍사스→PJM 확대. Nest Rush Hour Rewards 130만 가구, 2024년 $40M 보상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HP·AC라는 가장 큰 가전 부하를 T3 쾌적 보증과 함께 묶을 수 있음(경쟁사는 온도조절기·소형 가전 중심)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이종 가전의 지연 가능 부하와 참여 확률을 결합한 집계 감축량 신뢰구간 산출·입찰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T15  Appliance-Embedded HEMS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T15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506017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06017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GT-3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허브·게이트웨이 구매·설치 장벽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국가(임차·공동주택)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장비 없이 가전 제어기 안에서 HEMS 동작, 가전이 코디네이터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 · 높음</a:t>
            </a:r>
            <a:endParaRPr lang="en-US" sz="11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HEMS를 쓰려면 허브·게이트웨이를 사고 설치해야 함. 임차인·공동주택은 사실상 제외. “무료여도 연결이 귀찮으면 안 쓴다”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HEMS가 별도 장비에서 돌도록 설계됨. 가전은 각자 앱에서 절전 모드만 제공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에어컨·HP 제어기 펌웨어에 경량 최적화 엔진 탑재 → 집 안 대표 가전이 코디네이터가 되어 Matter 1.4 Device Energy Management·EEBus로 다른 가전의 시작 시간·출력 조정 → 요금은 Matter 1.5 Tariff 또는 클라우드에서 수신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제어기 자원이 작아 경량 온디바이스 최적화·학습이 필요, 가전 사용 패턴 학습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장비 불필요. 기존 가전 제어기의 연산·메모리·통신 여유를 활용(차기 제어기 사양에 반영)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비용 0원, 설치 0분. 새 에어컨을 사면 HEMS가 따라옴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표준(Matter·EU 스마트가전 규약)을 따르는 제어 가능 부하가 대량으로 생김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가전사들은 표준 준수(Daikin·Mitsubishi·Panasonic 등 EU 규약 서명)까지 진행, 가전 자체가 HEMS 코디네이터가 되는 제품은 공개 사례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AC·HP·세탁·건조·냉장까지 풀 라인업을 가진 가전사만 가능한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가전 제어기가 가정 내 코디네이터 역할을 선출·이양하며 타 가전의 시작 시간을 조정하는 게이트웨이 없는 HEMS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T16  Override-Learning Delegation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T16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506017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06017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제어를 끄는 문제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국가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override를 실패가 아니라 선호 학습 신호로 사용, 결정 이유 설명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· 높음</a:t>
            </a:r>
            <a:endParaRPr lang="en-US" sz="11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여름 DR에서 12.9%가 제어를 끄고 대부분 2–3시간 안에 이탈. 영국은 “귀찮음·잘 모름”이 TOU 미전환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override를 실패로 기록할 뿐, 다음 제어에 반영하지 않음. 사용자는 이유를 모른 채 불편만 느낌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override·설정 변경을 선호 신호로 학습해 쾌적 범위·시간대별 민감도를 갱신, 결정 이유를 한 줄로 설명(“17시 요금이 3배라 1시간 먼저 데웠습니다”), 핵심 지표는 사람이 개입하지 않은 비율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드문 개입 신호로 개인 선호를 빠르게 학습(few-shot)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신경 쓸 일이 줄고, 불편이 반복되지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중 이탈이 줄어 flex 자원 신뢰도 상승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Nest 등 학습형 온도조절기는 스케줄 학습 수준, 계통 이벤트와 연계한 개입 최소화 학습은 드묾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T3와 결합해 쾌적 한계 추정의 정확도를 높임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계통 이벤트 중 사용자 개입의 시점·크기로 쾌적 한계와 이벤트 참여 가능량을 동시에 갱신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기술별 상세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T17  Tariff Auto-Select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2651760" cy="489204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36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T17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506017" y="2286000"/>
            <a:ext cx="619049" cy="274320"/>
          </a:xfrm>
          <a:prstGeom prst="roundRect">
            <a:avLst>
              <a:gd name="adj" fmla="val 50000"/>
            </a:avLst>
          </a:prstGeom>
          <a:solidFill>
            <a:srgbClr val="F6EADF"/>
          </a:solidFill>
          <a:ln w="9525">
            <a:solidFill>
              <a:srgbClr val="F6EA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06017" y="2286000"/>
            <a:ext cx="6190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GT-4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Pain Point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358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요금제가 유리한지 모름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6393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886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UK DE FR US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48970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기존과 차이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736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비교가 아니라 우리 집 실측·제어 능력 기준으로 요금제 추천·재검증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340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 · 필요성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586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· 높음</a:t>
            </a:r>
            <a:endParaRPr lang="en-US" sz="1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371600"/>
          <a:ext cx="82570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28232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출발 Pain Point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독일 동적요금은 자동화 없으면 고정요금보다 비쌈. 영국 TOU 전환 의향 17%. 요금제가 계속 바뀜(FR·NL)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기존 HEMS로 어려운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요금제 선택은 사용자 몫. 비교 사이트는 평균 사용 패턴 기준이라 “우리 집 + 우리 HEMS 제어 능력”을 반영하지 못함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핵심 기술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T2 규칙팩의 요금제 후보 × 우리 집 실측 부하 × HEMS 제어 가능량으로 연간 비용을 반사실 시뮬레이션 → 추천·전환 → 전환 후 T8로 재검증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AI가 필요한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제어 후 부하가 요금제에 따라 달라지므로 요금제별 반사실 운전을 추정해야 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HW 필요성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 고객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공부하지 않아도 가장 유리한 요금제, 결과 검증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 Utility/Grid 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유연 부하를 가진 집이 동적요금으로 이동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 경쟁사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 비교 서비스, 자사 요금 추천(Octopus)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 격차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제어 능력까지 반영한 추천은 HEMS를 가진 쪽만 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 특허 아이디어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 제어 가능량을 반영한 요금제별 반사실 비용 산출과 전환 후 자동 재검증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필요한가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장벽 · 국가별 Pain Point · 가설 검증 · 경쟁사 · 가치사슬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왜 필요한가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장벽은 Integration Tax(통합 비용)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보조금·Net Metering이 사라진 뒤 가치는 여러 기기를 함께 움직일 때만 생기는데, 그 결합 비용이 가치보다 크다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3566160" cy="205740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842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788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주택 PV+ESS 비용 중 soft cost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4747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 Builder †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97680" y="1783080"/>
            <a:ext cx="3566160" cy="205740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19842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2–8k€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788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독일 HP+PV HEMS 통합 비용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34747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heatload †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046720" y="1783080"/>
            <a:ext cx="3566160" cy="205740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21040" y="19842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9,000명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788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영국 MCS 인증 HP 설치자(2030년 연 45만 대 목표)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34747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MCS Foundation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8640" y="4023360"/>
            <a:ext cx="3566160" cy="205740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2245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49% → 17%</a:t>
            </a:r>
            <a:endParaRPr lang="en-US" sz="34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5029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영국: TOU 절약 기대 → 실제 전환 의향. 이유는 “절감 보장 없음”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715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Ofgem 2025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297680" y="4023360"/>
            <a:ext cx="3566160" cy="205740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0" y="42245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12.9%</a:t>
            </a:r>
            <a:endParaRPr lang="en-US" sz="34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0" y="5029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 DR 이벤트 중 사용자가 제어를 끈 비율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4572000" y="5715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ScienceDirect 2025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046720" y="4023360"/>
            <a:ext cx="3566160" cy="205740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321040" y="42245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 / 500MW</a:t>
            </a:r>
            <a:endParaRPr lang="en-US" sz="3400" dirty="0"/>
          </a:p>
        </p:txBody>
      </p:sp>
      <p:sp>
        <p:nvSpPr>
          <p:cNvPr id="30" name="Text 27"/>
          <p:cNvSpPr txBox="1"/>
          <p:nvPr/>
        </p:nvSpPr>
        <p:spPr>
          <a:xfrm>
            <a:off x="8321040" y="5029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텍사스 가정 VPP 한도 대비 실제 적격 용량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8321040" y="5715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ERCOT 2026.3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왜 필요한가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기술은 있는데 시장이 안 크는 이유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시장 Pain Point를 원인별로 분류 — 기술 “성능”이 아니라 기술이 현장에 닿는 경로에서 막힘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691640"/>
          <a:ext cx="66751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498080" y="1691640"/>
            <a:ext cx="4142232" cy="452628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0" y="2331720"/>
            <a:ext cx="3657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예측·ESS·TOU 최적화, EV·HVAC 스케줄링은 이미 상용 기능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ROI 불확실과 설치·연동 복잡성이 상위 → 모두 “통합 비용” 문제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HEMS를 쓰게 만드는 것 자체(참여·신뢰)가 3번째 장벽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 연계 용량·제어권 분절은 Energy Pack과 VPP의 장벽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정전·설치 규제는 특정 지역 장벽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왜 필요한가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장벽별로 기존 HEMS가 못 푸는 이유와 해결 기술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9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251192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근본 장벽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기존 HEMS로 안 풀리나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 기술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설치·연동 복잡성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 생태계 기기만 깊게 제어. 타사 기기는 사람이 프로토콜·배선을 맞추고, HEMS를 쓰려면 별도 장비가 필요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GT-1, GT-3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ROI 불확실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“예상 절감”만 표시. 검증된 절감이 없어 금융·보증·성과형 가격 불가, 요금제 선택도 사용자 몫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GT-4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참여·신뢰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쾌적 한계를 모르고 냉난방을 제어해 사용자가 끄고, 끈 이유를 학습하지 않음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GT-2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계통 연계 용량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 최적화 SW라 연계점 한도를 법적 효력 있게 보장하지 못함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GT-5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제어권 분절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소매사·VPP·DSO·OEM이 각자 제어, 중재 계층 없음. Energy Pack 없는 집은 참여 경로 자체가 없음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GT-4, GT-3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규제·비연결 기기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허가·API 부재로 기기가 HEMS에 들어오지 않음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T13, T9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정전 Resilience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백업이 “100% 충전”에 그침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T6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왜 필요한가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시장을 여는 Trigger와 성숙도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성숙도에 따라 들어갈 제품 형태가 다르다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9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3566160"/>
                <a:gridCol w="3685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성숙도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Trigger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들어갈 제품 형태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독일·영국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성숙(HEMS 보급)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동적요금 의무·§14a·HP 전환, 설치자 부족, MHHS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시간·준법 증명·HP 깊은 제어, 가전 내장 HEMS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네덜란드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전환기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2027.1.1 상계 종료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배터리 없는 자가소비(Thermal Flex)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프랑스·남유럽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초기(냉방)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폭염 사망·에어컨 규제 완화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허가 없이 설치하는 냉난방 + 내장 HEMS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Texas·California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성숙(ESS·DR)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정전·폭염·VPP 한도 확대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가전 VPP + 백업 보증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UAE·사우디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냉방 피크·정부 절감 목표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Utility·개발사가 비용을 대는 Comfort 제어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국가별 Pain Point · 유럽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독일·영국: 규제는 앞서가는데 설치·연동과 사용 참여가 따라가지 못함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9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154680"/>
                <a:gridCol w="2926080"/>
                <a:gridCol w="1463040"/>
                <a:gridCol w="1627632"/>
                <a:gridCol w="960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시장/제도 변화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고객/Utility Pain Point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해결방식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아직 남은 Gap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신기술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2025년부터 모든 공급사 동적요금 의무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§14a: 4.2kW 초과 HP·Wallbox·ESS는 DSO 제어 대상, Modul 3 2025.4 의무, 연 110–190€~최대 360€ 절감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Solarspitzengesetz: 음가격 시 보상 없음, 스마트미터 없으면 송출 60% 제한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가정요금 38.69€/100kWh(EU 2위)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HP 29.9만 대(+50%), 가정 ESS 36.6만 대(−20%)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2026년부터 V2G 이중 망요금 폐지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고객: 동적요금이 자동 제어 없으면 손해(604€ 대 481€)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설치업체: EEBus·SG-Ready·Modbus 혼용 오류, 복합 기술 인력 부족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DSO: 스마트미터 5.5%, §14a 기준정보 프로세스 미비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SMA, 1KOMMA5 Heartbeat(1GW), Enpal, sonnen, gridX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타사 기기 자동 연동·검증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§14a·동적요금·60%·음가격 동시 준법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HP 열 유연성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 · T2 · T3 · T15 · T4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UK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가격상한 26p/kWh + 기본료 54.8p/일(2026.10)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MHHS 2027.5까지 30분 정산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Warm Homes Plan 2030년 HP 연 45만 대 목표, 2026 상반기 설치 −22%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2026.8.27 플러그인 태양광 합법화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DFS 참여 160만 가구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MCS 설치자 약 9,000명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TOU 기대 49% vs 전환 의향 17%, 이유: 절감 보장 없음·귀찮음·잘 모름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EV 가정충전자 63%가 스마트충전기 보유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DNO: G100 송출 한도로 연계 지연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Octopus Kraken(2GW), Tesla, GivEnergy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공급사에 묶인 자동화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설치 시간 단축 기술 부재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임차인용 부재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 · T3 · T14 · T17 · T8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국가별 Pain Point · 유럽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프랑스·네덜란드·남유럽: 요금·보상·기후가 바뀌어 기존 기기 운전이 어긋남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9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154680"/>
                <a:gridCol w="2926080"/>
                <a:gridCol w="1463040"/>
                <a:gridCol w="1627632"/>
                <a:gridCol w="960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시장/제도 변화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고객/Utility Pain Point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해결방식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아직 남은 Gap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신기술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프랑스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Linky 95%, Heures Creuses 낮 시간대로 순차 변경(1,100만 고객)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잉여 PV 매입가 12.69→4c€/kWh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MaPrimeRénov 2026.1–2 중단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2025 여름 폭염 사망 5,700명+ → 공동주택 개보수 의결 요건 완화, 공기-공기 HP 부가세 인하 추진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온수기·축열난방이 옛 타이머에 고정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공동주택 에어컨 설치에 관리조합 승인·신고로 수개월 지연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EDF Tempo, Enedis 신호, Schneider Wiser, 이동식 AC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비연결 기존 기기 제어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허가 없이 설치 가능한 냉난방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T2 · T15 · T3 · T13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네덜란드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2027.1.1 상계제도 일괄 종료, 2027–2030 송출 보상 공급가의 50% 이상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공급사별 송출비용, 망 혼잡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PV 수익 급락, ESS 회수기간 &gt; 보증기간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DSO 연계 대기, 한낮 송출 과잉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ESS 판매, 동적요금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배터리 없이 잉여 PV 흡수(급탕·예열)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혼잡 연계 한도 제어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 · T4 · T8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스페인·이탈리아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 · IT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2025.4.28 이베리아 대정전 후 가정용 배터리 수요 급증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이탈리아 도매가 €115.9/MWh(프랑스 €61.1)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정전 시 grid-forming 없어 PV 사용 불가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3kW 저계약용량으로 HP·EV 동시 사용 불가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Huawei·SolarEdge·Tesla 백업 인버터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중요부하 생존 제어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계약용량 내 배분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T6 · T4 · T5 · T13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국가별 Pain Point · 북미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미국·California·Texas: 보조금 종료 후 패널 용량·수익 불확실·정전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9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154680"/>
                <a:gridCol w="2926080"/>
                <a:gridCol w="1463040"/>
                <a:gridCol w="1627632"/>
                <a:gridCol w="960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시장/제도 변화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고객/Utility Pain Point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해결방식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아직 남은 Gap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신기술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전체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25D 2025년 말 종료, 리스·PPA는 48E 유지 → TPO로 이동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가정요금 18.02¢(2026), 데이터센터 부하 증가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VPP 33GW → 2030 80–160GW 목표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단독주택 29.5%가 100A 이하 패널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설치 비용의 58%가 soft cost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Utility: VPP 등록 &lt;1/5, OEM 사일로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SPAN·Schneider Pulse·ConnectDER, Tesla/Enphase/SolarEdge, Sunrun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제조사 중립 패널 증설 회피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다중 VPP 동시 운영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T14 · T5 · T1 · T7 · T8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California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US-CA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NBT 수출 보상 약 75%↓, ESS 부착 약 70%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PG&amp;E 평균 39.25¢/kWh, TOU 16–21시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Rule 21 IEEE 2030.5 의무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DSGS 540MW 시험, 예산 삭감 후 일부 복원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자가소비·백업·VPP가 같은 잔량을 두고 충돌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프로그램 예산 변동으로 수익 불확실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PSPS·산불 정전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Tesla Storm Watch, Sunrun, Enphase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위험 기반 잔량 배분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프로그램 변경 자동 대응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T6 · T7 · T8 · T3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Texas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US-TX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ERCOT ADER 한도 200→500MW(2026.3), 적격 약 108MW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Tesla VPP 승인, Tesla Electric Powerwall 2대 월 $35 리스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TBPP는 중요시설 대상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Uri 450만 가구 최장 4일, Beryl 260만 고객 수일 정전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폭염 정전 시 ESS만으로 냉방 장시간 불가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Tesla Electric VPP, Sunrun/NRG, sonnen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냉방 포함 생존시간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소매사·ERCOT 신호 중재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T6 · T14 · T3 · T7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국가별 Pain Point · 중동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UAE·사우디·카타르: 소비자 ROI보다 냉방 피크와 Comfort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9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154680"/>
                <a:gridCol w="2926080"/>
                <a:gridCol w="1463040"/>
                <a:gridCol w="1627632"/>
                <a:gridCol w="960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시장/제도 변화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고객/Utility Pain Point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해결방식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아직 남은 Gap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신기술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UAE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DEWA 누진 23–38 fils + 연료할증 6 fils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Shams Dubai 725MW, 8,430개 건물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Dubai DSM 2050: 2030년 30% 절감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DEWA가 사용량 비교·이상알림·절감 팁 제공, 전 계량기 스마트화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빌라 냉방비가 누진 상위 구간, 다수 split AC 비연결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가정용 TOU 없음 → ESS 소비자 ROI 약함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대시보드는 Utility가 이미 제공 → 보여주기로는 차별화 불가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DEWA 앱, AC 제조사 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보여주기 → 자율 제어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기존 AC 제어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T15 · T9 · T3 · T16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사우디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0.18/0.30 SAR/kWh(월 6,000kWh 기준)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가정 전력 161,207GWh(2024), 91.5%가 절전 중요, 40.8%가 가정용 태양광 관심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소규모 PV net billing 보급 미미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냉방이 가정 소비·피크의 대부분(업계 추정)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낮은 요금으로 소비자 ROI 약함 → 돈보다 Comfort·편의가 가치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효율 기준 강화, 신도시 스마트홈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Utility·개발사 과금 모델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방 단위 Comfort 제어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 · T9 · T7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카타르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Kahramaa BeSolar net billing, Tarsheed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사우디와 유사한 저요금·냉방 피크, 시장 작음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Kahramaa 프로그램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사우디와 동일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 · T9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가설 검증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중이던 가설과 후보의 판정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9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3319272"/>
                <a:gridCol w="105156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상용화된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재정의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 Region-Adaptive Energy AI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동적요금 API·국가 요금 연동(Kraken, Heartbeat, gridX, SMA)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“AI가 규제를 이해”만으로는 상품이 아니고 오해석 시 준법 리스크. 차별화는 검증된 규칙 변환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T2·T17 (GT-1·GT-4)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 Auto-Commissioning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 생태계 내 앱 커미셔닝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혼합 제조사·능동 검증은 공백, 시장 장벽 1위와 직결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 → GT-1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C. Energy Autopilot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Tesla·Octopus·1KOMMA5·Samsung 제공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단독으로는 신기술 아님. 남은 것은 쾌적 보장·개입 최소화·게이트웨이 없는 동작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B2C2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불가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1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T3·T16·T15에 흡수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D. Resilience / VPP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Storm Watch, CA·TX VPP, Samsung Flex Connect, Nest RHR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ESS VPP는 경쟁 치열. 가전 VPP와 쾌적 보증 결합은 공백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재정의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T14(가전 VPP) + T6(지역)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E. Plug&amp;Play Power Hub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SPAN·Schneider·ConnectDER·EcoFlow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단상형은 경쟁 치열. 유럽 3상·§14a·G100 통합 허브는 공백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채택(EU 우선)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T4 + T5 → GT-5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Thermal Battery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Pre-cooling·DR은 존재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쾌적 보증형 용량 계산은 공백, 자사 HVAC 강점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 → GT-2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Savings Proof / ROI Guarantee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대부분 추정치 표시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 저항·ROI 불신을 푸는 수단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6A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T8 → GT-4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Home Energy Trader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Tesla Autobidder, Kraken 등 성숙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ESS 최적화의 연장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B2C2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1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확보 기술(Enabler)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Energy Designer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설치업체 설계 SW 다수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 도구 성격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A5A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GT-1 설치 앱 기능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Digital Twin 계열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 방향에 따라 신기술 후보에서 제외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B2C2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1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경쟁사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어디까지 하고 있나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상용 제품   ◐ 일부 국가·파트너·제한적   · 없음/미확인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9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75488"/>
                <a:gridCol w="475488"/>
                <a:gridCol w="475488"/>
                <a:gridCol w="475488"/>
                <a:gridCol w="530352"/>
                <a:gridCol w="548640"/>
                <a:gridCol w="475488"/>
                <a:gridCol w="640080"/>
                <a:gridCol w="5303520"/>
              </a:tblGrid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PV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HVAC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VPP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운전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아직 못 푼 부분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Tesla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냉난방·타사 기기 제어 없음, 폐쇄 생태계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Enphase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IQ Energy Mgmt는 온수기·충전기 일부만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SolarEdge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HP 열 유연성, 혼합 기기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Huawei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HP는 SG-Ready·릴레이 수준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Sigenergy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 양방향 충전 강점, 열부하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sonnen (Shell)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ESS 중심 VPP 250MWh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설정이 설치자 전문성에 의존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1KOMMA5 · Enpal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근접. 1GW·레트로핏 박스, 자사 채널·독일 중심, 쾌적 보장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Octopus / Kraken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유연성 SW 최강(2GW), 자사 요금 가입 전제, 미국은 Voltus 제휴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Schneider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Pulse(US) 패널 통합, Wiser AI는 자사 조합 한정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Siemens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그리드 SW·충전 중심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Bosch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 Manager는 PV 잉여 연동 수준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SPAN · ConnectDER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 전용 패널 교체형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EcoFlow · Anker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가격·올인원, 계통 준법·VPP 약함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BYD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셀·모듈 공급자, HEMS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Nest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온도조절기 DR만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Amazon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에너지 대시보드, Matter 허브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Samsung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가전 AI Energy Mode, 계통 준법·전력 HW 약함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Midea · Haier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Midea 창문형 HP·H-Pack으로 설치규제 우회 선점, HEMS·VPP 약함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Daikin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SG-Ready·Modbus 연동은 외부 HEMS 의존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Mitsubishi Electric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§14a SG-Ready, 유연성 수익화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Panasonic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0C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일본 HEMS(AiSEG) 해외 확장 미흡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경쟁사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관점의 경쟁 구도와 우리가 노릴 자리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9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2011680"/>
                <a:gridCol w="2377440"/>
                <a:gridCol w="2313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HEMS가 도는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못 하는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전력기기형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Tesla, Enphase, SolarEdge, Huawei, Sigenergy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인버터·게이트웨이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ESS·PV 제어, VPP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냉난방·가전 제어, 타사 기기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요금사업자형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Octopus Kraken, 1KOMMA5 Heartbeat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클라우드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요금·유연성 수익화 1–2GW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 요금·채널 전제, HW 설치 병목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스마트홈 플랫폼형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Samsung SmartThings, Google Nest, Amazon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허브·앱·온도조절기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가전·온도조절기 DR(RHR 130만 가구)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계통 준법·전력 HW, 쾌적 보증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냉난방 기기형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Daikin, Mitsubishi, Bosch, Midea, Panasonic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제어기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HP·AC 제품, EU 스마트가전 규약 준수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HEMS·VPP 수익화는 외부에 의존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우리가 노릴 자리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가전 제어기 + Energy Pack Gateway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HP·AC·가전 풀 라인업 + Energy Pack + 실제 HVAC 제어 Evidence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D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846320"/>
            <a:ext cx="3566160" cy="146304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7240" y="4956048"/>
            <a:ext cx="753466" cy="274320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4956048"/>
            <a:ext cx="75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 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5303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냉난방 회사에는 전력·계통 스택이 없다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5669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HP를 팔지만 유연성 수익화는 외부 HEMS에 맡긴다.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97680" y="4846320"/>
            <a:ext cx="3566160" cy="146304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26280" y="4956048"/>
            <a:ext cx="753466" cy="274320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26280" y="4956048"/>
            <a:ext cx="75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 2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5303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전력기기 회사는 열부하·가전을 모른다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526280" y="5669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ESS 중심이라 냉난방·가전을 쾌적 보장과 함께 제어하지 못한다.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46720" y="4846320"/>
            <a:ext cx="3566160" cy="146304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75320" y="4956048"/>
            <a:ext cx="753466" cy="274320"/>
          </a:xfrm>
          <a:prstGeom prst="roundRect">
            <a:avLst>
              <a:gd name="adj" fmla="val 50000"/>
            </a:avLst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75320" y="4956048"/>
            <a:ext cx="753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 3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8275320" y="5303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 없는 중립 HEMS가 없다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8275320" y="5669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자사 허브·요금·채널이 전제. 가전 자체가 HEMS가 되는 제품은 없다.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가치사슬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Country Pain Point → Business Opportunity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기술에서 출발하지 않고 Pain Point에서 거꾸로 추적 — “이 기술이 없어서 지금 시장이 못 크고 있다”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9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508760"/>
                <a:gridCol w="1645920"/>
                <a:gridCol w="1600200"/>
                <a:gridCol w="1508760"/>
                <a:gridCol w="1371600"/>
                <a:gridCol w="1581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Country Pain Point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Market Barrier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Unsolved Problem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Gateway Technology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Customer Value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Business Opportunity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 · UK · US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설치자 부족, 통합 2–8k€, soft cost 58%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1건당 비용·시간이 가치보다 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혼합 제조사 기기를 사람 없이 연결·검증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GT-1 Zero-Touch Commissioning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 Pack Gateway + 설치 앱 + 규칙팩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당일 정상 작동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설치업체·OEM 라이선스, 타사 기기 채널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 · NL · UK · TX · GCC · FR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냉난방이 최대 부하, override, 폭염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유연 자원이 시장에 못 들어옴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쾌적을 해치지 않는 조절량 보증, 개입 최소화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GT-2 Thermal Flex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 HP·AC + HEMS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배터리 없이 절감, 불편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HP·AC 판매 경쟁력, flex 판매, 걸프국 B2G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시장 (임차·공동주택 포함)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 장비 구매·설치 장벽, Energy Pack 없는 집은 계통 참여 불가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 고객 기반이 Energy Pack 판매량에 묶임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없이 동작하는 HEMS, 가전 부하 집계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GT-3 가전 내장 HEMS·가전 VPP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 탑재 AC·HP·가전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비용 0원, DR 보상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가전 프리미엄, 가전 VPP 수익 배분, Energy Pack 전환 고객 확보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UK · US · DE · CA · TX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ROI 불확실, 구독 저항, VPP 등록 &lt;1/5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가치가 증명되지 않아 구매·과금이 막힘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절감, 요금제 선택, 다자 명령 중재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4F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GT-4 Verified Value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정산·요금제·권한 서비스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 없으면 무료, 유리한 요금제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절감 수수료 분배, 성과형 구독, 소매사 제휴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 · DE · UK · NL · IT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100A 패널, §14a, G100, 혼잡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연계 용량이 전기화 속도 제한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연계점 한도를 보장하며 HP·EV·ESS 동시 사용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864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GT-5 Power Hub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 Pack Power Hub HW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증설 없는 전기화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 Pack HW 판매, DSO·Utility 조달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· 사업 구조와 Region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신기술이 들어가는 사업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3566160" cy="1572768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481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①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 Cottage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1305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 공간 + 설비 결합 상품. Energy Pack과 Smart Home이 함께 들어가고 HEMS가 묶음. 미국 판매 제외.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1371600"/>
            <a:ext cx="3566160" cy="1572768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481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②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Pack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1305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PV·ESS·HP·AC(+EV 충전) 묶음. Smart Cottage에 포함되며 별도 사업으로도 전개.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46720" y="1371600"/>
            <a:ext cx="3566160" cy="1572768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481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기술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1305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Energy Pack·Smart Home·자사 가전 모두의 두뇌(GT-1~4). HW·가전 경쟁력과 서비스 수익으로 돈을 번다.</a:t>
            </a:r>
            <a:endParaRPr lang="en-US" sz="105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783080"/>
                <a:gridCol w="1874520"/>
                <a:gridCol w="2651760"/>
                <a:gridCol w="2404872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Target 고객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 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산정 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신기술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독일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 Pack + HEMS 가전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HP 교체 기존 단독주택, 설치업체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HP 29.9만 대/년(80% 기존주택), 가정 ESS 36.6만 대/년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자사 HP 출하 × Energy Pack 부착률 × 게이트웨이·서비스 단가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GT-1·2·5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 가전 + Energy Pack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전기난방·EV 가구, 전력 소매사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HP 목표 연 45만 대(2030), DFS 160만 가구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HP·AC 출하 + 가전 VPP 수익 배분 + 소매사 성과형 수수료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GT-1·2·3·4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네덜란드·프랑스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 가전 + Energy Pack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PV 보유 가구, 공동주택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NL 2027 상계 종료, FR 1,100만 고객 시간대 변경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HP·온수·일체형 AC 판매 × HEMS 탑재율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GT-2·3·4, T13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미국(CA·TX)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HEMS 가전 + Energy Pack(파트너)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AC·HP 가구, PV+ESS 가구, DR·VPP 사업자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 ESS 부착 약 70%, TX VPP 한도 500MW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가전 VPP 수익 배분 + 파트너 채널 게이트웨이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GT-3·4·5, T6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UAE·사우디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Smart Cottage·HEMS 가전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빌라, 대단지 개발사, Utility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사우디 가정 전력 161,207GWh, Dubai 2030 30% 절감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개발사·Utility 단지 계약(AC + 제어 서비스)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GT-2·3, T9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· 회의 반영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회의에서 요구한 것과 대응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</a:t>
            </a:r>
            <a:endParaRPr lang="en-US" sz="9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53309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회의 요구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“내년에 과제하면 뭐 할 건데”에 답할 신기술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2장 GT-1~5 산출물·목표·일정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Smart Cottage / Energy Pack / Smart Home / HEMS 관계 정리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0·1·11장: HEMS는 공통 두뇌, Energy Pack은 HW 패키지, 진입 경로 A·B·C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정확도 개선 같은 연장선은 메인 아님, Digital Twin 불가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후보에서 제외, 확보 기술은 Enabler(1장)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SW에 국한하지 말고 HW까지, 타사 대비 2–3년 격차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Gateway·Power Hub(GT-5), 가전 제어기 내장 HEMS(GT-3), T13, 기술별 격차 포인트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무료여도 연결이 귀찮으면 안 씀, DIY 10분 설치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GT-1(자동 커미셔닝), GT-3(설치 0분)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 Pack의 본질 = Comfort를 해치지 않고 에너지 줄이기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GT-2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렌탈·구독 저항, 선불 투자 ROI를 보고 싶은 심리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GT-4 검증 절감·요금제 선택·성과형 과금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국가·Persona별 Pain Point, 시장을 여는 관문기술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6·7·10장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공통부·변동부 분리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1장 구조(HEMS 공통 / 국가 적응 / 확보 기술)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12월까지 + 2027·2028 로드맵, 역할·PL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821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3장 6명 실행계획</a:t>
                      </a:r>
                      <a:endParaRPr lang="en-US" sz="14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· 회의 반영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전략이 틀릴 수 있는 조건과 일정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22392" cy="4206240"/>
          </a:xfrm>
          <a:prstGeom prst="rect">
            <a:avLst/>
          </a:prstGeom>
          <a:solidFill>
            <a:srgbClr val="F5E1E1"/>
          </a:solidFill>
          <a:ln w="9525">
            <a:solidFill>
              <a:srgbClr val="F5E1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전략이 틀릴 수 있는 조건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031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Matter·EEBus 표준화가 빨라져 커미셔닝 난이도가 크게 낮아지는 경우(GT-1 가치 감소, GT-3는 유리)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1KOMMA5·Octopus가 제조사 중립 레트로핏을 대규모 확산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가전 제어기의 연산·통신 여유가 내장 HEMS에 부족한 경우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HP·AC 내부 API 접근이 확보되지 않는 경우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53912" y="1417320"/>
            <a:ext cx="5422392" cy="4206240"/>
          </a:xfrm>
          <a:prstGeom prst="rect">
            <a:avLst/>
          </a:prstGeom>
          <a:solidFill>
            <a:srgbClr val="E3EBF6"/>
          </a:solidFill>
          <a:ln w="9525">
            <a:solidFill>
              <a:srgbClr val="E3EB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4F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21031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아웃라인 리뷰 → 소장 리뷰(매주)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말 CTO 보고: 과제 지속·범위·인력 결정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12월까지 2027–2028 로드맵 확정</a:t>
            </a:r>
            <a:endParaRPr lang="en-US" sz="13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CTO 결정 요청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2801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정확도가 아니라,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연결되고 · 조절하고 · 가전 안에서 돌고 · 증명하는 HEMS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B8641F"/>
          </a:solidFill>
          <a:ln w="12700">
            <a:solidFill>
              <a:srgbClr val="B864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지속, 신기술 범위를 HEMS GT-1~4 중심으로 재정의 (GT-5는 2027 하반기 설계부터)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776472"/>
            <a:ext cx="457200" cy="457200"/>
          </a:xfrm>
          <a:prstGeom prst="ellipse">
            <a:avLst/>
          </a:prstGeom>
          <a:solidFill>
            <a:srgbClr val="B8641F"/>
          </a:solidFill>
          <a:ln w="12700">
            <a:solidFill>
              <a:srgbClr val="B864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7764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 포함 6명 재배치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489704"/>
            <a:ext cx="457200" cy="457200"/>
          </a:xfrm>
          <a:prstGeom prst="ellipse">
            <a:avLst/>
          </a:prstGeom>
          <a:solidFill>
            <a:srgbClr val="B8641F"/>
          </a:solidFill>
          <a:ln w="12700">
            <a:solidFill>
              <a:srgbClr val="B864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48970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HP·AC·가전 내부 제어 API와 제어기 펌웨어 접근 승인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5202936"/>
            <a:ext cx="457200" cy="457200"/>
          </a:xfrm>
          <a:prstGeom prst="ellipse">
            <a:avLst/>
          </a:prstGeom>
          <a:solidFill>
            <a:srgbClr val="B8641F"/>
          </a:solidFill>
          <a:ln w="12700">
            <a:solidFill>
              <a:srgbClr val="B864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520293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 실증 뒤 계속/축소 판단 기준 합의: 설정 시간 50%↓ · 쾌적 95% + 피크 20%↓ · 가전 2종 협조 제어 · 유료 파트너 1곳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· 출처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 (1/3)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2025–2026 자료 우선 · † 업계·2차 자료 · 전체 URL은 발표자 노트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45920"/>
            <a:ext cx="542239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Bundesnetzagentur, Dynamische Stromtarife · bundesnetzagentur.de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Bundesnetzagentur, §14a · bundesnetzagentur.de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Utility Partners † · utility-partners.de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Verivox(blackout-news) † · blackout-news.de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pv magazine, Solarspitzengesetz · pv-magazine.com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pv magazine, 독일 배터리 2025 · pv-magazine.com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독일 HP 2025 · renewable-energy-industry.com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The Mobility House, V2G · mobilityhouse.com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heatload † · heatload.ing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Vattenfall, §14a · vattenfall.de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Eurostat · ec.europa.eu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Ofgem price cap · ofgem.gov.uk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Ofgem 2025 flexibility survey · ofgem.gov.uk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GOV.UK HP stats June 2026 · gov.uk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153912" y="1645920"/>
            <a:ext cx="542239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MCS Foundation · mcsfoundation.org.uk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Elexon MHHS · elexon.co.uk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NESO DFS · neso.energy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Fuse Energy † · fuseenergy.com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19. Kraken 2GW · evinfrastructurenews.com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20. Reonic G100 † · reonic.com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21. Enedis · enedis.fr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22. photovoltaique.info · photovoltaique.info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23. Selectra Linky † · en.selectra.info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24. CAPEB · capeb.fr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25. Rijksoverheid · rijksoverheid.nl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26. ENTSO-E Iberian report · eepublicdownloads.blob.core.windows.net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27. The Local Italy · thelocal.it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28. SolarPower Europe · solarpowereurope.org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· 출처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 (2/3)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2025–2026 자료 우선 · † 업계·2차 자료 · 전체 URL은 발표자 노트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45920"/>
            <a:ext cx="542239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29. European Commission EMD · energy.ec.europa.eu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30. IEA Electricity 2026 · iea.org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31. CPUC NBT · cpuc.ca.gov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32. Solar.com PG&amp;E † · solar.com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33. Brattle VPP · brattle.com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34. pv magazine USA DSGS · pv-magazine-usa.com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35. SEIA OBBB · seia.org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36. ACEEE panel survey · aceee.org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37. Solar Builder † · solarbuildermag.com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38. US DOE VPP Liftoff 2025 · liftoff.energy.gov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39. Utility Dive / EIA · utilitydive.com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40. Utility Dive Tesla ERCOT · utilitydive.com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41. Texas Tribune Beryl · texastribune.org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42. Electrek Tesla lease · electrek.co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153912" y="1645920"/>
            <a:ext cx="542239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 Texas Energy Fund TBPP · txenergyfund.texas.gov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44. DEWA slab tariff · dewa.gov.ae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45. SurgePV Shams Dubai † · surgepv.com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46. Dubai DSM 2050 · dubaisce.gov.ae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47. SERA tariff · sera.gov.sa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48. ScienceDirect 2025 사우디 · vision2030.ai † · sciencedirect.com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49. Kahramaa BeSolar · km.qa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 1KOMMA5 1GW · ess-news.com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51. Tesla Storm Watch · tesla.com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52. Canary Media SPAN · canarymedia.com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53. Enphase IQ EM · investor.enphase.com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54. pv Europe Huawei · pveurope.eu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55. Samsung SmartThings Energy · partners.smartthings.com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56. Schneider Wiser · se.com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64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· 출처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 (3/3)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6128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2025–2026 자료 우선 · † 업계·2차 자료 · 전체 URL은 발표자 노트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HEMS · Energy Pack 신기술 v4  ·  2026.09.30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473952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45920"/>
            <a:ext cx="542239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57. sonnen VPP · sonnengroup.com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58. CSA Matter 1.4 · csa-iot.org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59. Smart thermostat review (ScienceDirect) · sciencedirect.com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60. POWER Voltus–Octopus · powermag.com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61. Sigenergy · sigenergy.com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62. DOE review (Applied Energy) · sciencedirect.com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63. Mitsubishi Electric §14a · mitsubishi-les.com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64. EcoFlow OCEAN Pro · energy.ecoflow.com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65. gridX † · gridx.ai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66. CPUC Rule 21 · cpuc.ca.gov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67. Carbon Brief Warm Homes Plan · carbonbrief.org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68. TPPF Uri · texaspolicy.com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69. ERCOT Market Notice M-A030226-01 · ercot.com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153912" y="1645920"/>
            <a:ext cx="542239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70. GASTAT Household Energy Statistics 2024 · stats.gov.sa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71. Santé publique France, Summer 2025 · santepubliquefrance.fr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72. Ofgem FANZ Survey 2025 · ofgem.gov.uk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73. Connexion, 프랑스 폭염 대응 계획 † · connexionfrance.com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74. Connexion, 공동주택 에어컨 승인 † · connexionfrance.com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75. DEWA Cooling / Smart Living · dewa.gov.ae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76. Midea H-Pack (MCE 2026) · tools.prnewswire.com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77. EU JRC, Energy Smart Appliances Code of Conduct 확대(2026.3) · joint-research-centre.ec.europa.eu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78. Samsung, SmartThings Flex Connect 확대 · news.samsung.com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79. Renew Home, Rush Hour Rewards 2024 · renewhome.com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80. CSA, Matter 1.5 에너지 관리 · csa-iot.org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8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81. CSA, Matter for Energy Smart Appliances · csa-iot.org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HEMS와 Energy Pack 2027–2028 신기술</dc:title>
  <dc:subject>PptxGenJS Presentation</dc:subject>
  <dc:creator>PptxGenJS</dc:creator>
  <cp:lastModifiedBy>PptxGenJS</cp:lastModifiedBy>
  <cp:revision>1</cp:revision>
  <dcterms:created xsi:type="dcterms:W3CDTF">2026-09-30T10:06:10Z</dcterms:created>
  <dcterms:modified xsi:type="dcterms:W3CDTF">2026-09-30T10:06:10Z</dcterms:modified>
</cp:coreProperties>
</file>