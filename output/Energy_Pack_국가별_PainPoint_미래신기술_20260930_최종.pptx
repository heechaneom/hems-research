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7141c1b92049b7" /><Relationship Type="http://schemas.openxmlformats.org/officeDocument/2006/relationships/extended-properties" Target="/docProps/app.xml" Id="R8e151f59fec04814" /><Relationship Type="http://schemas.openxmlformats.org/officeDocument/2006/relationships/officeDocument" Target="/ppt/presentation.xml" Id="R7c0eb90d771c43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f2d292a5c843e4"/>
  </p:sldMasterIdLst>
  <p:notesMasterIdLst>
    <p:notesMasterId xmlns:r="http://schemas.openxmlformats.org/officeDocument/2006/relationships" r:id="R9f9f50ea4a4549c5"/>
  </p:notesMasterIdLst>
  <p:sldIdLst>
    <p:sldId xmlns:r="http://schemas.openxmlformats.org/officeDocument/2006/relationships" id="256" r:id="Rf2bed6bbafec4c46"/>
    <p:sldId xmlns:r="http://schemas.openxmlformats.org/officeDocument/2006/relationships" id="257" r:id="Rd131c6f7cab44136"/>
    <p:sldId xmlns:r="http://schemas.openxmlformats.org/officeDocument/2006/relationships" id="258" r:id="Rb12b4c6c26314dd7"/>
    <p:sldId xmlns:r="http://schemas.openxmlformats.org/officeDocument/2006/relationships" id="259" r:id="Rbe1076444b3149c0"/>
    <p:sldId xmlns:r="http://schemas.openxmlformats.org/officeDocument/2006/relationships" id="260" r:id="R2d1a4233162f4f1a"/>
    <p:sldId xmlns:r="http://schemas.openxmlformats.org/officeDocument/2006/relationships" id="261" r:id="R1d618c2a77b54a82"/>
    <p:sldId xmlns:r="http://schemas.openxmlformats.org/officeDocument/2006/relationships" id="262" r:id="R06020f7a423e4061"/>
    <p:sldId xmlns:r="http://schemas.openxmlformats.org/officeDocument/2006/relationships" id="263" r:id="R31ca743ad0cc490d"/>
    <p:sldId xmlns:r="http://schemas.openxmlformats.org/officeDocument/2006/relationships" id="264" r:id="Rfaa09d943e604ce9"/>
    <p:sldId xmlns:r="http://schemas.openxmlformats.org/officeDocument/2006/relationships" id="265" r:id="Rc0c7640465414863"/>
    <p:sldId xmlns:r="http://schemas.openxmlformats.org/officeDocument/2006/relationships" id="266" r:id="R4cf9d8dd09f14283"/>
    <p:sldId xmlns:r="http://schemas.openxmlformats.org/officeDocument/2006/relationships" id="267" r:id="R7e3efffc29d749dd"/>
    <p:sldId xmlns:r="http://schemas.openxmlformats.org/officeDocument/2006/relationships" id="268" r:id="R515673e6f34242d6"/>
    <p:sldId xmlns:r="http://schemas.openxmlformats.org/officeDocument/2006/relationships" id="269" r:id="Rfc1bf62092d34388"/>
    <p:sldId xmlns:r="http://schemas.openxmlformats.org/officeDocument/2006/relationships" id="270" r:id="R05c19627de404e2d"/>
    <p:sldId xmlns:r="http://schemas.openxmlformats.org/officeDocument/2006/relationships" id="271" r:id="Ra0c6d999d3a148c3"/>
    <p:sldId xmlns:r="http://schemas.openxmlformats.org/officeDocument/2006/relationships" id="272" r:id="R0dd0a2f7118f44be"/>
    <p:sldId xmlns:r="http://schemas.openxmlformats.org/officeDocument/2006/relationships" id="273" r:id="R27a294306de94932"/>
    <p:sldId xmlns:r="http://schemas.openxmlformats.org/officeDocument/2006/relationships" id="274" r:id="Rae80480d490e4bed"/>
    <p:sldId xmlns:r="http://schemas.openxmlformats.org/officeDocument/2006/relationships" id="275" r:id="Rdfa4c4d6c30c4b62"/>
    <p:sldId xmlns:r="http://schemas.openxmlformats.org/officeDocument/2006/relationships" id="276" r:id="R1a1620f07a8e4bec"/>
    <p:sldId xmlns:r="http://schemas.openxmlformats.org/officeDocument/2006/relationships" id="277" r:id="R6489e176629a405d"/>
    <p:sldId xmlns:r="http://schemas.openxmlformats.org/officeDocument/2006/relationships" id="278" r:id="Re6f383ce7f5b4a50"/>
    <p:sldId xmlns:r="http://schemas.openxmlformats.org/officeDocument/2006/relationships" id="279" r:id="Rc9cd409410874708"/>
    <p:sldId xmlns:r="http://schemas.openxmlformats.org/officeDocument/2006/relationships" id="280" r:id="R349e2afc68764e46"/>
    <p:sldId xmlns:r="http://schemas.openxmlformats.org/officeDocument/2006/relationships" id="281" r:id="R759001efabc04625"/>
    <p:sldId xmlns:r="http://schemas.openxmlformats.org/officeDocument/2006/relationships" id="282" r:id="Ree9b38dea3e74942"/>
    <p:sldId xmlns:r="http://schemas.openxmlformats.org/officeDocument/2006/relationships" id="283" r:id="R8f5d0b345fbf4692"/>
    <p:sldId xmlns:r="http://schemas.openxmlformats.org/officeDocument/2006/relationships" id="284" r:id="R4f0ef547ef8347ec"/>
    <p:sldId xmlns:r="http://schemas.openxmlformats.org/officeDocument/2006/relationships" id="285" r:id="R7194f74223284fc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f7bb7f0cc84e8d" /><Relationship Type="http://schemas.openxmlformats.org/officeDocument/2006/relationships/slideMaster" Target="/ppt/slideMasters/slideMaster1.xml" Id="Rd6f2d292a5c843e4" /><Relationship Type="http://schemas.openxmlformats.org/officeDocument/2006/relationships/notesMaster" Target="/ppt/notesMasters/notesMaster1.xml" Id="R9f9f50ea4a4549c5" /><Relationship Type="http://schemas.openxmlformats.org/officeDocument/2006/relationships/presProps" Target="/ppt/presProps.xml" Id="R5844ad631d4147bf" /><Relationship Type="http://schemas.openxmlformats.org/officeDocument/2006/relationships/tableStyles" Target="/ppt/tableStyles.xml" Id="R6ea798b72b084793" /><Relationship Type="http://schemas.openxmlformats.org/officeDocument/2006/relationships/slide" Target="/ppt/slides/slide1.xml" Id="Rf2bed6bbafec4c46" /><Relationship Type="http://schemas.openxmlformats.org/officeDocument/2006/relationships/slide" Target="/ppt/slides/slide2.xml" Id="Rd131c6f7cab44136" /><Relationship Type="http://schemas.openxmlformats.org/officeDocument/2006/relationships/slide" Target="/ppt/slides/slide3.xml" Id="Rb12b4c6c26314dd7" /><Relationship Type="http://schemas.openxmlformats.org/officeDocument/2006/relationships/slide" Target="/ppt/slides/slide4.xml" Id="Rbe1076444b3149c0" /><Relationship Type="http://schemas.openxmlformats.org/officeDocument/2006/relationships/slide" Target="/ppt/slides/slide5.xml" Id="R2d1a4233162f4f1a" /><Relationship Type="http://schemas.openxmlformats.org/officeDocument/2006/relationships/slide" Target="/ppt/slides/slide6.xml" Id="R1d618c2a77b54a82" /><Relationship Type="http://schemas.openxmlformats.org/officeDocument/2006/relationships/slide" Target="/ppt/slides/slide7.xml" Id="R06020f7a423e4061" /><Relationship Type="http://schemas.openxmlformats.org/officeDocument/2006/relationships/slide" Target="/ppt/slides/slide8.xml" Id="R31ca743ad0cc490d" /><Relationship Type="http://schemas.openxmlformats.org/officeDocument/2006/relationships/slide" Target="/ppt/slides/slide9.xml" Id="Rfaa09d943e604ce9" /><Relationship Type="http://schemas.openxmlformats.org/officeDocument/2006/relationships/slide" Target="/ppt/slides/slide10.xml" Id="Rc0c7640465414863" /><Relationship Type="http://schemas.openxmlformats.org/officeDocument/2006/relationships/slide" Target="/ppt/slides/slide11.xml" Id="R4cf9d8dd09f14283" /><Relationship Type="http://schemas.openxmlformats.org/officeDocument/2006/relationships/slide" Target="/ppt/slides/slide12.xml" Id="R7e3efffc29d749dd" /><Relationship Type="http://schemas.openxmlformats.org/officeDocument/2006/relationships/slide" Target="/ppt/slides/slide13.xml" Id="R515673e6f34242d6" /><Relationship Type="http://schemas.openxmlformats.org/officeDocument/2006/relationships/slide" Target="/ppt/slides/slide14.xml" Id="Rfc1bf62092d34388" /><Relationship Type="http://schemas.openxmlformats.org/officeDocument/2006/relationships/slide" Target="/ppt/slides/slide15.xml" Id="R05c19627de404e2d" /><Relationship Type="http://schemas.openxmlformats.org/officeDocument/2006/relationships/slide" Target="/ppt/slides/slide16.xml" Id="Ra0c6d999d3a148c3" /><Relationship Type="http://schemas.openxmlformats.org/officeDocument/2006/relationships/slide" Target="/ppt/slides/slide17.xml" Id="R0dd0a2f7118f44be" /><Relationship Type="http://schemas.openxmlformats.org/officeDocument/2006/relationships/slide" Target="/ppt/slides/slide18.xml" Id="R27a294306de94932" /><Relationship Type="http://schemas.openxmlformats.org/officeDocument/2006/relationships/slide" Target="/ppt/slides/slide19.xml" Id="Rae80480d490e4bed" /><Relationship Type="http://schemas.openxmlformats.org/officeDocument/2006/relationships/slide" Target="/ppt/slides/slide20.xml" Id="Rdfa4c4d6c30c4b62" /><Relationship Type="http://schemas.openxmlformats.org/officeDocument/2006/relationships/slide" Target="/ppt/slides/slide21.xml" Id="R1a1620f07a8e4bec" /><Relationship Type="http://schemas.openxmlformats.org/officeDocument/2006/relationships/slide" Target="/ppt/slides/slide22.xml" Id="R6489e176629a405d" /><Relationship Type="http://schemas.openxmlformats.org/officeDocument/2006/relationships/slide" Target="/ppt/slides/slide23.xml" Id="Re6f383ce7f5b4a50" /><Relationship Type="http://schemas.openxmlformats.org/officeDocument/2006/relationships/slide" Target="/ppt/slides/slide24.xml" Id="Rc9cd409410874708" /><Relationship Type="http://schemas.openxmlformats.org/officeDocument/2006/relationships/slide" Target="/ppt/slides/slide25.xml" Id="R349e2afc68764e46" /><Relationship Type="http://schemas.openxmlformats.org/officeDocument/2006/relationships/slide" Target="/ppt/slides/slide26.xml" Id="R759001efabc04625" /><Relationship Type="http://schemas.openxmlformats.org/officeDocument/2006/relationships/slide" Target="/ppt/slides/slide27.xml" Id="Ree9b38dea3e74942" /><Relationship Type="http://schemas.openxmlformats.org/officeDocument/2006/relationships/slide" Target="/ppt/slides/slide28.xml" Id="R8f5d0b345fbf4692" /><Relationship Type="http://schemas.openxmlformats.org/officeDocument/2006/relationships/slide" Target="/ppt/slides/slide29.xml" Id="R4f0ef547ef8347ec" /><Relationship Type="http://schemas.openxmlformats.org/officeDocument/2006/relationships/slide" Target="/ppt/slides/slide30.xml" Id="R7194f74223284f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790f72d89348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a3ceaef2034396" /><Relationship Type="http://schemas.openxmlformats.org/officeDocument/2006/relationships/notesMaster" Target="/ppt/notesMasters/notesMaster1.xml" Id="R049c7fc392834a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534363e9824755" /><Relationship Type="http://schemas.openxmlformats.org/officeDocument/2006/relationships/notesMaster" Target="/ppt/notesMasters/notesMaster1.xml" Id="R42a90269a72c4d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7659cdb89e4e7a" /><Relationship Type="http://schemas.openxmlformats.org/officeDocument/2006/relationships/notesMaster" Target="/ppt/notesMasters/notesMaster1.xml" Id="Rdeaa23d0583344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2ec8afb816458b" /><Relationship Type="http://schemas.openxmlformats.org/officeDocument/2006/relationships/notesMaster" Target="/ppt/notesMasters/notesMaster1.xml" Id="R9315d140ff5840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3dd596a9bf4d73" /><Relationship Type="http://schemas.openxmlformats.org/officeDocument/2006/relationships/notesMaster" Target="/ppt/notesMasters/notesMaster1.xml" Id="R424ee5bcd27a4b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5fc532034946c7" /><Relationship Type="http://schemas.openxmlformats.org/officeDocument/2006/relationships/notesMaster" Target="/ppt/notesMasters/notesMaster1.xml" Id="R4a889c9fd6d343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6d4843488e4bec" /><Relationship Type="http://schemas.openxmlformats.org/officeDocument/2006/relationships/notesMaster" Target="/ppt/notesMasters/notesMaster1.xml" Id="Rdeaae3260e18494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9118babbf154932" /><Relationship Type="http://schemas.openxmlformats.org/officeDocument/2006/relationships/notesMaster" Target="/ppt/notesMasters/notesMaster1.xml" Id="Rdc9d52b721f5481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61f73b055654201" /><Relationship Type="http://schemas.openxmlformats.org/officeDocument/2006/relationships/notesMaster" Target="/ppt/notesMasters/notesMaster1.xml" Id="Ref5c5fe9085f4f7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517d30d0dd54020" /><Relationship Type="http://schemas.openxmlformats.org/officeDocument/2006/relationships/notesMaster" Target="/ppt/notesMasters/notesMaster1.xml" Id="R9b66364de913451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ffedd777e284a93" /><Relationship Type="http://schemas.openxmlformats.org/officeDocument/2006/relationships/notesMaster" Target="/ppt/notesMasters/notesMaster1.xml" Id="R5eb4f77ebd1644b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f07add44b9c4e21" /><Relationship Type="http://schemas.openxmlformats.org/officeDocument/2006/relationships/notesMaster" Target="/ppt/notesMasters/notesMaster1.xml" Id="R788540325626483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7957a8d0eff4203" /><Relationship Type="http://schemas.openxmlformats.org/officeDocument/2006/relationships/notesMaster" Target="/ppt/notesMasters/notesMaster1.xml" Id="R09cbefd771af4c4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859e0bd4bef44de" /><Relationship Type="http://schemas.openxmlformats.org/officeDocument/2006/relationships/notesMaster" Target="/ppt/notesMasters/notesMaster1.xml" Id="Re8d6d5c0adc54c4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6ddfedac81a495f" /><Relationship Type="http://schemas.openxmlformats.org/officeDocument/2006/relationships/notesMaster" Target="/ppt/notesMasters/notesMaster1.xml" Id="R595bd932faee4d9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ba7b98bac7e4ae0" /><Relationship Type="http://schemas.openxmlformats.org/officeDocument/2006/relationships/notesMaster" Target="/ppt/notesMasters/notesMaster1.xml" Id="Rc16983c494c0409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582569fd091417e" /><Relationship Type="http://schemas.openxmlformats.org/officeDocument/2006/relationships/notesMaster" Target="/ppt/notesMasters/notesMaster1.xml" Id="Rde2b3271b285475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da49c45028c4054" /><Relationship Type="http://schemas.openxmlformats.org/officeDocument/2006/relationships/notesMaster" Target="/ppt/notesMasters/notesMaster1.xml" Id="R47033972738b473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ad11efbbeba464f" /><Relationship Type="http://schemas.openxmlformats.org/officeDocument/2006/relationships/notesMaster" Target="/ppt/notesMasters/notesMaster1.xml" Id="R452327dde5af48f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8eac9d664ef4415" /><Relationship Type="http://schemas.openxmlformats.org/officeDocument/2006/relationships/notesMaster" Target="/ppt/notesMasters/notesMaster1.xml" Id="Rff04b74622994a2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e894c482bcc41d6" /><Relationship Type="http://schemas.openxmlformats.org/officeDocument/2006/relationships/notesMaster" Target="/ppt/notesMasters/notesMaster1.xml" Id="R93b0f3981f4d4e2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775519fa2cd4294" /><Relationship Type="http://schemas.openxmlformats.org/officeDocument/2006/relationships/notesMaster" Target="/ppt/notesMasters/notesMaster1.xml" Id="R71de6def824d4f8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45e736f0a0e413b" /><Relationship Type="http://schemas.openxmlformats.org/officeDocument/2006/relationships/notesMaster" Target="/ppt/notesMasters/notesMaster1.xml" Id="R2d57a5811d164f5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447f384bc024945" /><Relationship Type="http://schemas.openxmlformats.org/officeDocument/2006/relationships/notesMaster" Target="/ppt/notesMasters/notesMaster1.xml" Id="Rd2f2ae143efb4dc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6ce8ea46eba482a" /><Relationship Type="http://schemas.openxmlformats.org/officeDocument/2006/relationships/notesMaster" Target="/ppt/notesMasters/notesMaster1.xml" Id="R39c3e1936a674da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c14fe44b9644f87" /><Relationship Type="http://schemas.openxmlformats.org/officeDocument/2006/relationships/notesMaster" Target="/ppt/notesMasters/notesMaster1.xml" Id="R951d5b39265740e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0684cef27214263" /><Relationship Type="http://schemas.openxmlformats.org/officeDocument/2006/relationships/notesMaster" Target="/ppt/notesMasters/notesMaster1.xml" Id="R4362c915acb6491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d2ca88082244392" /><Relationship Type="http://schemas.openxmlformats.org/officeDocument/2006/relationships/notesMaster" Target="/ppt/notesMasters/notesMaster1.xml" Id="R1fa7ed8058f948d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2738788057943cb" /><Relationship Type="http://schemas.openxmlformats.org/officeDocument/2006/relationships/notesMaster" Target="/ppt/notesMasters/notesMaster1.xml" Id="R0530550e1a22443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fdd521e5652456f" /><Relationship Type="http://schemas.openxmlformats.org/officeDocument/2006/relationships/notesMaster" Target="/ppt/notesMasters/notesMaster1.xml" Id="R403465ff49fc46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 외부 사실과 작성자의 사업 제안/가설을 구분함. 목표 수치는 실적이나 확정 사업계획이 아님.</a:t>
            </a:r>
          </a:p>
          <a:p xmlns:a="http://schemas.openxmlformats.org/drawingml/2006/main">
            <a:r>
              <a:t>공유 대화 · 기술 통합 방안 논의</a:t>
            </a:r>
          </a:p>
          <a:p xmlns:a="http://schemas.openxmlformats.org/drawingml/2006/main">
            <a:r>
              <a:t>https://chatgpt.com/share/6abc9e1d-4f6c-83ee-b30e-1eafc9fbbf7c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 외부 사실과 작성자의 사업 제안/가설을 구분함. 목표 수치는 실적이나 확정 사업계획이 아님.</a:t>
            </a:r>
          </a:p>
          <a:p xmlns:a="http://schemas.openxmlformats.org/drawingml/2006/main">
            <a:r>
              <a:t>공유 대화 · 기술 통합 방안 논의</a:t>
            </a:r>
          </a:p>
          <a:p xmlns:a="http://schemas.openxmlformats.org/drawingml/2006/main">
            <a:r>
              <a:t>https://chatgpt.com/share/6abc9e1d-4f6c-83ee-b30e-1eafc9fbbf7c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Bundesnetzagentur · Dynamische Stromtarife</a:t>
            </a:r>
          </a:p>
          <a:p xmlns:a="http://schemas.openxmlformats.org/drawingml/2006/main">
            <a:r>
              <a:t>https://www.bundesnetzagentur.de/DE/Vportal/Energie/Vertragsarten/DynStromtarife/start.html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Ofgem · 2025 유연성 소비자 조사, 2026.05.22</a:t>
            </a:r>
          </a:p>
          <a:p xmlns:a="http://schemas.openxmlformats.org/drawingml/2006/main">
            <a:r>
              <a:t>https://www.ofgem.gov.uk/research/tracking-energy-consumers-use-low-carbon-and-flexible-products-and-services-2025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네덜란드 정부 · 2027년 상계제도 종료</a:t>
            </a:r>
          </a:p>
          <a:p xmlns:a="http://schemas.openxmlformats.org/drawingml/2006/main">
            <a:r>
              <a:t>https://www.rijksoverheid.nl/themas/klimaat-milieu-en-natuur/energie-thuis/salderingsregeling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 외부 사실과 작성자의 사업 제안/가설을 구분함. 목표 수치는 실적이나 확정 사업계획이 아님.</a:t>
            </a:r>
          </a:p>
          <a:p xmlns:a="http://schemas.openxmlformats.org/drawingml/2006/main">
            <a:r>
              <a:t>공유 대화 · 기술 통합 방안 논의</a:t>
            </a:r>
          </a:p>
          <a:p xmlns:a="http://schemas.openxmlformats.org/drawingml/2006/main">
            <a:r>
              <a:t>https://chatgpt.com/share/6abc9e1d-4f6c-83ee-b30e-1eafc9fbbf7c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 외부 사실과 작성자의 사업 제안/가설을 구분함. 목표 수치는 실적이나 확정 사업계획이 아님.</a:t>
            </a:r>
          </a:p>
          <a:p xmlns:a="http://schemas.openxmlformats.org/drawingml/2006/main">
            <a:r>
              <a:t>Bundesnetzagentur · Dynamische Stromtarife</a:t>
            </a:r>
          </a:p>
          <a:p xmlns:a="http://schemas.openxmlformats.org/drawingml/2006/main">
            <a:r>
              <a:t>https://www.bundesnetzagentur.de/DE/Vportal/Energie/Vertragsarten/DynStromtarife/start.html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Bundesnetzagentur · §14a 제어가능 부하</a:t>
            </a:r>
          </a:p>
          <a:p xmlns:a="http://schemas.openxmlformats.org/drawingml/2006/main">
            <a:r>
              <a:t>https://www.bundesnetzagentur.de/DE/Vportal/Energie/SteuerbareVBE/artikel.html?nn=779422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Ofgem · 2025 유연성 소비자 조사, 2026.05.22</a:t>
            </a:r>
          </a:p>
          <a:p xmlns:a="http://schemas.openxmlformats.org/drawingml/2006/main">
            <a:r>
              <a:t>https://www.ofgem.gov.uk/research/tracking-energy-consumers-use-low-carbon-and-flexible-products-and-services-2025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Enedis · 비첨두 시간대 개편, 2025.10.15</a:t>
            </a:r>
          </a:p>
          <a:p xmlns:a="http://schemas.openxmlformats.org/drawingml/2006/main">
            <a:r>
              <a:t>https://www.enedis.fr/presse/enedis-met-en-oeuvre-la-reforme-des-heures-creuses-pour-accompagner-les-nouveaux-usages-lies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네덜란드 정부 · 2027년 상계제도 종료</a:t>
            </a:r>
          </a:p>
          <a:p xmlns:a="http://schemas.openxmlformats.org/drawingml/2006/main">
            <a:r>
              <a:t>https://www.rijksoverheid.nl/themas/klimaat-milieu-en-natuur/energie-thuis/salderingsregeling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 외부 사실과 작성자의 사업 제안/가설을 구분함. 목표 수치는 실적이나 확정 사업계획이 아님.</a:t>
            </a:r>
          </a:p>
          <a:p xmlns:a="http://schemas.openxmlformats.org/drawingml/2006/main">
            <a:r>
              <a:t>호주 정부 · Solar PV and batteries</a:t>
            </a:r>
          </a:p>
          <a:p xmlns:a="http://schemas.openxmlformats.org/drawingml/2006/main">
            <a:r>
              <a:t>https://www.energy.gov.au/households/solar-pv-and-batteries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CPUC · Net Billing Tariff</a:t>
            </a:r>
          </a:p>
          <a:p xmlns:a="http://schemas.openxmlformats.org/drawingml/2006/main">
            <a:r>
              <a:t>https://www.cpuc.ca.gov/industries-and-topics/electrical-energy/demand-side-management/customer-generation/nem-revisit/net-billing-tariff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DEWA · Cooling</a:t>
            </a:r>
          </a:p>
          <a:p xmlns:a="http://schemas.openxmlformats.org/drawingml/2006/main">
            <a:r>
              <a:t>https://www.dewa.gov.ae/en/consumer/sustainability/sustainability-and-conservation/cooling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통계청 · 2024 인구주택총조사, 표 36</a:t>
            </a:r>
          </a:p>
          <a:p xmlns:a="http://schemas.openxmlformats.org/drawingml/2006/main">
            <a:r>
              <a:t>https://www.kostat.go.kr/boardDownload.es?bid=203&amp;list_no=437767&amp;seq=3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Eskom · 전력계통 현황, 2026.09.25</a:t>
            </a:r>
          </a:p>
          <a:p xmlns:a="http://schemas.openxmlformats.org/drawingml/2006/main">
            <a:r>
              <a:t>https://www.eskom.co.za/eskom-achieves-weekly-eaf-of-70-and-year-to-date-eaf-of-68-06-emissions-reduction-target-surpassed-diesel-costs-fall-by-r4-8-billion-year-on-year-and-load-reduction-further-reduced-from-1-69-million/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 외부 사실과 작성자의 사업 제안/가설을 구분함. 목표 수치는 실적이나 확정 사업계획이 아님.</a:t>
            </a:r>
          </a:p>
          <a:p xmlns:a="http://schemas.openxmlformats.org/drawingml/2006/main">
            <a:r>
              <a:t>Bundesnetzagentur · Dynamische Stromtarife</a:t>
            </a:r>
          </a:p>
          <a:p xmlns:a="http://schemas.openxmlformats.org/drawingml/2006/main">
            <a:r>
              <a:t>https://www.bundesnetzagentur.de/DE/Vportal/Energie/Vertragsarten/DynStromtarife/start.html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Bundesnetzagentur · §14a 제어가능 부하</a:t>
            </a:r>
          </a:p>
          <a:p xmlns:a="http://schemas.openxmlformats.org/drawingml/2006/main">
            <a:r>
              <a:t>https://www.bundesnetzagentur.de/DE/Vportal/Energie/SteuerbareVBE/artikel.html?nn=779422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 외부 사실과 작성자의 사업 제안/가설을 구분함. 목표 수치는 실적이나 확정 사업계획이 아님.</a:t>
            </a:r>
          </a:p>
          <a:p xmlns:a="http://schemas.openxmlformats.org/drawingml/2006/main">
            <a:r>
              <a:t>Ofgem · 2025 유연성 소비자 조사, 2026.05.22</a:t>
            </a:r>
          </a:p>
          <a:p xmlns:a="http://schemas.openxmlformats.org/drawingml/2006/main">
            <a:r>
              <a:t>https://www.ofgem.gov.uk/research/tracking-energy-consumers-use-low-carbon-and-flexible-products-and-services-2025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Octopus · Heat pump FAQ</a:t>
            </a:r>
          </a:p>
          <a:p xmlns:a="http://schemas.openxmlformats.org/drawingml/2006/main">
            <a:r>
              <a:t>https://octopus.energy/heat-pump-FAQ/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 외부 사실과 작성자의 사업 제안/가설을 구분함. 목표 수치는 실적이나 확정 사업계획이 아님.</a:t>
            </a:r>
          </a:p>
          <a:p xmlns:a="http://schemas.openxmlformats.org/drawingml/2006/main">
            <a:r>
              <a:t>Enedis · 비첨두 시간대 개편, 2025.10.15</a:t>
            </a:r>
          </a:p>
          <a:p xmlns:a="http://schemas.openxmlformats.org/drawingml/2006/main">
            <a:r>
              <a:t>https://www.enedis.fr/presse/enedis-met-en-oeuvre-la-reforme-des-heures-creuses-pour-accompagner-les-nouveaux-usages-lies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네덜란드 정부 · 2027년 상계제도 종료</a:t>
            </a:r>
          </a:p>
          <a:p xmlns:a="http://schemas.openxmlformats.org/drawingml/2006/main">
            <a:r>
              <a:t>https://www.rijksoverheid.nl/themas/klimaat-milieu-en-natuur/energie-thuis/salderingsregeling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 외부 사실과 작성자의 사업 제안/가설을 구분함. 목표 수치는 실적이나 확정 사업계획이 아님.</a:t>
            </a:r>
          </a:p>
          <a:p xmlns:a="http://schemas.openxmlformats.org/drawingml/2006/main">
            <a:r>
              <a:t>CPUC · Net Billing Tariff</a:t>
            </a:r>
          </a:p>
          <a:p xmlns:a="http://schemas.openxmlformats.org/drawingml/2006/main">
            <a:r>
              <a:t>https://www.cpuc.ca.gov/industries-and-topics/electrical-energy/demand-side-management/customer-generation/nem-revisit/net-billing-tariff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호주 정부 · Solar PV and batteries</a:t>
            </a:r>
          </a:p>
          <a:p xmlns:a="http://schemas.openxmlformats.org/drawingml/2006/main">
            <a:r>
              <a:t>https://www.energy.gov.au/households/solar-pv-and-batteries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미국 DOE · Virtual Power Plants Projects</a:t>
            </a:r>
          </a:p>
          <a:p xmlns:a="http://schemas.openxmlformats.org/drawingml/2006/main">
            <a:r>
              <a:t>https://www.energy.gov/edf/virtual-power-plants-projects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 외부 사실과 작성자의 사업 제안/가설을 구분함. 목표 수치는 실적이나 확정 사업계획이 아님.</a:t>
            </a:r>
          </a:p>
          <a:p xmlns:a="http://schemas.openxmlformats.org/drawingml/2006/main">
            <a:r>
              <a:t>DEWA · Cooling</a:t>
            </a:r>
          </a:p>
          <a:p xmlns:a="http://schemas.openxmlformats.org/drawingml/2006/main">
            <a:r>
              <a:t>https://www.dewa.gov.ae/en/consumer/sustainability/sustainability-and-conservation/cooling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통계청 · 2024 인구주택총조사, 표 36</a:t>
            </a:r>
          </a:p>
          <a:p xmlns:a="http://schemas.openxmlformats.org/drawingml/2006/main">
            <a:r>
              <a:t>https://www.kostat.go.kr/boardDownload.es?bid=203&amp;list_no=437767&amp;seq=3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 외부 사실과 작성자의 사업 제안/가설을 구분함. 목표 수치는 실적이나 확정 사업계획이 아님.</a:t>
            </a:r>
          </a:p>
          <a:p xmlns:a="http://schemas.openxmlformats.org/drawingml/2006/main">
            <a:r>
              <a:t>SMA · Sunny Home Manager 2.0</a:t>
            </a:r>
          </a:p>
          <a:p xmlns:a="http://schemas.openxmlformats.org/drawingml/2006/main">
            <a:r>
              <a:t>https://www.sma.de/en/products/energy-management/sunny-home-manager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Tesla · Savings Mode</a:t>
            </a:r>
          </a:p>
          <a:p xmlns:a="http://schemas.openxmlformats.org/drawingml/2006/main">
            <a:r>
              <a:t>https://www.tesla.com/en_gb/support/energy/powerwall/mobile-app/savings-mode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Octopus · Heat pump FAQ</a:t>
            </a:r>
          </a:p>
          <a:p xmlns:a="http://schemas.openxmlformats.org/drawingml/2006/main">
            <a:r>
              <a:t>https://octopus.energy/heat-pump-FAQ/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Schneider · Residential products</a:t>
            </a:r>
          </a:p>
          <a:p xmlns:a="http://schemas.openxmlformats.org/drawingml/2006/main">
            <a:r>
              <a:t>https://www.se.com/us/en/work/products/residential-and-small-business/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 외부 사실과 작성자의 사업 제안/가설을 구분함. 목표 수치는 실적이나 확정 사업계획이 아님.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 외부 사실과 작성자의 사업 제안/가설을 구분함. 목표 수치는 실적이나 확정 사업계획이 아님.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 외부 사실과 작성자의 사업 제안/가설을 구분함. 목표 수치는 실적이나 확정 사업계획이 아님.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 외부 사실과 작성자의 사업 제안/가설을 구분함. 목표 수치는 실적이나 확정 사업계획이 아님.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 외부 사실과 작성자의 사업 제안/가설을 구분함. 목표 수치는 실적이나 확정 사업계획이 아님.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 외부 사실과 작성자의 사업 제안/가설을 구분함. 목표 수치는 실적이나 확정 사업계획이 아님.</a:t>
            </a:r>
          </a:p>
          <a:p xmlns:a="http://schemas.openxmlformats.org/drawingml/2006/main">
            <a:r>
              <a:t>공유 대화 · 기술 통합 방안 논의</a:t>
            </a:r>
          </a:p>
          <a:p xmlns:a="http://schemas.openxmlformats.org/drawingml/2006/main">
            <a:r>
              <a:t>https://chatgpt.com/share/6abc9e1d-4f6c-83ee-b30e-1eafc9fbbf7c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 외부 사실과 작성자의 사업 제안/가설을 구분함. 목표 수치는 실적이나 확정 사업계획이 아님.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 외부 사실과 작성자의 사업 제안/가설을 구분함. 목표 수치는 실적이나 확정 사업계획이 아님.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 외부 사실과 작성자의 사업 제안/가설을 구분함. 목표 수치는 실적이나 확정 사업계획이 아님.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 외부 사실과 작성자의 사업 제안/가설을 구분함. 목표 수치는 실적이나 확정 사업계획이 아님.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 외부 사실과 작성자의 사업 제안/가설을 구분함. 목표 수치는 실적이나 확정 사업계획이 아님.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 외부 사실과 작성자의 사업 제안/가설을 구분함. 목표 수치는 실적이나 확정 사업계획이 아님.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 외부 사실과 작성자의 사업 제안/가설을 구분함. 목표 수치는 실적이나 확정 사업계획이 아님.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 외부 사실과 작성자의 사업 제안/가설을 구분함. 목표 수치는 실적이나 확정 사업계획이 아님.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 외부 사실과 작성자의 사업 제안/가설을 구분함. 목표 수치는 실적이나 확정 사업계획이 아님.</a:t>
            </a:r>
          </a:p>
          <a:p xmlns:a="http://schemas.openxmlformats.org/drawingml/2006/main">
            <a:r>
              <a:t>공유 대화 · 기술 통합 방안 논의</a:t>
            </a:r>
          </a:p>
          <a:p xmlns:a="http://schemas.openxmlformats.org/drawingml/2006/main">
            <a:r>
              <a:t>https://chatgpt.com/share/6abc9e1d-4f6c-83ee-b30e-1eafc9fbbf7c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 외부 사실과 작성자의 사업 제안/가설을 구분함. 목표 수치는 실적이나 확정 사업계획이 아님.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 외부 사실과 작성자의 사업 제안/가설을 구분함. 목표 수치는 실적이나 확정 사업계획이 아님.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 외부 사실과 작성자의 사업 제안/가설을 구분함. 목표 수치는 실적이나 확정 사업계획이 아님.</a:t>
            </a:r>
          </a:p>
          <a:p xmlns:a="http://schemas.openxmlformats.org/drawingml/2006/main">
            <a:r>
              <a:t>공유 대화 · 기술 통합 방안 논의</a:t>
            </a:r>
          </a:p>
          <a:p xmlns:a="http://schemas.openxmlformats.org/drawingml/2006/main">
            <a:r>
              <a:t>https://chatgpt.com/share/6abc9e1d-4f6c-83ee-b30e-1eafc9fbbf7c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Bundesnetzagentur · Dynamische Stromtarife</a:t>
            </a:r>
          </a:p>
          <a:p xmlns:a="http://schemas.openxmlformats.org/drawingml/2006/main">
            <a:r>
              <a:t>https://www.bundesnetzagentur.de/DE/Vportal/Energie/Vertragsarten/DynStromtarife/start.html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Bundesnetzagentur · §14a 제어가능 부하</a:t>
            </a:r>
          </a:p>
          <a:p xmlns:a="http://schemas.openxmlformats.org/drawingml/2006/main">
            <a:r>
              <a:t>https://www.bundesnetzagentur.de/DE/Vportal/Energie/SteuerbareVBE/artikel.html?nn=779422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Ofgem · 2025 유연성 소비자 조사, 2026.05.22</a:t>
            </a:r>
          </a:p>
          <a:p xmlns:a="http://schemas.openxmlformats.org/drawingml/2006/main">
            <a:r>
              <a:t>https://www.ofgem.gov.uk/research/tracking-energy-consumers-use-low-carbon-and-flexible-products-and-services-2025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Enedis · 비첨두 시간대 개편, 2025.10.15</a:t>
            </a:r>
          </a:p>
          <a:p xmlns:a="http://schemas.openxmlformats.org/drawingml/2006/main">
            <a:r>
              <a:t>https://www.enedis.fr/presse/enedis-met-en-oeuvre-la-reforme-des-heures-creuses-pour-accompagner-les-nouveaux-usages-lies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네덜란드 정부 · 2027년 상계제도 종료</a:t>
            </a:r>
          </a:p>
          <a:p xmlns:a="http://schemas.openxmlformats.org/drawingml/2006/main">
            <a:r>
              <a:t>https://www.rijksoverheid.nl/themas/klimaat-milieu-en-natuur/energie-thuis/salderingsregeling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호주 정부 · Solar PV and batteries</a:t>
            </a:r>
          </a:p>
          <a:p xmlns:a="http://schemas.openxmlformats.org/drawingml/2006/main">
            <a:r>
              <a:t>https://www.energy.gov.au/households/solar-pv-and-batteries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CPUC · Net Billing Tariff</a:t>
            </a:r>
          </a:p>
          <a:p xmlns:a="http://schemas.openxmlformats.org/drawingml/2006/main">
            <a:r>
              <a:t>https://www.cpuc.ca.gov/industries-and-topics/electrical-energy/demand-side-management/customer-generation/nem-revisit/net-billing-tariff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조사 기준일: 2026-09-30. 외부 사실과 작성자의 사업 제안/가설을 구분함. 목표 수치는 실적이나 확정 사업계획이 아님.</a:t>
            </a:r>
          </a:p>
          <a:p xmlns:a="http://schemas.openxmlformats.org/drawingml/2006/main">
            <a:r>
              <a:t>DEWA · Cooling</a:t>
            </a:r>
          </a:p>
          <a:p xmlns:a="http://schemas.openxmlformats.org/drawingml/2006/main">
            <a:r>
              <a:t>https://www.dewa.gov.ae/en/consumer/sustainability/sustainability-and-conservation/cooling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통계청 · 2024 인구주택총조사, 표 36</a:t>
            </a:r>
          </a:p>
          <a:p xmlns:a="http://schemas.openxmlformats.org/drawingml/2006/main">
            <a:r>
              <a:t>https://www.kostat.go.kr/boardDownload.es?bid=203&amp;list_no=437767&amp;seq=3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Eskom · 전력계통 현황, 2026.09.25</a:t>
            </a:r>
          </a:p>
          <a:p xmlns:a="http://schemas.openxmlformats.org/drawingml/2006/main">
            <a:r>
              <a:t>https://www.eskom.co.za/eskom-achieves-weekly-eaf-of-70-and-year-to-date-eaf-of-68-06-emissions-reduction-target-surpassed-diesel-costs-fall-by-r4-8-billion-year-on-year-and-load-reduction-further-reduced-from-1-69-million/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미국 DOE · Virtual Power Plants Projects</a:t>
            </a:r>
          </a:p>
          <a:p xmlns:a="http://schemas.openxmlformats.org/drawingml/2006/main">
            <a:r>
              <a:t>https://www.energy.gov/edf/virtual-power-plants-projects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SMA · Sunny Home Manager 2.0</a:t>
            </a:r>
          </a:p>
          <a:p xmlns:a="http://schemas.openxmlformats.org/drawingml/2006/main">
            <a:r>
              <a:t>https://www.sma.de/en/products/energy-management/sunny-home-manager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Tesla · Savings Mode</a:t>
            </a:r>
          </a:p>
          <a:p xmlns:a="http://schemas.openxmlformats.org/drawingml/2006/main">
            <a:r>
              <a:t>https://www.tesla.com/en_gb/support/energy/powerwall/mobile-app/savings-mode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Octopus · Heat pump FAQ</a:t>
            </a:r>
          </a:p>
          <a:p xmlns:a="http://schemas.openxmlformats.org/drawingml/2006/main">
            <a:r>
              <a:t>https://octopus.energy/heat-pump-FAQ/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Schneider · Residential products</a:t>
            </a:r>
          </a:p>
          <a:p xmlns:a="http://schemas.openxmlformats.org/drawingml/2006/main">
            <a:r>
              <a:t>https://www.se.com/us/en/work/products/residential-and-small-business/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3d731c2d9047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5a5723fb9a4211" /><Relationship Type="http://schemas.openxmlformats.org/officeDocument/2006/relationships/slideLayout" Target="/ppt/slideLayouts/slideLayout1.xml" Id="R69f0c371d1dc42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f0c371d1dc42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6ffc2d82004573" /><Relationship Type="http://schemas.openxmlformats.org/officeDocument/2006/relationships/notesSlide" Target="/ppt/notesSlides/notesSlide1.xml" Id="Rd60880b760cb45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410406255d4117" /><Relationship Type="http://schemas.openxmlformats.org/officeDocument/2006/relationships/notesSlide" Target="/ppt/notesSlides/notesSlide2.xml" Id="Rd18ab47730a046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f0bd513239474c" /><Relationship Type="http://schemas.openxmlformats.org/officeDocument/2006/relationships/notesSlide" Target="/ppt/notesSlides/notesSlide3.xml" Id="R331f99a8abe64d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d1af141b7e4eb3" /><Relationship Type="http://schemas.openxmlformats.org/officeDocument/2006/relationships/notesSlide" Target="/ppt/notesSlides/notesSlide4.xml" Id="R265c04616f5546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eb99960c9042d8" /><Relationship Type="http://schemas.openxmlformats.org/officeDocument/2006/relationships/notesSlide" Target="/ppt/notesSlides/notesSlide5.xml" Id="R804a69e139624c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ab996dd06b4530" /><Relationship Type="http://schemas.openxmlformats.org/officeDocument/2006/relationships/notesSlide" Target="/ppt/notesSlides/notesSlide6.xml" Id="Rc01d20c5897946a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8b04902d6540d0" /><Relationship Type="http://schemas.openxmlformats.org/officeDocument/2006/relationships/notesSlide" Target="/ppt/notesSlides/notesSlide7.xml" Id="R4c5621bc54754a5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57d363abfa4f4f" /><Relationship Type="http://schemas.openxmlformats.org/officeDocument/2006/relationships/notesSlide" Target="/ppt/notesSlides/notesSlide8.xml" Id="Ra8a953218f3c464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6f9bb05feb4df1" /><Relationship Type="http://schemas.openxmlformats.org/officeDocument/2006/relationships/notesSlide" Target="/ppt/notesSlides/notesSlide9.xml" Id="R4116422f8af5476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09cd25f1ea4165" /><Relationship Type="http://schemas.openxmlformats.org/officeDocument/2006/relationships/notesSlide" Target="/ppt/notesSlides/notesSlide10.xml" Id="Rd105b6cb53cc4ee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6b8666c95943e0" /><Relationship Type="http://schemas.openxmlformats.org/officeDocument/2006/relationships/notesSlide" Target="/ppt/notesSlides/notesSlide11.xml" Id="Rbbdb0f1ea59340f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a77102ad3c47b5" /><Relationship Type="http://schemas.openxmlformats.org/officeDocument/2006/relationships/notesSlide" Target="/ppt/notesSlides/notesSlide12.xml" Id="R6796e7a2c6cd48a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aec120b7904ebd" /><Relationship Type="http://schemas.openxmlformats.org/officeDocument/2006/relationships/notesSlide" Target="/ppt/notesSlides/notesSlide13.xml" Id="Rf9584d074fb04ab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496b00dcbf4245" /><Relationship Type="http://schemas.openxmlformats.org/officeDocument/2006/relationships/notesSlide" Target="/ppt/notesSlides/notesSlide14.xml" Id="Rbd16b56727864e3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30c0e335dd477c" /><Relationship Type="http://schemas.openxmlformats.org/officeDocument/2006/relationships/notesSlide" Target="/ppt/notesSlides/notesSlide15.xml" Id="Re78d839e86f0458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f48e67f2304d5c" /><Relationship Type="http://schemas.openxmlformats.org/officeDocument/2006/relationships/notesSlide" Target="/ppt/notesSlides/notesSlide16.xml" Id="R554c9368eb0a45e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6548fb09e24e95" /><Relationship Type="http://schemas.openxmlformats.org/officeDocument/2006/relationships/notesSlide" Target="/ppt/notesSlides/notesSlide17.xml" Id="R58f1e89a268443e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a854d37248495e" /><Relationship Type="http://schemas.openxmlformats.org/officeDocument/2006/relationships/notesSlide" Target="/ppt/notesSlides/notesSlide18.xml" Id="R950616c5979f499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c6f99ca17c4ec1" /><Relationship Type="http://schemas.openxmlformats.org/officeDocument/2006/relationships/notesSlide" Target="/ppt/notesSlides/notesSlide19.xml" Id="R45457c49060049a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7cd57bba8249bf" /><Relationship Type="http://schemas.openxmlformats.org/officeDocument/2006/relationships/notesSlide" Target="/ppt/notesSlides/notesSlide20.xml" Id="Rc0e66e90aa63441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94dcc5230b46ac" /><Relationship Type="http://schemas.openxmlformats.org/officeDocument/2006/relationships/notesSlide" Target="/ppt/notesSlides/notesSlide21.xml" Id="Rd47794698f9147e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e048eb33ab4688" /><Relationship Type="http://schemas.openxmlformats.org/officeDocument/2006/relationships/notesSlide" Target="/ppt/notesSlides/notesSlide22.xml" Id="R64ff45097c3c476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54f39410604d82" /><Relationship Type="http://schemas.openxmlformats.org/officeDocument/2006/relationships/notesSlide" Target="/ppt/notesSlides/notesSlide23.xml" Id="Rd85cccb5af2c462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c3bde4a2d549c0" /><Relationship Type="http://schemas.openxmlformats.org/officeDocument/2006/relationships/notesSlide" Target="/ppt/notesSlides/notesSlide24.xml" Id="R7c7ee04442f6420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5f8250738b40a6" /><Relationship Type="http://schemas.openxmlformats.org/officeDocument/2006/relationships/notesSlide" Target="/ppt/notesSlides/notesSlide25.xml" Id="R04c5daaa6f284d9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2547612c284dc6" /><Relationship Type="http://schemas.openxmlformats.org/officeDocument/2006/relationships/notesSlide" Target="/ppt/notesSlides/notesSlide26.xml" Id="R57a9354fe50d4d0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4db59dcaf74ce7" /><Relationship Type="http://schemas.openxmlformats.org/officeDocument/2006/relationships/notesSlide" Target="/ppt/notesSlides/notesSlide27.xml" Id="R93f6956e2eda45f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af543f982842d6" /><Relationship Type="http://schemas.openxmlformats.org/officeDocument/2006/relationships/notesSlide" Target="/ppt/notesSlides/notesSlide28.xml" Id="Rf8fc3e5a105e4a4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d89bba1cc74c50" /><Relationship Type="http://schemas.openxmlformats.org/officeDocument/2006/relationships/notesSlide" Target="/ppt/notesSlides/notesSlide29.xml" Id="R5edf98acab404c4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200d705d794a92" /><Relationship Type="http://schemas.openxmlformats.org/officeDocument/2006/relationships/notesSlide" Target="/ppt/notesSlides/notesSlide30.xml" Id="Rdb3e9b5dd48f418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2C67F8-64BC-4166-BD81-76430067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1010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Energy Pack의 다음 성장 기회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5D6B18-1E90-43E7-8A9A-88B0B3CF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BB7C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9BB7CA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85A508-76CE-484E-9A46-5CB7AD80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BB7C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BB7CA"/>
                </a:solidFill>
                <a:latin typeface="Malgun Gothic"/>
                <a:ea typeface="Malgun Gothic"/>
                <a:cs typeface="Malgun Gothic"/>
              </a:rPr>
              <a:t>ENERGY PACK  /  신사업·신기술 검토  /  2026.09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133596-CAEF-4365-8586-45DDED50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62175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국가별 Pain Point에서 찾는</a:t>
            </a:r>
          </a:p>
          <a:p xmlns:a="http://schemas.openxmlformats.org/drawingml/2006/main">
            <a:pPr>
              <a:defRPr sz="4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2027–2028 신기술 과제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EA9B12-E95F-4E21-A835-A9AEE2F1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25767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BFD8DC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BFD8DC"/>
                </a:solidFill>
                <a:latin typeface="Malgun Gothic"/>
                <a:ea typeface="Malgun Gothic"/>
                <a:cs typeface="Malgun Gothic"/>
              </a:rPr>
              <a:t>설치 부담을 줄이고, 냉난방까지 제어하고,</a:t>
            </a:r>
          </a:p>
          <a:p xmlns:a="http://schemas.openxmlformats.org/drawingml/2006/main">
            <a:pPr>
              <a:defRPr sz="2250" b="0">
                <a:solidFill>
                  <a:srgbClr val="BFD8DC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BFD8DC"/>
                </a:solidFill>
                <a:latin typeface="Malgun Gothic"/>
                <a:ea typeface="Malgun Gothic"/>
                <a:cs typeface="Malgun Gothic"/>
              </a:rPr>
              <a:t>고객에게 남는 이익을 증명하는 사업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91A508-63C8-4151-9274-CC28DD2D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686425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5BB6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E5BB66"/>
                </a:solidFill>
                <a:latin typeface="Malgun Gothic"/>
                <a:ea typeface="Malgun Gothic"/>
                <a:cs typeface="Malgun Gothic"/>
              </a:rPr>
              <a:t>CTO 의사결정용 제안 초안</a:t>
            </a:r>
          </a:p>
        </p:txBody>
      </p:sp>
    </p:spTree>
    <p:extLst>
      <p:ext uri="{BB962C8B-B14F-4D97-AF65-F5344CB8AC3E}">
        <p14:creationId xmlns:p14="http://schemas.microsoft.com/office/powerpoint/2010/main" val="11446601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72F4FB-16C0-4C5D-8238-A59971A2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1010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추천: 독일·영국에서 2개 과제를 우선 검증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FA64DC-28F2-4410-82D1-27F61259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네덜란드를 후속 시장으로 준비하고, 7명은 공통 기술 개발에 집중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8D6EE9-7C58-420B-A13B-AAED7699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0240FD-1B41-40B1-8133-01050E80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ENERGY PACK  /  신사업·신기술 검토  /  2026.09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B15CAA-C81E-47A1-A133-922C6683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1081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과제 A  설치 자동화 모듈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FFFC0D-1B0E-42D5-A29E-1139DEEA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9080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혼합 제조사 기기의 연결·설정·검증을 자동화해 설치업체의 작업시간과 재방문을 줄인다.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E1FB87-771A-40D5-B82C-537C35A8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90900"/>
            <a:ext cx="1081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과제 B  냉난방 유연성 제어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492B7A-8A6B-4FAA-AEF1-42845C40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4810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쾌적함을 지키면서 히트펌프·급탕·ESS의 운전을 조정하고 실제 순편익을 입증한다.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D5FE89-68F7-4F4A-8807-63B4A236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1081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조건부 확장  정전 대응·전력시장 참여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77797-ACA7-4823-90F9-7C570D3D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0540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공통 기술을 확보한 뒤 미국·호주 파트너와 확장한다. 초기부터 모든 국가를 개발하지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5755678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EF29AC-4839-4E56-9E98-778DFFEA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1010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사업과 기술의 책임 범위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07F74F-528E-4E58-AEA0-A7BCE063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스마트 코티지는 적용 상품, Energy Pack은 판매 패키지, HEMS는 공통 제어 기술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F31A7D-D897-44AB-8D55-3ADA2561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4934A7-B3DA-45E8-90F5-E3403477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ENERGY PACK  /  신사업·신기술 검토  /  2026.09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57400"/>
          <a:ext xmlns:a="http://schemas.openxmlformats.org/drawingml/2006/main" cx="109728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238625"/>
                <a:gridCol w="4543425"/>
              </a:tblGrid>
              <a:tr h="802481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고객에게 파는 것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이번 과제의 기여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80248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스마트 코티지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주거 공간과 설비를 결합한 상품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에너지·스마트홈 통합 실증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0248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Energy Pack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PV·ESS·히트펌프 등 구성 상품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설치·운영 모듈로 판매 경쟁력 강화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</a:tr>
              <a:tr h="80248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HEMS 공통 기술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기기 연결, 에너지 운전, 운영 서비스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국가를 바꾸어도 재사용하는 기술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9D832C-70FE-464C-8787-E06C255D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89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미국 스마트 코티지 판매는 회의에서 제외한 범위. 미국 기회는 Energy Pack·기술 파트너십으로 별도 검토.</a:t>
            </a:r>
          </a:p>
        </p:txBody>
      </p:sp>
    </p:spTree>
    <p:extLst>
      <p:ext uri="{BB962C8B-B14F-4D97-AF65-F5344CB8AC3E}">
        <p14:creationId xmlns:p14="http://schemas.microsoft.com/office/powerpoint/2010/main" val="7784628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719806-9B19-413C-BABE-A7F3E8D9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1010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국가별 기회: 유럽 4개국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EF7E6A-D9AA-484D-B841-E9FC8B2C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공식 제도·소비자 조사에 근거한 문제와 사업 가설을 구분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F08DED-2524-4062-8EF2-AC025208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C75764-C74C-4E12-8B33-C17B86D1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ENERGY PACK  /  신사업·신기술 검토  /  2026.09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5740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095750"/>
                <a:gridCol w="4019550"/>
              </a:tblGrid>
              <a:tr h="7429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국가·대상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확인한 변화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지불 이유에 대한 가설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독일 / HP·EV 보유 주택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동적요금 제공 의무, §14a 제어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설치업체가 연동·검증 비용 지불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영국 / 전기난방·EV 가구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TOU 미가입자 중 전환 의향 17%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요금사업자가 절감 신뢰·운영을 구매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프랑스 / 급탕·전기난방 가구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2025–2027 비첨두 시간대 변경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기기 설정 변경을 원격으로 처리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네덜란드 / PV 보유 가구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2027.1.1 상계제도 종료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자가소비 확대를 위한 열부하 제어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3916CE-B1AD-42CC-B7B1-C62C1CD6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89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TOU: 시간대별 요금. 제도 변화가 곧 구매수요를 의미하지는 않으며, 지불 의향은 현지 검증 대상.</a:t>
            </a:r>
          </a:p>
        </p:txBody>
      </p:sp>
    </p:spTree>
    <p:extLst>
      <p:ext uri="{BB962C8B-B14F-4D97-AF65-F5344CB8AC3E}">
        <p14:creationId xmlns:p14="http://schemas.microsoft.com/office/powerpoint/2010/main" val="15216867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3929DB-772A-409E-A40A-20E647D6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1010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국가별 기회: 유럽 외 5개국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A4234A-5A95-4444-8E74-6F9EFA79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전국 평균보다 고객의 주거형태·설비·요금 계약이 중요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60474C-A563-4DA2-81DB-B8066175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32D25D-2710-46BB-8AD9-1A6BAC19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ENERGY PACK  /  신사업·신기술 검토  /  2026.09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57400"/>
          <a:ext xmlns:a="http://schemas.openxmlformats.org/drawingml/2006/main" cx="10972800" cy="3838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095750"/>
                <a:gridCol w="4019550"/>
              </a:tblGrid>
              <a:tr h="63976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국가·범위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확인한 배경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검증할 상품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63976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호주 / PV·배터리 보유 가구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2025.7부터 가정용 배터리 지원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배터리·냉난방 통합 운전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976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미국 / 캘리포니아 우선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NBT로 태양광 수출 보상 구조 변화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열부하·배터리 운전과 백업 잔량 관리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</a:tr>
              <a:tr h="63976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UAE / 개별 냉방 빌라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DEWA가 냉방 설정·운영 효율 강조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온습도 기반 쾌적 냉방 제어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976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한국 / 공동주택 사업자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2024년 전체 주택 중 아파트 65.3%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공용 설비·충전기 묶음 운영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</a:tr>
              <a:tr h="63976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남아공 / 지역 한정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2026.9.25 기준 497일 부하차단 없음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정전 상품은 지역 장애 수요부터 재확인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846289-F31A-4406-AC15-A8E9CDC7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89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남아공의 전국 순환 부하차단(loadshedding)과 지역 공급제한(load reduction)은 다른 현상.</a:t>
            </a:r>
          </a:p>
        </p:txBody>
      </p:sp>
    </p:spTree>
    <p:extLst>
      <p:ext uri="{BB962C8B-B14F-4D97-AF65-F5344CB8AC3E}">
        <p14:creationId xmlns:p14="http://schemas.microsoft.com/office/powerpoint/2010/main" val="20091601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830175-C2B1-426F-81DC-6286EC79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1010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독일: 설치업체의 복잡성을 줄이는 제품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C7BCAC-7C23-4F91-95A8-CB0058C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동적요금·히트펌프·EV·계통제어를 한 현장에서 다뤄야 하는 고객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EC6C97-74C4-4C85-81CF-8B624F08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F41B74-27AE-4757-B3DD-C326E8AF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ENERGY PACK  /  신사업·신기술 검토  /  2026.09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3A2B0F-F5B6-4EC4-9864-D0A7DF4C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521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고객과 기존 대안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A26A68-EA3D-452A-9F20-5FCB85F3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71775"/>
            <a:ext cx="5191125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지불자 후보: Energy Pack 설치업체·OEM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기존 대안: 기기별 앱과 매뉴얼,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이미 판매 중인 HEMS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문제 가설: 연결은 가능해도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배선·제어 권한·설정 검증이 번거롭다.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BCF5AD-A8C3-49BE-8054-F8283144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85975"/>
            <a:ext cx="521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제안: 설치 자동화 모듈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8BAACD-F110-44FB-9C96-7CBE48FE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71775"/>
            <a:ext cx="5191125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지원 기기를 발견하고 제어 능력을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승인된 지역 규칙으로 설정을 생성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통신·계측·계통 명령 시험 후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설치 완료 보고서를 자동 발급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1차 목표: 설정·검증 시간 50% 단축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3FB0B0-9264-49C0-AC25-42199635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89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§14a는 모든 가전 대상이 아님. 2024년 이후 신규 설치 등 적용 조건을 확인하며, 목표치는 제안값.</a:t>
            </a:r>
          </a:p>
        </p:txBody>
      </p:sp>
    </p:spTree>
    <p:extLst>
      <p:ext uri="{BB962C8B-B14F-4D97-AF65-F5344CB8AC3E}">
        <p14:creationId xmlns:p14="http://schemas.microsoft.com/office/powerpoint/2010/main" val="11926412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095D23-510D-41F4-93D8-8D645824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1010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영국: 절약 가능성과 실제 가입 사이의 간극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9F7A2F-97F9-4195-BF3D-E0D91048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Ofgem 2025 조사, 2026년 발표. 아래 두 비율은 모집단이 같지 않음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CC1A52-07B7-4486-8CAB-34FCD124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C605AE-A744-473C-A69D-BA89A3F7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ENERGY PACK  /  신사업·신기술 검토  /  2026.09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260A4-F132-4922-84A9-DEFDB43B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152650"/>
            <a:ext cx="4381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6150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49%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666301-9957-4E0F-962D-D586FDC6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4714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TOU가 비용을 줄일 수 있다고 보는 소비자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49CBB2-FFB2-456F-AB75-57FFF1E5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52650"/>
            <a:ext cx="44291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6150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17%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6BDF10-A335-40F7-A800-9FE8FA20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314700"/>
            <a:ext cx="4667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TOU 미가입자 중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향후 전환 의향이 있는 소비자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1860AC-3E14-4B7A-A808-97B9859A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38675"/>
            <a:ext cx="10572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제안: 절감 증명 + 쾌적함을 지키는 자동운전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8324B1-5B97-4DCF-A456-99D68B11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054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전력 소매사와 판매하고, 고객에게는 운전 전후 순편익·수수료·온도 이탈을 함께 공개</a:t>
            </a:r>
          </a:p>
        </p:txBody>
      </p:sp>
    </p:spTree>
    <p:extLst>
      <p:ext uri="{BB962C8B-B14F-4D97-AF65-F5344CB8AC3E}">
        <p14:creationId xmlns:p14="http://schemas.microsoft.com/office/powerpoint/2010/main" val="3260769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1076AF-2DA3-4350-9C30-570ED6DB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1010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프랑스·네덜란드: 제도 변화가 운전을 바꾼다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9D54C3-5810-443C-9E6C-A2F38CF5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요금 데이터 갱신만으로 끝내지 않고 급탕·냉난방 운전까지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43CDF1-B395-4DAB-B9E5-A4502A93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8CFEF5-7D60-4CF4-B56D-893C5EB3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ENERGY PACK  /  신사업·신기술 검토  /  2026.09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681990-7A6E-41DC-AC73-17F83FE7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521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프랑스  스케줄 변경 자동화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AFBA42-3F88-47AE-A236-2DE20335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71775"/>
            <a:ext cx="5191125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확인: 1,100만 고객의 비첨두 시간대가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2025.11–2027.10 순차 변경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대상: 고정 타이머로 급탕·난방하는 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제안: 공식 계약 정보를 확인한 뒤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기기 스케줄을 변경하고 결과 검증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요금 변경 대응은 지역화 기능으로 개발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CAFD88-69C9-4FC8-966F-99E6D478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85975"/>
            <a:ext cx="521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네덜란드  태양광을 열로 저장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D46876-A97D-43DB-BF70-9B4EBB8F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71775"/>
            <a:ext cx="5191125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확인: 2027.1.1 상계제도 종료 예정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대상: PV와 급탕탱크·HP 보유 가구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제안: 잉여 태양광으로 급탕·예열하고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필요한 경우 배터리와 함께 최적화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핵심 연구: 집별로 쓸 수 있는 열 유연성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AF8678-B8B5-4315-994F-DA7C8E50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89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자가소비 확대의 경제성은 수출 보상·수수료·열손실에 따라 달라짐. 배터리 구매를 전제하지 않음.</a:t>
            </a:r>
          </a:p>
        </p:txBody>
      </p:sp>
    </p:spTree>
    <p:extLst>
      <p:ext uri="{BB962C8B-B14F-4D97-AF65-F5344CB8AC3E}">
        <p14:creationId xmlns:p14="http://schemas.microsoft.com/office/powerpoint/2010/main" val="13061665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0E135B-EF22-4CF7-8394-9F9DEC5F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1010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미국·호주: 배터리의 돈벌이와 백업을 함께 관리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27F7CE-8847-4A66-A0D7-7B703FDE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설치된 배터리를 활용하되 현지 전력사업자를 통해 진입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D2DF2C-1475-4AF3-9E3C-0F607208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EDBC3A-A95F-4675-BB59-780A695D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ENERGY PACK  /  신사업·신기술 검토  /  2026.09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0F3A19-9DF5-4CE6-9A99-58D0FD19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521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미국  캘리포니아부터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334DF7-73C5-4B02-8F4F-0A065F7C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71775"/>
            <a:ext cx="5191125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확인: NBT는 2023.4.15 이후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연계 신청 고객에 적용하는 후속 제도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문제 가설: 수출·자가소비·백업 사이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운전 선택을 고객이 이해하기 어렵다.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제안: 배터리 잔량과 냉난방 부하를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함께 조절하는 백업 운전 모듈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6CC069-EB0D-4418-B9E9-CC188322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85975"/>
            <a:ext cx="521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호주  추가 배터리 설치 고객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7C189C-2129-4CA0-AC0A-E11420AA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71775"/>
            <a:ext cx="5191125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확인: 가정용 배터리 지원 제도 시행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문제 가설: 기존 PV·신규 배터리·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냉난방을 따로 운전한다.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제안: 설치 자동화와 통합 운전 제공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VPP 수익은 계약 확보 후에만 반영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BEB445-A41B-458D-A8FD-7B33F3D3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89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VPP: 여러 집의 유연한 전력자원을 묶는 가상발전소. 국가 전체가 단일 시장인 것으로 가정하지 않음.</a:t>
            </a:r>
          </a:p>
        </p:txBody>
      </p:sp>
    </p:spTree>
    <p:extLst>
      <p:ext uri="{BB962C8B-B14F-4D97-AF65-F5344CB8AC3E}">
        <p14:creationId xmlns:p14="http://schemas.microsoft.com/office/powerpoint/2010/main" val="3149380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C11139-A48B-457B-9ADB-D72751F2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1010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UAE·한국: 비용 부담자와 제어권자가 중요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02DFE4-F29A-4480-995D-4930F5CC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가정용 구독에 고정하지 않고 건물 운영·설비 판매 채널을 검토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36EB93-C9C6-49FF-9F9E-64B35565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A3A592-2DD5-4F3C-88C9-6729BACB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ENERGY PACK  /  신사업·신기술 검토  /  2026.09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AB12B2-435F-4B51-8111-20DB5F5E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521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UAE  개별 냉방 빌라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710FB1-285E-4FD9-87D5-55711489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71775"/>
            <a:ext cx="5191125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대상: 냉방비를 직접 부담하는 소유자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또는 다수 주택 운영사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제안: 습도·재실을 반영한 냉방과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설비 이상 감지를 묶어 판매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주의: 지역냉방 공동주택에는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같은 절감·제어 구조를 적용하기 어렵다.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E68AE1-8F97-4D61-B082-30D4231E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85975"/>
            <a:ext cx="521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한국  공동주택 운영사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1D0DE9-AB62-4061-BA2E-01F5F638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71775"/>
            <a:ext cx="5191125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대상: 건설사·관리사업자·임대 운영사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제안: 공용부 부하·EV 충전·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적용 가능한 냉난방 설비를 묶어 운영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입주민 개인 구독보다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설비 도입·운영 계약에서 비용 회수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계량·요금·의사결정 권한을 먼저 확인</a:t>
            </a:r>
          </a:p>
        </p:txBody>
      </p:sp>
    </p:spTree>
    <p:extLst>
      <p:ext uri="{BB962C8B-B14F-4D97-AF65-F5344CB8AC3E}">
        <p14:creationId xmlns:p14="http://schemas.microsoft.com/office/powerpoint/2010/main" val="17698138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194AA0-1E9A-440F-A64B-65EFF4B9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1010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경쟁 제품이 이미 제공하는 기능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961FA6-E809-483B-BD14-2071D1DF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자동운전·동적요금·전력 허브라는 이름만으로 신기술을 주장하기 어렵다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570C35-6319-40C2-9B36-F211934A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C5897A-D0E8-466B-8064-775989D3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ENERGY PACK  /  신사업·신기술 검토  /  2026.09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57400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4191000"/>
                <a:gridCol w="4114800"/>
              </a:tblGrid>
              <a:tr h="6953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경쟁 대안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공식 제품에서 확인한 기능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우리의 추가 검증 과제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SMA Home Manager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PV·배터리·HP·EV 및 요금 연동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혼합 기기 설치시간·재방문 감소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Tesla Powerwall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시간대별 가격 기반 충·방전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냉난방 포함 추가 순편익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Octopus Heat Pump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요금·전력망을 반영한 난방 운전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타 기기 조합에서의 성능·채널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Schneider Home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패널·태양광·배터리·충전 통합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기존주택 개조 비용·설치 범위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B80547-666F-4BE7-8062-005D9EB3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89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제품별 국가·모델·연동 조건이 다름. 경쟁사에 해당 기능이 없다고 단정하지 않고 동일 조건 실측으로 비교.</a:t>
            </a:r>
          </a:p>
        </p:txBody>
      </p:sp>
    </p:spTree>
    <p:extLst>
      <p:ext uri="{BB962C8B-B14F-4D97-AF65-F5344CB8AC3E}">
        <p14:creationId xmlns:p14="http://schemas.microsoft.com/office/powerpoint/2010/main" val="63893087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E32AAC-A210-44CD-B82C-9C05A796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1010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발굴한 신기술 후보 6개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6E4E66-A603-4D81-917D-E273E896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신규성은 연구 가설이며, 선행 특허·제품 비교를 통해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377E11-4EC3-4BFA-A0D1-91D4E512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09BD5C-AF15-4FDA-9700-F03CD05CE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ENERGY PACK  /  신사업·신기술 검토  /  2026.09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57400"/>
          <a:ext xmlns:a="http://schemas.openxmlformats.org/drawingml/2006/main" cx="10972800" cy="3962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5524500"/>
                <a:gridCol w="2495550"/>
              </a:tblGrid>
              <a:tr h="566057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후보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해결할 문제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우선 판단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56605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 설치 자동화 모듈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연결 후 설정·시험·재방문 비용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우선 개발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605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 열 유연성 제어 엔진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쾌적함 손실 없이 부하 이동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우선 개발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</a:tr>
              <a:tr h="56605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 백업 지속시간 관리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ESS 용량이 있어도 필요한 생활 유지 불확실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파트너와 후속 실증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605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 절감 증명·정산 엔진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효과를 믿기 어려워 유료 전환 지연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A·B의 필수 운영 기능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</a:tr>
              <a:tr h="56605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 교체형 전력 허브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기존주택 개조·배선·설치 비용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HW 파트너와 검토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605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 지역 규칙 자동 검증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국가별 요금·제어 규칙 오류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지역화 기반으로 개발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727739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0DD889-2D67-4749-B442-E798D452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1010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A. 설치 자동화: 연결 후 검증까지 제품화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A02A96-BF31-44DB-8A39-EEE7CDF1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판매 단위: 게이트웨이·계측 인터페이스·설치 SW 라이선스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1B1E39-8DD6-404F-AB5A-ACE76F69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E34D83-CC3A-4900-B458-1316755F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ENERGY PACK  /  신사업·신기술 검토  /  2026.09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846D05-3C55-49B6-9842-87C8FFB9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1081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새로 연구할 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C81BD6-4539-44E4-BC6D-DE43B826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9080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기기 설명 정보를 공통 형식으로 변환하고, 작은 시험 신호로 제어 방향·응답·계측 관계를 확인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6D6AD9-94E5-446E-95BC-121D792D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71850"/>
            <a:ext cx="1081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HW와 SW의 결합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D17247-FD60-4A7D-9F62-C876AB72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2905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통신 어댑터·계측 입력을 가진 모듈에 기기 발견, 설정 생성, 오류 진단, 시험 이력을 탑재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999750-E1C6-4C9E-B911-2E3ABC7B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10100"/>
            <a:ext cx="1081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검증 목표와 범위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5E43BE-14FB-4B58-B99B-E9988804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6730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지원 기기 10종의 설정·검증 시간 50% 단축, 지원 조합 자동 설정 성공률 95% 이상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64D11B-4C24-4C5B-ACF5-8B7DA2BE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89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목표치 제안. 전기 배선·안전검사는 전문가가 수행하며, “10분 설치”는 전체 전기공사 시간으로 주장하지 않음.</a:t>
            </a:r>
          </a:p>
        </p:txBody>
      </p:sp>
    </p:spTree>
    <p:extLst>
      <p:ext uri="{BB962C8B-B14F-4D97-AF65-F5344CB8AC3E}">
        <p14:creationId xmlns:p14="http://schemas.microsoft.com/office/powerpoint/2010/main" val="175307183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7284D5-C4EF-43F1-8941-FA6CA7B6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1010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B. 열 유연성: 집이 제공할 수 있는 전력 조절량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E0F909-899B-49C3-80E3-9290484D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판매 단위: 히트펌프·급탕·ESS 제어 기능과 전력사업자 연계 서비스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FB45D8-5065-4892-BF4D-F9F336F2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640131-8F43-430A-AD7A-05B1CF2C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ENERGY PACK  /  신사업·신기술 검토  /  2026.09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CCC1A4-1D3D-4B03-A4F8-51AC479F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1081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새로 연구할 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E9A52E-907D-433E-A55E-259628FA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9080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실측 온도·습도·기기 상태로 “얼마나 오래, 얼마나 줄여도 괜찮은지”를 지속 추정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57D175-38D6-444D-8620-96E29FCC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71850"/>
            <a:ext cx="1081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제어 방법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8D9DC4-E7F4-4D62-AE5D-0118B0E5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2905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열 상태 추정 + 불확실성을 반영한 예측제어 + 제품 운전 한계. 온라인 탐색은 안전 범위 안에서만 수행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7C303A-C9CB-4FE8-A8DE-27520060F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10100"/>
            <a:ext cx="1081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검증 목표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8396A8-FA3D-441C-978F-7AC7DD4F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6730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재실 중 고객 합의 온도 범위 유지율 95% 이상, 기존 운전 대비 피크 구간 평균 전력 20% 감소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C3ECCB-2AB7-429B-9164-77AD2082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89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목표치 제안. 요금 절감과 에너지 절감은 다름. 열손실·추가 소비를 포함한 순편익이 양수여야 출시.</a:t>
            </a:r>
          </a:p>
        </p:txBody>
      </p:sp>
    </p:spTree>
    <p:extLst>
      <p:ext uri="{BB962C8B-B14F-4D97-AF65-F5344CB8AC3E}">
        <p14:creationId xmlns:p14="http://schemas.microsoft.com/office/powerpoint/2010/main" val="130426803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6221C7-C66C-46A6-A5D8-4C37AF2D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1010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C·E. 백업 제어와 전력 허브는 선택적으로 확장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4CD194-B2A6-469B-A367-974B4A50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배터리 셀 신규 개발보다 기존 인증 전력장치와 가전 제어의 결합을 먼저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83BE16-9327-44FF-9F37-9BF45310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1AD8FD-D3D7-4AAF-AF81-B7CE81F2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ENERGY PACK  /  신사업·신기술 검토  /  2026.09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15C89C-BA2C-45E2-A786-00C05D08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521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C  백업 지속시간 관리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FBB6DC-C7B6-451A-95ED-4E8E3913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71775"/>
            <a:ext cx="5191125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고객이 보호할 냉장·조명·냉방을 선택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배터리 잔량·온도·부하별 운전 제약으로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지속시간과 불확실성 범위를 제시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목표: 동일 배터리로 중요부하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유지시간 20% 증가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정전 예측 자체를 판매 가치로 삼지 않음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56912C-254F-47C2-8735-0BD1B640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85975"/>
            <a:ext cx="521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E  교체형 전력 허브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918462-7580-43E1-A0A7-99DF4B1C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71775"/>
            <a:ext cx="5191125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기존 분전 구조에 적용 가능한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계측·제어 모듈을 인증사와 공동 설계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차단·계통 분리 기능은 인증 장치가 담당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목표: 배선·설치 공수 30% 단축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신규 배터리·인버터 전체 개발은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7명 과제의 초기 범위에서 제외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D3EEFA-644E-4CCD-A4CD-AE604C76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89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모든 수치는 실증 전 목표. 백업 전환 성능·부하 우선순위는 인증 HW 구성과 고객 계약에 종속.</a:t>
            </a:r>
          </a:p>
        </p:txBody>
      </p:sp>
    </p:spTree>
    <p:extLst>
      <p:ext uri="{BB962C8B-B14F-4D97-AF65-F5344CB8AC3E}">
        <p14:creationId xmlns:p14="http://schemas.microsoft.com/office/powerpoint/2010/main" val="73633026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6A902E-9D70-4C82-A4D5-5DB2A3F6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1010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공통 기술과 국가별 변경 영역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C04780-F454-4AED-BE47-D76D3F3F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AI 역할을 한정하고, 전력기기 실행은 검증된 제어 규칙으로 관리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4EB68F-0D69-477C-934B-0E3F8586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93D493-4B72-4EBE-B7A7-8A4434DC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ENERGY PACK  /  신사업·신기술 검토  /  2026.09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57400"/>
          <a:ext xmlns:a="http://schemas.openxmlformats.org/drawingml/2006/main" cx="109728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57625"/>
                <a:gridCol w="3714750"/>
                <a:gridCol w="3400425"/>
              </a:tblGrid>
              <a:tr h="7048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공통 개발 영역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국가별 변경 영역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원칙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기기 능력·상태의 공통 표현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지원 제조사·프로토콜·모델 목록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목록 밖 기기는 읽기만 또는 수동 검토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 상태 추정·안전 제약 제어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기후·건물·고객 쾌적 조건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제품 제어기의 보호 기능 우선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설정 생성·자동 시험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요금·계통 신호·인증 시험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승인한 버전만 배포·되돌리기 지원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순편익 측정·운영 기록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계약·정산 방식·개인정보 조건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기준선과 수수료를 함께 공개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E763FC-6260-42E5-AFA6-E6974175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89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언어모델은 문서 해석·설정 후보·진단 설명에 활용. 요금·규제를 임의 해석해 전력기기에 직접 명령하지 않음.</a:t>
            </a:r>
          </a:p>
        </p:txBody>
      </p:sp>
    </p:spTree>
    <p:extLst>
      <p:ext uri="{BB962C8B-B14F-4D97-AF65-F5344CB8AC3E}">
        <p14:creationId xmlns:p14="http://schemas.microsoft.com/office/powerpoint/2010/main" val="180509563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C32320-4CF0-4B4D-945F-91F082DB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1010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우리의 강점은 제품 제어 깊이로 입증해야 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9EECF0-D458-4370-9018-E617EB83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회의에 언급된 실증 경험은 활용하되 자료 확인 전 성과 수치를 확정하지 않음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42FB71-15BB-4E79-9CC0-924C9B57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711A32-1753-4061-89DF-B4FF192F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ENERGY PACK  /  신사업·신기술 검토  /  2026.09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24750-6B57-42D2-8488-2FD9B9CC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521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활용할 수 있는 자산 후보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091421-407A-4C86-8FE8-3661FF1D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71775"/>
            <a:ext cx="5191125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가전·히트펌프의 실제 제어 경험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제품 운전 제약과 내부 상태 데이터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설치·서비스 채널과 현장 데이터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자사 기기 깊은 제어 + 타사 기기 표준 연동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조합으로 차별화 가설 수립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CC5594-F471-43B6-B6B6-23C7132D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85975"/>
            <a:ext cx="521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CTO 보고 전 확보할 증거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E25205-5A56-4336-BDE2-D33858DE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71775"/>
            <a:ext cx="5191125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개발 완료 기술·적용 모델·완료 연도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실증 대상·기간·대조군·원시 로그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제품 내부 상태 접근 권한과 API 범위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자사 기기 / 표준 연동 / 경쟁 제품의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동일 조건 성능 차이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FDC537-08FA-4432-AC7E-A175AA42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89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“2~3년 기술 격차”는 현시점의 입증된 사실이 아님. 설치·제어 데이터와 시험 자산 축적을 목표로 설정.</a:t>
            </a:r>
          </a:p>
        </p:txBody>
      </p:sp>
    </p:spTree>
    <p:extLst>
      <p:ext uri="{BB962C8B-B14F-4D97-AF65-F5344CB8AC3E}">
        <p14:creationId xmlns:p14="http://schemas.microsoft.com/office/powerpoint/2010/main" val="84552675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5F8C53-D247-44F2-A0A6-A75FF86A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1010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시장 선택: 개발은 독일·영국, 후속은 네덜란드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CA890B-72C8-41AB-85F7-E7A1D8EA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공식 자료와 사업 구조를 바탕으로 한 정성 판단. 확정 시장 순위가 아님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4C60E8-2BE5-4B63-A29C-E2D5AE5E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66BFA6-B9D3-4F38-AFA4-BBA8DFD1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ENERGY PACK  /  신사업·신기술 검토  /  2026.09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57400"/>
          <a:ext xmlns:a="http://schemas.openxmlformats.org/drawingml/2006/main" cx="10972800" cy="34194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14600"/>
                <a:gridCol w="2114550"/>
                <a:gridCol w="2114550"/>
                <a:gridCol w="2114550"/>
                <a:gridCol w="2114550"/>
              </a:tblGrid>
              <a:tr h="68389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판단 기준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독일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영국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네덜란드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미국·호주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68389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구체적인 진입 계기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계통·요금 통합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가입·절감 신뢰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2027 상계 종료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배터리 운영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389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우리 제품과의 연결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높음 / HP·설치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높음 / HP·운영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조건부 / 열부하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조건부 / 제휴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</a:tr>
              <a:tr h="68389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우선 확보할 채널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설치업체·OEM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전력 소매사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PV·HP 설치업체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VPP·인버터 업체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389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초기 의사결정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1순위 현장 검증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1순위 현장 검증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공통 기술로 확장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계약 후 후속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AB2D68-92DD-4C63-B9C4-77B07283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89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채널 계약과 기기 접근 권한을 확보하지 못한 국가는 뒤로 미룸. 국가 수보다 유료 전환 근거를 우선.</a:t>
            </a:r>
          </a:p>
        </p:txBody>
      </p:sp>
    </p:spTree>
    <p:extLst>
      <p:ext uri="{BB962C8B-B14F-4D97-AF65-F5344CB8AC3E}">
        <p14:creationId xmlns:p14="http://schemas.microsoft.com/office/powerpoint/2010/main" val="134494721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31D61F-1DC3-4679-9AB5-2F681088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1010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수익 구조: 설치 모듈 판매와 운영 계약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1A40A1-631E-4695-9D59-C0A992C2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가정용 HEMS 단독 구독 외에도 지불자를 선택할 수 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58A177-866B-4F1A-B27A-3CECE22A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89B926-DDED-4EB0-A87A-81E2635E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ENERGY PACK  /  신사업·신기술 검토  /  2026.09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57400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3333750"/>
                <a:gridCol w="4400550"/>
              </a:tblGrid>
              <a:tr h="6953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상품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지불자 후보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왜 돈을 내는가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 자동화 모듈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설치업체·제품 OEM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작업시간·재방문 비용 감소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 유연성 제어 기능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HP·Energy Pack 사업부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제품 판매·가격 경쟁력 개선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운영·효과 측정 서비스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전력 소매사·주택 운영사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고객 유지·운영 비용·절감 신뢰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VPP 연계 기능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현지 집합사업자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검증 가능한 유연성 자원 확보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07E05F-9FAD-476E-AD79-79CE83EE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89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초기 매출에는 VPP 정산 수익·추가 가전 판매 효과를 제외. 실증 계약에서 지급 조건부터 검증.</a:t>
            </a:r>
          </a:p>
        </p:txBody>
      </p:sp>
    </p:spTree>
    <p:extLst>
      <p:ext uri="{BB962C8B-B14F-4D97-AF65-F5344CB8AC3E}">
        <p14:creationId xmlns:p14="http://schemas.microsoft.com/office/powerpoint/2010/main" val="139493846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819DD7-4F54-492D-A73D-606EAF74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1010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2028년 매출 시나리오: 기준안 31.8억원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A79B70-4B2D-4666-B339-FD754985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모든 물량·단가는 작성자 가정. 시장규모 추정이나 회사 사업계획이 아님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7C056D-AAD7-49D5-91AB-EAEEB4FB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743012-CF72-4652-BED2-A7F90299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ENERGY PACK  /  신사업·신기술 검토  /  2026.09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5740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1924050"/>
                <a:gridCol w="2143125"/>
                <a:gridCol w="2190750"/>
                <a:gridCol w="2190750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지역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 설치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모듈 매출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 매출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합계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독일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4,000호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12.00억원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0.72억원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12.72억원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영국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3,000호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9.00억원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0.54억원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9.54억원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네덜란드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3,000호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9.00억원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0.54억원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9.54억원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합계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10,000호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30.00억원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1.80억원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31.80억원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2C01EF-916F-4B11-82BE-7AA04F76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62625"/>
            <a:ext cx="1089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모듈 30만원/호, 운영 3.6만원/호·년. 연중 균등 설치로 평균 과금 0.5년. Energy Pack 본체 매출 제외.</a:t>
            </a:r>
          </a:p>
        </p:txBody>
      </p:sp>
    </p:spTree>
    <p:extLst>
      <p:ext uri="{BB962C8B-B14F-4D97-AF65-F5344CB8AC3E}">
        <p14:creationId xmlns:p14="http://schemas.microsoft.com/office/powerpoint/2010/main" val="71430561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E6CE37-4CA5-4E8E-AFC5-7101A381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1010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기준안은 연구개발비까지 회수하지 못한다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4B16E9-D25E-460F-B458-8F1579DD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물량 확대·원가 절감·기존 제품 사업 기여 중 최소 하나를 입증해야 지속 가능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E1B43B-6EBD-431A-8B2F-8846B05A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BDACCC-E1F5-4C15-8059-3C8349AD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ENERGY PACK  /  신사업·신기술 검토  /  2026.09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2057400"/>
          <a:ext xmlns:a="http://schemas.openxmlformats.org/drawingml/2006/main" cx="10972800" cy="31146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2266950"/>
                <a:gridCol w="2257425"/>
                <a:gridCol w="2257425"/>
              </a:tblGrid>
              <a:tr h="62293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2028년 가정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보수안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기준안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확장안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 설치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3,000호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10,000호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30,000호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증분 매출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9.54억원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31.80억원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95.40억원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변동비 차감 후 기여이익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3.06억원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10.20억원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30.60억원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가정 고정비 12.5억원 차감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−9.44억원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−2.30억원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18.10억원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86003A-7CFA-41CC-ABE7-A1ED700F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38775"/>
            <a:ext cx="1081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같은 가정의 손익분기: 연간 약 1.23만 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272C1B-3951-4526-A275-D10599EF5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89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모듈 변동비 21만원, 운영 변동비 연 1.2만원/호. 고정비: 7명×1.5억원+외부 실증·인증 2억원.</a:t>
            </a:r>
          </a:p>
        </p:txBody>
      </p:sp>
    </p:spTree>
    <p:extLst>
      <p:ext uri="{BB962C8B-B14F-4D97-AF65-F5344CB8AC3E}">
        <p14:creationId xmlns:p14="http://schemas.microsoft.com/office/powerpoint/2010/main" val="19694358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CB3A31-5AA1-4CFC-825B-71BE6AB5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1010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12주 검증: 사업성과 기술성을 함께 판정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AEEBA8-7B9B-47DD-A6DC-768D18E6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표본은 탐색 실증 규모이며, 출시 성능 검증은 2027년 계절 실증에서 확대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C5AD93-6C12-4379-BEDC-37639592E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6D01EA-AAA2-449E-AF3C-44A72D9E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ENERGY PACK  /  신사업·신기술 검토  /  2026.09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57400"/>
          <a:ext xmlns:a="http://schemas.openxmlformats.org/drawingml/2006/main" cx="109728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5391150"/>
                <a:gridCol w="3867150"/>
              </a:tblGrid>
              <a:tr h="73533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기간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수행 내용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계속할 조건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73533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1–3주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국가별 고객 10명·설치자 5명 인터뷰</a:t>
                      </a:r>
                    </a:p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기기 접근·데이터·요금 계약 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유료 실증 의향 파트너 2곳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3533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4–6주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지원 10기종 설치 시험</a:t>
                      </a:r>
                    </a:p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HEMS와 설정·검증 시간 비교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설정 시간 50% 감소 가능성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</a:tr>
              <a:tr h="73533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7–10주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독일·영국 각 10호 탐색 실증</a:t>
                      </a:r>
                    </a:p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교차 운전·고객 수동개입 기록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순편익 양수, 쾌적 조건 유지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3533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11–12주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가격·설치 공수·문의 비용 확인</a:t>
                      </a:r>
                    </a:p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계절 확대 실증과 제품화 판단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유료 계약 또는 명확한 구매 조건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5B2759-059E-4123-A4F4-1A753682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89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접근 권한 미확보·고객 순편익 음수·반복 안전 제약 위반이면 해당 기능 또는 시장 범위를 축소.</a:t>
            </a:r>
          </a:p>
        </p:txBody>
      </p:sp>
    </p:spTree>
    <p:extLst>
      <p:ext uri="{BB962C8B-B14F-4D97-AF65-F5344CB8AC3E}">
        <p14:creationId xmlns:p14="http://schemas.microsoft.com/office/powerpoint/2010/main" val="153334245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08821C-350C-4F78-B5D9-060B7B92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1010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2026년 말부터 2028년까지의 개발 로드맵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A67EDD-B8B6-4502-A4F9-89E65B0A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기존 기술 적용과 새 연구 과제를 분리하고, 연차별 중단 기준을 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8C0842-38E5-471C-8688-0B341B1D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CFE0BA-C001-46C2-B140-522B1C2B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ENERGY PACK  /  신사업·신기술 검토  /  2026.09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57400"/>
          <a:ext xmlns:a="http://schemas.openxmlformats.org/drawingml/2006/main" cx="1097280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09800"/>
                <a:gridCol w="5476875"/>
                <a:gridCol w="3286125"/>
              </a:tblGrid>
              <a:tr h="7334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시기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제품·연구 결과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 검증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2026년 4분기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기술 목록·원시 실증 확인</a:t>
                      </a:r>
                    </a:p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국가별 파트너·유료 실증 설계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 공수·구매자 문제 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2027년 상반기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 모듈 시제품, 10기종 지원</a:t>
                      </a:r>
                    </a:p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 유연성 제어 초기 모델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12주 탐색 실증과 유료 계약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2027년 하반기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총 100호 목표 계절 실증</a:t>
                      </a:r>
                    </a:p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설계·경쟁 제품 비교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반복 설치 원가·순편익 검증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2028년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검증 통과 시 제품화·국가 확장</a:t>
                      </a:r>
                    </a:p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백업·VPP 기능은 파트너와 추가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 1만 호 기준안을 계약으로 검증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720728-850B-4C90-A14A-3B4DEFA8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89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100호·1만 호는 계획 가정. 현장 모집과 인증 일정에 따라 단계 전환. 완료 연도는 내부 자료로 확정.</a:t>
            </a:r>
          </a:p>
        </p:txBody>
      </p:sp>
    </p:spTree>
    <p:extLst>
      <p:ext uri="{BB962C8B-B14F-4D97-AF65-F5344CB8AC3E}">
        <p14:creationId xmlns:p14="http://schemas.microsoft.com/office/powerpoint/2010/main" val="196001287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58BFB3-F966-480C-96B2-8EEDD247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1010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7명 투입안: 두 과제에 공통 인력을 배치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F5E937-6D83-47F9-A166-56C44A23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전력장치 전체 개발·국가별 영업·인증을 연구인력 7명이 모두 맡지 않는다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91009D-F512-4DFB-BB7D-0322563B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88E8D6-AE20-4053-8868-1C627138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ENERGY PACK  /  신사업·신기술 검토  /  2026.09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57400"/>
          <a:ext xmlns:a="http://schemas.openxmlformats.org/drawingml/2006/main" cx="1097280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38625"/>
                <a:gridCol w="1333500"/>
                <a:gridCol w="5400675"/>
              </a:tblGrid>
              <a:tr h="6111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인원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책임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PL·제품/파트너 요구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범위·사업 지표·파트너 계약 조건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기기 연동·설치 자동화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2명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프로토콜, 설정·시험, 오류 진단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 상태 추정·제어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제품 운전 제약, 유연성 추정, 순편익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임베디드·HW 인터페이스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1명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게이트웨이·계측·인증사 기술 연계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</a:tr>
              <a:tr h="6111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실증·평가·데이터 품질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대조 실험, 현장 로그, 비교 검증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341AD5-283C-4817-A72D-460C47A8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89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사업부: 영업·기기 접근 / 현지 파트너: 설치·정산 / 인증사: 전기 안전·전파. 역할·비용 합의가 착수 조건.</a:t>
            </a:r>
          </a:p>
        </p:txBody>
      </p:sp>
    </p:spTree>
    <p:extLst>
      <p:ext uri="{BB962C8B-B14F-4D97-AF65-F5344CB8AC3E}">
        <p14:creationId xmlns:p14="http://schemas.microsoft.com/office/powerpoint/2010/main" val="165099074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109ABB-F40E-4D6B-AC62-B222D155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1010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이번 보고에서 결정할 세 가지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C0F21E-C7A0-4D3F-BD48-A465BFF8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5D8E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C5D8E7"/>
                </a:solidFill>
                <a:latin typeface="Malgun Gothic"/>
                <a:ea typeface="Malgun Gothic"/>
                <a:cs typeface="Malgun Gothic"/>
              </a:rPr>
              <a:t>확인되지 않은 시장규모보다 검증할 고객·기술·중단 기준을 먼저 합의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551A7C-0A02-4CF8-9DC3-48DC4574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BB7C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9BB7CA"/>
                </a:solidFill>
                <a:latin typeface="Malgun Gothic"/>
                <a:ea typeface="Malgun Gothic"/>
                <a:cs typeface="Malgun Gothic"/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360B24-B841-4F43-92AC-C2F54E74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BB7C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BB7CA"/>
                </a:solidFill>
                <a:latin typeface="Malgun Gothic"/>
                <a:ea typeface="Malgun Gothic"/>
                <a:cs typeface="Malgun Gothic"/>
              </a:rPr>
              <a:t>ENERGY PACK  /  신사업·신기술 검토  /  2026.09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F114F4-0EB4-4581-B45A-65DDA76B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1081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5BB6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E5BB66"/>
                </a:solidFill>
                <a:latin typeface="Malgun Gothic"/>
                <a:ea typeface="Malgun Gothic"/>
                <a:cs typeface="Malgun Gothic"/>
              </a:rPr>
              <a:t>집중 범위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44CCA5-1D13-409A-B557-EF5F9ACC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9080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독일·영국에서 설치 자동화와 열 유연성을 검증하고 네덜란드는 확장 시장으로 준비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5CEE7A-199C-487F-9F2B-765767FB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00425"/>
            <a:ext cx="1081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5BB6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E5BB66"/>
                </a:solidFill>
                <a:latin typeface="Malgun Gothic"/>
                <a:ea typeface="Malgun Gothic"/>
                <a:cs typeface="Malgun Gothic"/>
              </a:rPr>
              <a:t>투입 조건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CE1AD2-CF4C-4850-B863-3E03C84C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57625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7명 역할 배치, 제품 API·실측 데이터 접근, 현지 실증 파트너 확보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B4FACC-719D-41B9-AA59-6670E1E4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67250"/>
            <a:ext cx="1081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5BB66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E5BB66"/>
                </a:solidFill>
                <a:latin typeface="Malgun Gothic"/>
                <a:ea typeface="Malgun Gothic"/>
                <a:cs typeface="Malgun Gothic"/>
              </a:rPr>
              <a:t>12주 뒤 판단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A579AE-1079-4D9A-A422-D6768A9E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2445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유료 구매 의향·설치 공수·추가 순편익으로 확대 또는 축소를 결정</a:t>
            </a:r>
          </a:p>
        </p:txBody>
      </p:sp>
    </p:spTree>
    <p:extLst>
      <p:ext uri="{BB962C8B-B14F-4D97-AF65-F5344CB8AC3E}">
        <p14:creationId xmlns:p14="http://schemas.microsoft.com/office/powerpoint/2010/main" val="7351504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524BAB-A165-4187-9A6B-84D4FF51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1010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부록: 재사용·지역화·신규 연구 구분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48FB46-30F2-4CE3-8932-BE9607CA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Digital Twin과 예측 정확도 개선은 이번 신규 과제의 주제로 선정하지 않음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ED1393-7CB7-468F-8A74-DF2FB369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505D26-6B6A-4703-AC96-B45A6658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ENERGY PACK  /  신사업·신기술 검토  /  2026.09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57400"/>
          <a:ext xmlns:a="http://schemas.openxmlformats.org/drawingml/2006/main" cx="10972800" cy="3590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4572000"/>
                <a:gridCol w="3638550"/>
              </a:tblGrid>
              <a:tr h="71818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내용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확인·개발 과제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71818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기술 재사용 후보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PV·부하 예측, ESS 스케줄링</a:t>
                      </a:r>
                    </a:p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HVAC·가전 제어, 기존 실증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연도·모델·실측 근거 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818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국가별 지역화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요금 API, 계통 신호, 기기 목록</a:t>
                      </a:r>
                    </a:p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인증·계약·정산 규칙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공식 데이터와 버전 관리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</a:tr>
              <a:tr h="71818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 연구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혼합 기기 자동 검증</a:t>
                      </a:r>
                    </a:p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 유연성 추정과 안전 제어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제품 대비 시간·순편익 입증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818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확장 후보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백업 지속시간·전력 허브</a:t>
                      </a:r>
                    </a:p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VPP 운영·정산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파트너·인증·계약 조건 확보</a:t>
                      </a:r>
                    </a:p>
                  </a:txBody>
                  <a:tcPr marL="91440" marR="91440" marT="45720" marB="45720">
                    <a:solidFill>
                      <a:srgbClr val="EAF0E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649947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3FAA5D-D534-4D7B-869D-3842FC2A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1010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부록: 시장규모를 실제 매출로 좁히는 방법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3B5E6D-019D-4C34-A525-16A457C6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현재 자료로 국가별 TAM과 확정 매출을 산출할 수 없으므로 입력 자료를 명시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1C313C-65C7-487E-9CAD-59A0793D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00A287-6F87-4DDB-87B9-82FB56A1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ENERGY PACK  /  신사업·신기술 검토  /  2026.09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15541F-25E7-43A0-82D8-E23AC0A4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1081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설치 가능한 시장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B96910-CA44-4AA0-B072-97DA348E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9080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국가별 HP·PV 보유 주택 × 기술 호환 비율 × 설치 권한·요금 조건을 충족하는 비율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046193-1A39-412E-922C-4A02E142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90900"/>
            <a:ext cx="1081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접근 가능한 시장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977964-07FE-4147-BA38-A82B186C3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4810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계약 설치업체 수 × 연간 설치 가능 건수 × 모듈 채택률. 기존 제품의 출하 계획과 중복 제거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D6DA40-8766-45B8-B32E-F80ED7B3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1081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실제 매출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9BD628-396D-44DB-97C9-4D655326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0540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검증된 설치 물량 × 순판매 단가 + 평균 유료 가동 호수 × 운영 단가. 반품·지원비 별도 반영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E102B6-D678-4B55-94A0-1FBBD18D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89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사업부 요청 자료: 국가별 출하·설치 채널·단가·목표 마진·인증비. 총 ESS/HP 시장을 HEMS 매출로 사용하지 않음.</a:t>
            </a:r>
          </a:p>
        </p:txBody>
      </p:sp>
    </p:spTree>
    <p:extLst>
      <p:ext uri="{BB962C8B-B14F-4D97-AF65-F5344CB8AC3E}">
        <p14:creationId xmlns:p14="http://schemas.microsoft.com/office/powerpoint/2010/main" val="71764288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50D987-A9C3-4378-8239-C8E7F75B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1010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부록: 실증에서 계산할 고객 순편익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E0AD04-5CCD-402C-A600-8219B8A3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요금 차이·계절·사용 패턴을 통제하고 기존 운전과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B7A596-DCFA-47A5-9A18-85FC5DEE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8D8D44-90F8-4D9E-97AE-E32EBC66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ENERGY PACK  /  신사업·신기술 검토  /  2026.09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4F174A-1B6C-45F9-949F-69AFB596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521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고객 가치 계산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8A7FA3-B58F-4E7B-904E-5DC33C8E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71775"/>
            <a:ext cx="5191125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순편익 = 전기요금 절감 + 실제 정산금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− 서비스료 − 추가 손실·열화 비용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기준선: 동일 기기·동일 요금의 기존 운전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날씨·재실 보정 및 교차 기간 비교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절감률과 함께 온도 이탈·수동개입·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배터리 사용량을 공개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C4BB1F-F519-4C93-B7CD-D6B2EA8E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85975"/>
            <a:ext cx="521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설치업체 가치 계산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A95516-590E-4EF9-AA63-A6A815AA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71775"/>
            <a:ext cx="5191125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편익 = 절약한 공수 × 시간당 비용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+ 피한 재방문 비용 − 모듈 추가 원가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설치 / 설정 / 검증 시간을 나누어 측정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지원 기기·주택 조건별로 결과 공개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계약 전에는 “절감 보장” 대신</a:t>
            </a:r>
          </a:p>
          <a:p xmlns:a="http://schemas.openxmlformats.org/drawingml/2006/main">
            <a:pPr>
              <a:def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달성 조건과 측정 방식을 합의</a:t>
            </a:r>
          </a:p>
        </p:txBody>
      </p:sp>
    </p:spTree>
    <p:extLst>
      <p:ext uri="{BB962C8B-B14F-4D97-AF65-F5344CB8AC3E}">
        <p14:creationId xmlns:p14="http://schemas.microsoft.com/office/powerpoint/2010/main" val="69675081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EF632E-184E-46C5-A2CF-7BD90AC9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1010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부록: 출처와 사실 확인 범위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9EE99B-0A62-42B6-AA7A-E082F69D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상세 URL은 각 관련 슬라이드의 발표자 노트에도 수록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A71EB5-8AF2-468F-B2EF-09401E54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DCE9CA-A85B-4B01-9B3F-A1EB0AC6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ENERGY PACK  /  신사업·신기술 검토  /  2026.09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33B126-47A4-41D9-B3C1-B5BE8EDA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57400"/>
            <a:ext cx="10801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01  공유 대화 · 기술 통합 방안 논의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BBDD6A-7A0B-45ED-8B6E-A78B002A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514600"/>
            <a:ext cx="10801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02  Bundesnetzagentur · Dynamische Stromtarife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CBE78A-41EB-4E90-9C11-3681E5A8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971800"/>
            <a:ext cx="10801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03  Bundesnetzagentur · §14a 제어가능 부하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B2E969-D882-49DD-A4AF-DA72AF07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429000"/>
            <a:ext cx="10801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04  Ofgem · 2025 유연성 소비자 조사, 2026.05.22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B93726-9226-4DDD-BC9D-F16EE305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886200"/>
            <a:ext cx="10801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05  Enedis · 비첨두 시간대 개편, 2025.10.15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305B7E-CE8D-4DCF-8978-3D1B8523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343400"/>
            <a:ext cx="10801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06  네덜란드 정부 · 2027년 상계제도 종료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FB1D81-1B92-4298-B75A-678753E1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800600"/>
            <a:ext cx="10801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07  호주 정부 · Solar PV and batteries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4BB49A-E57F-4504-8C90-10DFE7E3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257800"/>
            <a:ext cx="10801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08  CPUC · Net Billing Tariff</a:t>
            </a:r>
          </a:p>
        </p:txBody>
      </p:sp>
    </p:spTree>
    <p:extLst>
      <p:ext uri="{BB962C8B-B14F-4D97-AF65-F5344CB8AC3E}">
        <p14:creationId xmlns:p14="http://schemas.microsoft.com/office/powerpoint/2010/main" val="59943430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5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D02861-93DD-4282-B4E6-C9012037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"/>
            <a:ext cx="11010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부록: 출처와 경쟁 제품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13DB02-2ADA-483F-AE65-2892C7EC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상세 URL은 각 관련 슬라이드의 발표자 노트에도 수록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73BC40-72CE-4F58-A877-6BF2282F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60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21375E-9C87-4C6A-8DE7-75B07262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777"/>
                </a:solidFill>
                <a:latin typeface="Malgun Gothic"/>
                <a:ea typeface="Malgun Gothic"/>
                <a:cs typeface="Malgun Gothic"/>
              </a:rPr>
              <a:t>ENERGY PACK  /  신사업·신기술 검토  /  2026.09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9D6096-D58A-404B-81C4-4BE64F70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57400"/>
            <a:ext cx="10801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01  DEWA · Cooling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DA67C4-29D8-4D13-8231-A33B2E1F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514600"/>
            <a:ext cx="10801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02  통계청 · 2024 인구주택총조사, 표 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DAF2FC-9AAB-4FC9-8B67-F3EB0DB7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971800"/>
            <a:ext cx="10801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03  Eskom · 전력계통 현황, 2026.09.25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5960A1-D914-4039-A31D-4374A72C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429000"/>
            <a:ext cx="10801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04  미국 DOE · Virtual Power Plants Projects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4291CD-7C4A-49BD-805E-11D0FE3B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886200"/>
            <a:ext cx="10801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05  SMA · Sunny Home Manager 2.0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9649C2-3C06-4C24-89AB-55C7CAB8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343400"/>
            <a:ext cx="10801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06  Tesla · Savings Mode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197496-8701-4022-868E-04DCA2BB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800600"/>
            <a:ext cx="10801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7F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007F78"/>
                </a:solidFill>
                <a:latin typeface="Malgun Gothic"/>
                <a:ea typeface="Malgun Gothic"/>
                <a:cs typeface="Malgun Gothic"/>
              </a:rPr>
              <a:t>07  Octopus · Heat pump FAQ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F4D91A-62FF-45DD-8586-F2EC70A3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257800"/>
            <a:ext cx="108013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08  Schneider · Residential products</a:t>
            </a:r>
          </a:p>
        </p:txBody>
      </p:sp>
    </p:spTree>
    <p:extLst>
      <p:ext uri="{BB962C8B-B14F-4D97-AF65-F5344CB8AC3E}">
        <p14:creationId xmlns:p14="http://schemas.microsoft.com/office/powerpoint/2010/main" val="16374719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2026-09-30T05:40:50.4600000Z</dcterms:created>
  <dcterms:modified xsi:type="dcterms:W3CDTF">2026-09-30T05:40:50.4600000Z</dcterms:modified>
</coreProperties>
</file>