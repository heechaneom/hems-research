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6c1489a32d4f5f" /><Relationship Type="http://schemas.openxmlformats.org/officeDocument/2006/relationships/extended-properties" Target="/docProps/app.xml" Id="Rb96276aa1c5644bd" /><Relationship Type="http://schemas.openxmlformats.org/officeDocument/2006/relationships/officeDocument" Target="/ppt/presentation.xml" Id="R06a73bf13a1145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940f367b0741dd"/>
  </p:sldMasterIdLst>
  <p:notesMasterIdLst>
    <p:notesMasterId xmlns:r="http://schemas.openxmlformats.org/officeDocument/2006/relationships" r:id="Raa23bd5180724a92"/>
  </p:notesMasterIdLst>
  <p:sldIdLst>
    <p:sldId xmlns:r="http://schemas.openxmlformats.org/officeDocument/2006/relationships" id="256" r:id="R716c8df16c0c43ff"/>
    <p:sldId xmlns:r="http://schemas.openxmlformats.org/officeDocument/2006/relationships" id="257" r:id="R62c98cd184fb44c5"/>
    <p:sldId xmlns:r="http://schemas.openxmlformats.org/officeDocument/2006/relationships" id="258" r:id="R9b9afc857be64588"/>
    <p:sldId xmlns:r="http://schemas.openxmlformats.org/officeDocument/2006/relationships" id="259" r:id="R301a2efd3d54439b"/>
    <p:sldId xmlns:r="http://schemas.openxmlformats.org/officeDocument/2006/relationships" id="260" r:id="Rf2058e8a466b445b"/>
    <p:sldId xmlns:r="http://schemas.openxmlformats.org/officeDocument/2006/relationships" id="261" r:id="Rb79d3dca96fc44f1"/>
    <p:sldId xmlns:r="http://schemas.openxmlformats.org/officeDocument/2006/relationships" id="262" r:id="R3a0219cf66084160"/>
    <p:sldId xmlns:r="http://schemas.openxmlformats.org/officeDocument/2006/relationships" id="263" r:id="Ra0c46d1d9c684362"/>
    <p:sldId xmlns:r="http://schemas.openxmlformats.org/officeDocument/2006/relationships" id="264" r:id="R7bed17bc3feb4346"/>
    <p:sldId xmlns:r="http://schemas.openxmlformats.org/officeDocument/2006/relationships" id="265" r:id="Rcb9e533219084f78"/>
    <p:sldId xmlns:r="http://schemas.openxmlformats.org/officeDocument/2006/relationships" id="266" r:id="R719e930518c84ed2"/>
    <p:sldId xmlns:r="http://schemas.openxmlformats.org/officeDocument/2006/relationships" id="267" r:id="R16fff7621a4e4528"/>
    <p:sldId xmlns:r="http://schemas.openxmlformats.org/officeDocument/2006/relationships" id="268" r:id="Rde4244496f8c4f55"/>
    <p:sldId xmlns:r="http://schemas.openxmlformats.org/officeDocument/2006/relationships" id="269" r:id="R90c707d540fa4528"/>
    <p:sldId xmlns:r="http://schemas.openxmlformats.org/officeDocument/2006/relationships" id="270" r:id="R52903976d9e74af0"/>
    <p:sldId xmlns:r="http://schemas.openxmlformats.org/officeDocument/2006/relationships" id="271" r:id="R6d6271c99b714a7c"/>
    <p:sldId xmlns:r="http://schemas.openxmlformats.org/officeDocument/2006/relationships" id="272" r:id="Rb406e5e8e0cc4f84"/>
    <p:sldId xmlns:r="http://schemas.openxmlformats.org/officeDocument/2006/relationships" id="273" r:id="R08326533fa78420b"/>
    <p:sldId xmlns:r="http://schemas.openxmlformats.org/officeDocument/2006/relationships" id="274" r:id="R3d9ee4657e104d4f"/>
    <p:sldId xmlns:r="http://schemas.openxmlformats.org/officeDocument/2006/relationships" id="275" r:id="Rc47b6cdb8dbe4edf"/>
    <p:sldId xmlns:r="http://schemas.openxmlformats.org/officeDocument/2006/relationships" id="276" r:id="R4a2f66e721054eb3"/>
    <p:sldId xmlns:r="http://schemas.openxmlformats.org/officeDocument/2006/relationships" id="277" r:id="Rc66fb4ed8f854eba"/>
    <p:sldId xmlns:r="http://schemas.openxmlformats.org/officeDocument/2006/relationships" id="278" r:id="R9c010216dfca4e97"/>
    <p:sldId xmlns:r="http://schemas.openxmlformats.org/officeDocument/2006/relationships" id="279" r:id="R41b3516df3b048b4"/>
    <p:sldId xmlns:r="http://schemas.openxmlformats.org/officeDocument/2006/relationships" id="280" r:id="Rbaf62233c2f546c1"/>
    <p:sldId xmlns:r="http://schemas.openxmlformats.org/officeDocument/2006/relationships" id="281" r:id="Rcea0fc560de343eb"/>
    <p:sldId xmlns:r="http://schemas.openxmlformats.org/officeDocument/2006/relationships" id="282" r:id="Rb1cb41a4e1464862"/>
    <p:sldId xmlns:r="http://schemas.openxmlformats.org/officeDocument/2006/relationships" id="283" r:id="Ra745ed08fc1d4e7a"/>
    <p:sldId xmlns:r="http://schemas.openxmlformats.org/officeDocument/2006/relationships" id="284" r:id="R459cde7975c348e6"/>
    <p:sldId xmlns:r="http://schemas.openxmlformats.org/officeDocument/2006/relationships" id="285" r:id="Rb195e9ecc752494d"/>
    <p:sldId xmlns:r="http://schemas.openxmlformats.org/officeDocument/2006/relationships" id="286" r:id="R652823dc48a149a5"/>
    <p:sldId xmlns:r="http://schemas.openxmlformats.org/officeDocument/2006/relationships" id="287" r:id="Rf9510f668fcb46c0"/>
    <p:sldId xmlns:r="http://schemas.openxmlformats.org/officeDocument/2006/relationships" id="288" r:id="Rf2983c8932084980"/>
    <p:sldId xmlns:r="http://schemas.openxmlformats.org/officeDocument/2006/relationships" id="289" r:id="Red7851c585f34118"/>
    <p:sldId xmlns:r="http://schemas.openxmlformats.org/officeDocument/2006/relationships" id="290" r:id="Rccb1168e43ab44df"/>
    <p:sldId xmlns:r="http://schemas.openxmlformats.org/officeDocument/2006/relationships" id="291" r:id="R501caaa1202a406c"/>
    <p:sldId xmlns:r="http://schemas.openxmlformats.org/officeDocument/2006/relationships" id="292" r:id="Rf8a537dd90b94ce2"/>
    <p:sldId xmlns:r="http://schemas.openxmlformats.org/officeDocument/2006/relationships" id="293" r:id="R54ce94ea23844228"/>
    <p:sldId xmlns:r="http://schemas.openxmlformats.org/officeDocument/2006/relationships" id="294" r:id="R6f7762b097fc484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dfc2806f6049c5" /><Relationship Type="http://schemas.openxmlformats.org/officeDocument/2006/relationships/slideMaster" Target="/ppt/slideMasters/slideMaster1.xml" Id="R9f940f367b0741dd" /><Relationship Type="http://schemas.openxmlformats.org/officeDocument/2006/relationships/notesMaster" Target="/ppt/notesMasters/notesMaster1.xml" Id="Raa23bd5180724a92" /><Relationship Type="http://schemas.openxmlformats.org/officeDocument/2006/relationships/presProps" Target="/ppt/presProps.xml" Id="R4afb0c047d064aed" /><Relationship Type="http://schemas.openxmlformats.org/officeDocument/2006/relationships/tableStyles" Target="/ppt/tableStyles.xml" Id="R18a4a3b8b0ae46f4" /><Relationship Type="http://schemas.openxmlformats.org/officeDocument/2006/relationships/slide" Target="/ppt/slides/slide1.xml" Id="R716c8df16c0c43ff" /><Relationship Type="http://schemas.openxmlformats.org/officeDocument/2006/relationships/slide" Target="/ppt/slides/slide2.xml" Id="R62c98cd184fb44c5" /><Relationship Type="http://schemas.openxmlformats.org/officeDocument/2006/relationships/slide" Target="/ppt/slides/slide3.xml" Id="R9b9afc857be64588" /><Relationship Type="http://schemas.openxmlformats.org/officeDocument/2006/relationships/slide" Target="/ppt/slides/slide4.xml" Id="R301a2efd3d54439b" /><Relationship Type="http://schemas.openxmlformats.org/officeDocument/2006/relationships/slide" Target="/ppt/slides/slide5.xml" Id="Rf2058e8a466b445b" /><Relationship Type="http://schemas.openxmlformats.org/officeDocument/2006/relationships/slide" Target="/ppt/slides/slide6.xml" Id="Rb79d3dca96fc44f1" /><Relationship Type="http://schemas.openxmlformats.org/officeDocument/2006/relationships/slide" Target="/ppt/slides/slide7.xml" Id="R3a0219cf66084160" /><Relationship Type="http://schemas.openxmlformats.org/officeDocument/2006/relationships/slide" Target="/ppt/slides/slide8.xml" Id="Ra0c46d1d9c684362" /><Relationship Type="http://schemas.openxmlformats.org/officeDocument/2006/relationships/slide" Target="/ppt/slides/slide9.xml" Id="R7bed17bc3feb4346" /><Relationship Type="http://schemas.openxmlformats.org/officeDocument/2006/relationships/slide" Target="/ppt/slides/slide10.xml" Id="Rcb9e533219084f78" /><Relationship Type="http://schemas.openxmlformats.org/officeDocument/2006/relationships/slide" Target="/ppt/slides/slide11.xml" Id="R719e930518c84ed2" /><Relationship Type="http://schemas.openxmlformats.org/officeDocument/2006/relationships/slide" Target="/ppt/slides/slide12.xml" Id="R16fff7621a4e4528" /><Relationship Type="http://schemas.openxmlformats.org/officeDocument/2006/relationships/slide" Target="/ppt/slides/slide13.xml" Id="Rde4244496f8c4f55" /><Relationship Type="http://schemas.openxmlformats.org/officeDocument/2006/relationships/slide" Target="/ppt/slides/slide14.xml" Id="R90c707d540fa4528" /><Relationship Type="http://schemas.openxmlformats.org/officeDocument/2006/relationships/slide" Target="/ppt/slides/slide15.xml" Id="R52903976d9e74af0" /><Relationship Type="http://schemas.openxmlformats.org/officeDocument/2006/relationships/slide" Target="/ppt/slides/slide16.xml" Id="R6d6271c99b714a7c" /><Relationship Type="http://schemas.openxmlformats.org/officeDocument/2006/relationships/slide" Target="/ppt/slides/slide17.xml" Id="Rb406e5e8e0cc4f84" /><Relationship Type="http://schemas.openxmlformats.org/officeDocument/2006/relationships/slide" Target="/ppt/slides/slide18.xml" Id="R08326533fa78420b" /><Relationship Type="http://schemas.openxmlformats.org/officeDocument/2006/relationships/slide" Target="/ppt/slides/slide19.xml" Id="R3d9ee4657e104d4f" /><Relationship Type="http://schemas.openxmlformats.org/officeDocument/2006/relationships/slide" Target="/ppt/slides/slide20.xml" Id="Rc47b6cdb8dbe4edf" /><Relationship Type="http://schemas.openxmlformats.org/officeDocument/2006/relationships/slide" Target="/ppt/slides/slide21.xml" Id="R4a2f66e721054eb3" /><Relationship Type="http://schemas.openxmlformats.org/officeDocument/2006/relationships/slide" Target="/ppt/slides/slide22.xml" Id="Rc66fb4ed8f854eba" /><Relationship Type="http://schemas.openxmlformats.org/officeDocument/2006/relationships/slide" Target="/ppt/slides/slide23.xml" Id="R9c010216dfca4e97" /><Relationship Type="http://schemas.openxmlformats.org/officeDocument/2006/relationships/slide" Target="/ppt/slides/slide24.xml" Id="R41b3516df3b048b4" /><Relationship Type="http://schemas.openxmlformats.org/officeDocument/2006/relationships/slide" Target="/ppt/slides/slide25.xml" Id="Rbaf62233c2f546c1" /><Relationship Type="http://schemas.openxmlformats.org/officeDocument/2006/relationships/slide" Target="/ppt/slides/slide26.xml" Id="Rcea0fc560de343eb" /><Relationship Type="http://schemas.openxmlformats.org/officeDocument/2006/relationships/slide" Target="/ppt/slides/slide27.xml" Id="Rb1cb41a4e1464862" /><Relationship Type="http://schemas.openxmlformats.org/officeDocument/2006/relationships/slide" Target="/ppt/slides/slide28.xml" Id="Ra745ed08fc1d4e7a" /><Relationship Type="http://schemas.openxmlformats.org/officeDocument/2006/relationships/slide" Target="/ppt/slides/slide29.xml" Id="R459cde7975c348e6" /><Relationship Type="http://schemas.openxmlformats.org/officeDocument/2006/relationships/slide" Target="/ppt/slides/slide30.xml" Id="Rb195e9ecc752494d" /><Relationship Type="http://schemas.openxmlformats.org/officeDocument/2006/relationships/slide" Target="/ppt/slides/slide31.xml" Id="R652823dc48a149a5" /><Relationship Type="http://schemas.openxmlformats.org/officeDocument/2006/relationships/slide" Target="/ppt/slides/slide32.xml" Id="Rf9510f668fcb46c0" /><Relationship Type="http://schemas.openxmlformats.org/officeDocument/2006/relationships/slide" Target="/ppt/slides/slide33.xml" Id="Rf2983c8932084980" /><Relationship Type="http://schemas.openxmlformats.org/officeDocument/2006/relationships/slide" Target="/ppt/slides/slide34.xml" Id="Red7851c585f34118" /><Relationship Type="http://schemas.openxmlformats.org/officeDocument/2006/relationships/slide" Target="/ppt/slides/slide35.xml" Id="Rccb1168e43ab44df" /><Relationship Type="http://schemas.openxmlformats.org/officeDocument/2006/relationships/slide" Target="/ppt/slides/slide36.xml" Id="R501caaa1202a406c" /><Relationship Type="http://schemas.openxmlformats.org/officeDocument/2006/relationships/slide" Target="/ppt/slides/slide37.xml" Id="Rf8a537dd90b94ce2" /><Relationship Type="http://schemas.openxmlformats.org/officeDocument/2006/relationships/slide" Target="/ppt/slides/slide38.xml" Id="R54ce94ea23844228" /><Relationship Type="http://schemas.openxmlformats.org/officeDocument/2006/relationships/slide" Target="/ppt/slides/slide39.xml" Id="R6f7762b097fc48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e6dd05892e46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0604dd861d4c58" /><Relationship Type="http://schemas.openxmlformats.org/officeDocument/2006/relationships/notesMaster" Target="/ppt/notesMasters/notesMaster1.xml" Id="R56b50790203d49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f46eab4fde4e8d" /><Relationship Type="http://schemas.openxmlformats.org/officeDocument/2006/relationships/notesMaster" Target="/ppt/notesMasters/notesMaster1.xml" Id="Rd40623c0a9b647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32314bb06e4d1e" /><Relationship Type="http://schemas.openxmlformats.org/officeDocument/2006/relationships/notesMaster" Target="/ppt/notesMasters/notesMaster1.xml" Id="Ra1a376cd4c554d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62c7a319f641fb" /><Relationship Type="http://schemas.openxmlformats.org/officeDocument/2006/relationships/notesMaster" Target="/ppt/notesMasters/notesMaster1.xml" Id="R590c393d38c349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f6374defdb4f60" /><Relationship Type="http://schemas.openxmlformats.org/officeDocument/2006/relationships/notesMaster" Target="/ppt/notesMasters/notesMaster1.xml" Id="R08e91fdfe64c49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465cf91ce7426e" /><Relationship Type="http://schemas.openxmlformats.org/officeDocument/2006/relationships/notesMaster" Target="/ppt/notesMasters/notesMaster1.xml" Id="Rb31b6f9519ab43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6e2749f5f04d59" /><Relationship Type="http://schemas.openxmlformats.org/officeDocument/2006/relationships/notesMaster" Target="/ppt/notesMasters/notesMaster1.xml" Id="R5d7759e7368745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2ab0df8e8e483c" /><Relationship Type="http://schemas.openxmlformats.org/officeDocument/2006/relationships/notesMaster" Target="/ppt/notesMasters/notesMaster1.xml" Id="Rd26916b1ea764df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3fe6f938ea4a71" /><Relationship Type="http://schemas.openxmlformats.org/officeDocument/2006/relationships/notesMaster" Target="/ppt/notesMasters/notesMaster1.xml" Id="Rcf147955c38546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cdcdcc041004ca1" /><Relationship Type="http://schemas.openxmlformats.org/officeDocument/2006/relationships/notesMaster" Target="/ppt/notesMasters/notesMaster1.xml" Id="R4d6826def07340c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339a2681ec845d1" /><Relationship Type="http://schemas.openxmlformats.org/officeDocument/2006/relationships/notesMaster" Target="/ppt/notesMasters/notesMaster1.xml" Id="Re36b5c56c3e74f3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73dd8ce97f3467d" /><Relationship Type="http://schemas.openxmlformats.org/officeDocument/2006/relationships/notesMaster" Target="/ppt/notesMasters/notesMaster1.xml" Id="R1ab6b04186f74f9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3b192863024475a" /><Relationship Type="http://schemas.openxmlformats.org/officeDocument/2006/relationships/notesMaster" Target="/ppt/notesMasters/notesMaster1.xml" Id="Rfe414b838aaf4be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3a4f04183a2424d" /><Relationship Type="http://schemas.openxmlformats.org/officeDocument/2006/relationships/notesMaster" Target="/ppt/notesMasters/notesMaster1.xml" Id="Rde40ad85cdf1443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2e646873d974e44" /><Relationship Type="http://schemas.openxmlformats.org/officeDocument/2006/relationships/notesMaster" Target="/ppt/notesMasters/notesMaster1.xml" Id="Rd0089580e84e4dc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4f68f092cbb4f2e" /><Relationship Type="http://schemas.openxmlformats.org/officeDocument/2006/relationships/notesMaster" Target="/ppt/notesMasters/notesMaster1.xml" Id="R46ce1f903ff94f4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bf605c045b9489c" /><Relationship Type="http://schemas.openxmlformats.org/officeDocument/2006/relationships/notesMaster" Target="/ppt/notesMasters/notesMaster1.xml" Id="R41285077f12648b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265dfa45e3f405b" /><Relationship Type="http://schemas.openxmlformats.org/officeDocument/2006/relationships/notesMaster" Target="/ppt/notesMasters/notesMaster1.xml" Id="Re572d570fb4443e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25de7c4aa104e64" /><Relationship Type="http://schemas.openxmlformats.org/officeDocument/2006/relationships/notesMaster" Target="/ppt/notesMasters/notesMaster1.xml" Id="Rc02a17d721674d8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29bd20dd82746bf" /><Relationship Type="http://schemas.openxmlformats.org/officeDocument/2006/relationships/notesMaster" Target="/ppt/notesMasters/notesMaster1.xml" Id="R9e14136e511b432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2112087dde94347" /><Relationship Type="http://schemas.openxmlformats.org/officeDocument/2006/relationships/notesMaster" Target="/ppt/notesMasters/notesMaster1.xml" Id="R9ef34caf05fd4a1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6297ffbbf074ea4" /><Relationship Type="http://schemas.openxmlformats.org/officeDocument/2006/relationships/notesMaster" Target="/ppt/notesMasters/notesMaster1.xml" Id="Racf3075e72104f3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1fae1bce0a64833" /><Relationship Type="http://schemas.openxmlformats.org/officeDocument/2006/relationships/notesMaster" Target="/ppt/notesMasters/notesMaster1.xml" Id="R33f6085307f04fd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992b2c1838b4a0a" /><Relationship Type="http://schemas.openxmlformats.org/officeDocument/2006/relationships/notesMaster" Target="/ppt/notesMasters/notesMaster1.xml" Id="R62a2158daea2401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6d007b4a06b4d05" /><Relationship Type="http://schemas.openxmlformats.org/officeDocument/2006/relationships/notesMaster" Target="/ppt/notesMasters/notesMaster1.xml" Id="Ra4465767a17d419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becd3b66b374c0a" /><Relationship Type="http://schemas.openxmlformats.org/officeDocument/2006/relationships/notesMaster" Target="/ppt/notesMasters/notesMaster1.xml" Id="Ra5eb58bacabf4a5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9ec77075e964a21" /><Relationship Type="http://schemas.openxmlformats.org/officeDocument/2006/relationships/notesMaster" Target="/ppt/notesMasters/notesMaster1.xml" Id="Rdf20a62f306d446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25fb398526c44be" /><Relationship Type="http://schemas.openxmlformats.org/officeDocument/2006/relationships/notesMaster" Target="/ppt/notesMasters/notesMaster1.xml" Id="R7939fd6110664af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7572b12617140e4" /><Relationship Type="http://schemas.openxmlformats.org/officeDocument/2006/relationships/notesMaster" Target="/ppt/notesMasters/notesMaster1.xml" Id="Rb09d673d546a46a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24da3cff0194037" /><Relationship Type="http://schemas.openxmlformats.org/officeDocument/2006/relationships/notesMaster" Target="/ppt/notesMasters/notesMaster1.xml" Id="R0ddfb90d90f3451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74865d7cb3b471d" /><Relationship Type="http://schemas.openxmlformats.org/officeDocument/2006/relationships/notesMaster" Target="/ppt/notesMasters/notesMaster1.xml" Id="R6a5d1896f6ff438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0a49960a73e4f5d" /><Relationship Type="http://schemas.openxmlformats.org/officeDocument/2006/relationships/notesMaster" Target="/ppt/notesMasters/notesMaster1.xml" Id="R42884a873dd7491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65b97b641384ce8" /><Relationship Type="http://schemas.openxmlformats.org/officeDocument/2006/relationships/notesMaster" Target="/ppt/notesMasters/notesMaster1.xml" Id="R86ee4b2b7af4417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5390da2e440455f" /><Relationship Type="http://schemas.openxmlformats.org/officeDocument/2006/relationships/notesMaster" Target="/ppt/notesMasters/notesMaster1.xml" Id="R67e720addd1b449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2cf93db6f7642e8" /><Relationship Type="http://schemas.openxmlformats.org/officeDocument/2006/relationships/notesMaster" Target="/ppt/notesMasters/notesMaster1.xml" Id="R54bbdf9cf1724bf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26466f3278d48ab" /><Relationship Type="http://schemas.openxmlformats.org/officeDocument/2006/relationships/notesMaster" Target="/ppt/notesMasters/notesMaster1.xml" Id="R723fe74ed6c146c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72a64d26e6248f8" /><Relationship Type="http://schemas.openxmlformats.org/officeDocument/2006/relationships/notesMaster" Target="/ppt/notesMasters/notesMaster1.xml" Id="R92c7cb2a204d4f0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429b10bd83a4b6d" /><Relationship Type="http://schemas.openxmlformats.org/officeDocument/2006/relationships/notesMaster" Target="/ppt/notesMasters/notesMaster1.xml" Id="R7bbc51e3c425488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58b8edb3553d4899" /><Relationship Type="http://schemas.openxmlformats.org/officeDocument/2006/relationships/notesMaster" Target="/ppt/notesMasters/notesMaster1.xml" Id="R700bd1ee29504a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R00</a:t>
            </a:r>
          </a:p>
          <a:p xmlns:a="http://schemas.openxmlformats.org/drawingml/2006/main">
            <a:r>
              <a:t>제공 HTML</a:t>
            </a:r>
          </a:p>
          <a:p xmlns:a="http://schemas.openxmlformats.org/drawingml/2006/main">
            <a:r>
              <a:t>Energy Pack Gateway Technology 2027–2030</a:t>
            </a:r>
          </a:p>
          <a:p xmlns:a="http://schemas.openxmlformats.org/drawingml/2006/main">
            <a:r>
              <a:t>D:/hems-search/output/Energy_Pack_Gateway_Technology_2027-2030.html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>경영 판단을 위한 우선순위 제안이다. 시장 규모에 대한 정량 점수나 확보된 수주를 의미하지 않는다. 두 과제의 공통 기반은 제어능력 확인, 계측, 현장 시험, 기기별 제약 데이터이다.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R04</a:t>
            </a:r>
          </a:p>
          <a:p xmlns:a="http://schemas.openxmlformats.org/drawingml/2006/main">
            <a:r>
              <a:t>Enedis</a:t>
            </a:r>
          </a:p>
          <a:p xmlns:a="http://schemas.openxmlformats.org/drawingml/2006/main">
            <a:r>
              <a:t>Heures creuses 개편, 2025.10.15</a:t>
            </a:r>
          </a:p>
          <a:p xmlns:a="http://schemas.openxmlformats.org/drawingml/2006/main">
            <a:r>
              <a:t>https://www.enedis.fr/presse/enedis-met-en-oeuvre-la-reforme-des-heures-creuses-pour-accompagner-les-nouveaux-usages-lies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R10</a:t>
            </a:r>
          </a:p>
          <a:p xmlns:a="http://schemas.openxmlformats.org/drawingml/2006/main">
            <a:r>
              <a:t>ERCOT</a:t>
            </a:r>
          </a:p>
          <a:p xmlns:a="http://schemas.openxmlformats.org/drawingml/2006/main">
            <a:r>
              <a:t>ADER Pilot, Phase 3.3, 2026.06.03</a:t>
            </a:r>
          </a:p>
          <a:p xmlns:a="http://schemas.openxmlformats.org/drawingml/2006/main">
            <a:r>
              <a:t>https://www.ercot.com/mktrules/pilots/ader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R16</a:t>
            </a:r>
          </a:p>
          <a:p xmlns:a="http://schemas.openxmlformats.org/drawingml/2006/main">
            <a:r>
              <a:t>1KOMMA5°</a:t>
            </a:r>
          </a:p>
          <a:p xmlns:a="http://schemas.openxmlformats.org/drawingml/2006/main">
            <a:r>
              <a:t>Heartbeat 호환 목록, 2026.08.25</a:t>
            </a:r>
          </a:p>
          <a:p xmlns:a="http://schemas.openxmlformats.org/drawingml/2006/main">
            <a:r>
              <a:t>https://support.1komma5.com/hc/de/articles/29833157635356-Heartbeat-Kompatibilit%C3%A4tsliste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R15</a:t>
            </a:r>
          </a:p>
          <a:p xmlns:a="http://schemas.openxmlformats.org/drawingml/2006/main">
            <a:r>
              <a:t>gridX</a:t>
            </a:r>
          </a:p>
          <a:p xmlns:a="http://schemas.openxmlformats.org/drawingml/2006/main">
            <a:r>
              <a:t>Optimized Heat Pump Operation, 2026.06.02</a:t>
            </a:r>
          </a:p>
          <a:p xmlns:a="http://schemas.openxmlformats.org/drawingml/2006/main">
            <a:r>
              <a:t>https://support.gridx.ai/en/articles/590093-dynamic-tariff-optimization-optimized-heat-pump-operation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R22</a:t>
            </a:r>
          </a:p>
          <a:p xmlns:a="http://schemas.openxmlformats.org/drawingml/2006/main">
            <a:r>
              <a:t>UL Solutions</a:t>
            </a:r>
          </a:p>
          <a:p xmlns:a="http://schemas.openxmlformats.org/drawingml/2006/main">
            <a:r>
              <a:t>Power Control Systems for DER</a:t>
            </a:r>
          </a:p>
          <a:p xmlns:a="http://schemas.openxmlformats.org/drawingml/2006/main">
            <a:r>
              <a:t>https://www.ul.com/services/power-control-systems-distributed-energy-resource-systems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R03</a:t>
            </a:r>
          </a:p>
          <a:p xmlns:a="http://schemas.openxmlformats.org/drawingml/2006/main">
            <a:r>
              <a:t>NESO</a:t>
            </a:r>
          </a:p>
          <a:p xmlns:a="http://schemas.openxmlformats.org/drawingml/2006/main">
            <a:r>
              <a:t>DFS Stacking List v2, 2026.04</a:t>
            </a:r>
          </a:p>
          <a:p xmlns:a="http://schemas.openxmlformats.org/drawingml/2006/main">
            <a:r>
              <a:t>https://www.neso.energy/document/380211/download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R01</a:t>
            </a:r>
          </a:p>
          <a:p xmlns:a="http://schemas.openxmlformats.org/drawingml/2006/main">
            <a:r>
              <a:t>BNetzA</a:t>
            </a:r>
          </a:p>
          <a:p xmlns:a="http://schemas.openxmlformats.org/drawingml/2006/main">
            <a:r>
              <a:t>§14a 제어가능 설비 적용 안내</a:t>
            </a:r>
          </a:p>
          <a:p xmlns:a="http://schemas.openxmlformats.org/drawingml/2006/main">
            <a:r>
              <a:t>https://www.bundesnetzagentur.de/DE/Vportal/Energie/SteuerbareVBE/artikel.html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R26</a:t>
            </a:r>
          </a:p>
          <a:p xmlns:a="http://schemas.openxmlformats.org/drawingml/2006/main">
            <a:r>
              <a:t>EEBUS</a:t>
            </a:r>
          </a:p>
          <a:p xmlns:a="http://schemas.openxmlformats.org/drawingml/2006/main">
            <a:r>
              <a:t>Solutions &amp; Use Cases</a:t>
            </a:r>
          </a:p>
          <a:p xmlns:a="http://schemas.openxmlformats.org/drawingml/2006/main">
            <a:r>
              <a:t>https://www.eebus.org/solutions-use-cases/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R02</a:t>
            </a:r>
          </a:p>
          <a:p xmlns:a="http://schemas.openxmlformats.org/drawingml/2006/main">
            <a:r>
              <a:t>NESO</a:t>
            </a:r>
          </a:p>
          <a:p xmlns:a="http://schemas.openxmlformats.org/drawingml/2006/main">
            <a:r>
              <a:t>Demand Flexibility Service explained, 2026 개편</a:t>
            </a:r>
          </a:p>
          <a:p xmlns:a="http://schemas.openxmlformats.org/drawingml/2006/main">
            <a:r>
              <a:t>https://www.neso.energy/industry-information/balancing-services/demand-flexibility-service/demand-flexibility-service-explained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R24</a:t>
            </a:r>
          </a:p>
          <a:p xmlns:a="http://schemas.openxmlformats.org/drawingml/2006/main">
            <a:r>
              <a:t>Nesta·CNZ</a:t>
            </a:r>
          </a:p>
          <a:p xmlns:a="http://schemas.openxmlformats.org/drawingml/2006/main">
            <a:r>
              <a:t>HeatFlex UK, 2024 실증</a:t>
            </a:r>
          </a:p>
          <a:p xmlns:a="http://schemas.openxmlformats.org/drawingml/2006/main">
            <a:r>
              <a:t>https://www.nesta.org.uk/project/heat-flex/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R03</a:t>
            </a:r>
          </a:p>
          <a:p xmlns:a="http://schemas.openxmlformats.org/drawingml/2006/main">
            <a:r>
              <a:t>NESO</a:t>
            </a:r>
          </a:p>
          <a:p xmlns:a="http://schemas.openxmlformats.org/drawingml/2006/main">
            <a:r>
              <a:t>DFS Stacking List v2, 2026.04</a:t>
            </a:r>
          </a:p>
          <a:p xmlns:a="http://schemas.openxmlformats.org/drawingml/2006/main">
            <a:r>
              <a:t>https://www.neso.energy/document/380211/download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R05</a:t>
            </a:r>
          </a:p>
          <a:p xmlns:a="http://schemas.openxmlformats.org/drawingml/2006/main">
            <a:r>
              <a:t>네덜란드 정부</a:t>
            </a:r>
          </a:p>
          <a:p xmlns:a="http://schemas.openxmlformats.org/drawingml/2006/main">
            <a:r>
              <a:t>Salderingsregeling stopt in 2027</a:t>
            </a:r>
          </a:p>
          <a:p xmlns:a="http://schemas.openxmlformats.org/drawingml/2006/main">
            <a:r>
              <a:t>https://www.rijksoverheid.nl/themas/klimaat-milieu-en-natuur/energie-thuis/salderingsregeling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R04</a:t>
            </a:r>
          </a:p>
          <a:p xmlns:a="http://schemas.openxmlformats.org/drawingml/2006/main">
            <a:r>
              <a:t>Enedis</a:t>
            </a:r>
          </a:p>
          <a:p xmlns:a="http://schemas.openxmlformats.org/drawingml/2006/main">
            <a:r>
              <a:t>Heures creuses 개편, 2025.10.15</a:t>
            </a:r>
          </a:p>
          <a:p xmlns:a="http://schemas.openxmlformats.org/drawingml/2006/main">
            <a:r>
              <a:t>https://www.enedis.fr/presse/enedis-met-en-oeuvre-la-reforme-des-heures-creuses-pour-accompagner-les-nouveaux-usages-lies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R06</a:t>
            </a:r>
          </a:p>
          <a:p xmlns:a="http://schemas.openxmlformats.org/drawingml/2006/main">
            <a:r>
              <a:t>ARERA</a:t>
            </a:r>
          </a:p>
          <a:p xmlns:a="http://schemas.openxmlformats.org/drawingml/2006/main">
            <a:r>
              <a:t>Potenza impegnata 및 계량기 용량 안내</a:t>
            </a:r>
          </a:p>
          <a:p xmlns:a="http://schemas.openxmlformats.org/drawingml/2006/main">
            <a:r>
              <a:t>https://www.arera.it/bolletta/glossario-dei-termini/dettaglio/potenza-impegnata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R07</a:t>
            </a:r>
          </a:p>
          <a:p xmlns:a="http://schemas.openxmlformats.org/drawingml/2006/main">
            <a:r>
              <a:t>ARERA</a:t>
            </a:r>
          </a:p>
          <a:p xmlns:a="http://schemas.openxmlformats.org/drawingml/2006/main">
            <a:r>
              <a:t>Potenza del contatore</a:t>
            </a:r>
          </a:p>
          <a:p xmlns:a="http://schemas.openxmlformats.org/drawingml/2006/main">
            <a:r>
              <a:t>https://www.arera.it/en/consumatori/potenza-del-contatore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R08</a:t>
            </a:r>
          </a:p>
          <a:p xmlns:a="http://schemas.openxmlformats.org/drawingml/2006/main">
            <a:r>
              <a:t>CNMC</a:t>
            </a:r>
          </a:p>
          <a:p xmlns:a="http://schemas.openxmlformats.org/drawingml/2006/main">
            <a:r>
              <a:t>2023년 말 가계조사, 2024.06.28 발표</a:t>
            </a:r>
          </a:p>
          <a:p xmlns:a="http://schemas.openxmlformats.org/drawingml/2006/main">
            <a:r>
              <a:t>https://www.cnmc.es/prensa/panel-hogares-servicios-electricidad-gas-20240628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R09</a:t>
            </a:r>
          </a:p>
          <a:p xmlns:a="http://schemas.openxmlformats.org/drawingml/2006/main">
            <a:r>
              <a:t>CPUC</a:t>
            </a:r>
          </a:p>
          <a:p xmlns:a="http://schemas.openxmlformats.org/drawingml/2006/main">
            <a:r>
              <a:t>Net Energy Metering and Net Billing</a:t>
            </a:r>
          </a:p>
          <a:p xmlns:a="http://schemas.openxmlformats.org/drawingml/2006/main">
            <a:r>
              <a:t>https://www.cpuc.ca.gov/industries-and-topics/electrical-energy/demand-side-management/customer-generation/net-energy-metering-and-net-billing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R10</a:t>
            </a:r>
          </a:p>
          <a:p xmlns:a="http://schemas.openxmlformats.org/drawingml/2006/main">
            <a:r>
              <a:t>ERCOT</a:t>
            </a:r>
          </a:p>
          <a:p xmlns:a="http://schemas.openxmlformats.org/drawingml/2006/main">
            <a:r>
              <a:t>ADER Pilot, Phase 3.3, 2026.06.03</a:t>
            </a:r>
          </a:p>
          <a:p xmlns:a="http://schemas.openxmlformats.org/drawingml/2006/main">
            <a:r>
              <a:t>https://www.ercot.com/mktrules/pilots/ader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R11</a:t>
            </a:r>
          </a:p>
          <a:p xmlns:a="http://schemas.openxmlformats.org/drawingml/2006/main">
            <a:r>
              <a:t>IRS</a:t>
            </a:r>
          </a:p>
          <a:p xmlns:a="http://schemas.openxmlformats.org/drawingml/2006/main">
            <a:r>
              <a:t>Residential Clean Energy Credit</a:t>
            </a:r>
          </a:p>
          <a:p xmlns:a="http://schemas.openxmlformats.org/drawingml/2006/main">
            <a:r>
              <a:t>https://www.irs.gov/credits-deductions/residential-clean-energy-credit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R12</a:t>
            </a:r>
          </a:p>
          <a:p xmlns:a="http://schemas.openxmlformats.org/drawingml/2006/main">
            <a:r>
              <a:t>DEWA</a:t>
            </a:r>
          </a:p>
          <a:p xmlns:a="http://schemas.openxmlformats.org/drawingml/2006/main">
            <a:r>
              <a:t>Slab Tariff, 연료조정요금 2026.09</a:t>
            </a:r>
          </a:p>
          <a:p xmlns:a="http://schemas.openxmlformats.org/drawingml/2006/main">
            <a:r>
              <a:t>https://www.dewa.gov.ae/en/consumer/billing/slab-tariff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R13</a:t>
            </a:r>
          </a:p>
          <a:p xmlns:a="http://schemas.openxmlformats.org/drawingml/2006/main">
            <a:r>
              <a:t>SERA</a:t>
            </a:r>
          </a:p>
          <a:p xmlns:a="http://schemas.openxmlformats.org/drawingml/2006/main">
            <a:r>
              <a:t>Electricity Service Guide, 요금표 p.67</a:t>
            </a:r>
          </a:p>
          <a:p xmlns:a="http://schemas.openxmlformats.org/drawingml/2006/main">
            <a:r>
              <a:t>https://www.sera.gov.sa/-/media/4a51a8ff4b5a45609033cfb7fea9d644.ashx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R14</a:t>
            </a:r>
          </a:p>
          <a:p xmlns:a="http://schemas.openxmlformats.org/drawingml/2006/main">
            <a:r>
              <a:t>KAHRAMAA</a:t>
            </a:r>
          </a:p>
          <a:p xmlns:a="http://schemas.openxmlformats.org/drawingml/2006/main">
            <a:r>
              <a:t>BeSolar net billing 안내</a:t>
            </a:r>
          </a:p>
          <a:p xmlns:a="http://schemas.openxmlformats.org/drawingml/2006/main">
            <a:r>
              <a:t>https://km.qa/RenewableEnergy/Pages/Besolar.aspx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R15</a:t>
            </a:r>
          </a:p>
          <a:p xmlns:a="http://schemas.openxmlformats.org/drawingml/2006/main">
            <a:r>
              <a:t>gridX</a:t>
            </a:r>
          </a:p>
          <a:p xmlns:a="http://schemas.openxmlformats.org/drawingml/2006/main">
            <a:r>
              <a:t>Optimized Heat Pump Operation, 2026.06.02</a:t>
            </a:r>
          </a:p>
          <a:p xmlns:a="http://schemas.openxmlformats.org/drawingml/2006/main">
            <a:r>
              <a:t>https://support.gridx.ai/en/articles/590093-dynamic-tariff-optimization-optimized-heat-pump-operation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R16</a:t>
            </a:r>
          </a:p>
          <a:p xmlns:a="http://schemas.openxmlformats.org/drawingml/2006/main">
            <a:r>
              <a:t>1KOMMA5°</a:t>
            </a:r>
          </a:p>
          <a:p xmlns:a="http://schemas.openxmlformats.org/drawingml/2006/main">
            <a:r>
              <a:t>Heartbeat 호환 목록, 2026.08.25</a:t>
            </a:r>
          </a:p>
          <a:p xmlns:a="http://schemas.openxmlformats.org/drawingml/2006/main">
            <a:r>
              <a:t>https://support.1komma5.com/hc/de/articles/29833157635356-Heartbeat-Kompatibilit%C3%A4tsliste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R17</a:t>
            </a:r>
          </a:p>
          <a:p xmlns:a="http://schemas.openxmlformats.org/drawingml/2006/main">
            <a:r>
              <a:t>Kraken</a:t>
            </a:r>
          </a:p>
          <a:p xmlns:a="http://schemas.openxmlformats.org/drawingml/2006/main">
            <a:r>
              <a:t>Electrifying domestic heating, 2025.08.21</a:t>
            </a:r>
          </a:p>
          <a:p xmlns:a="http://schemas.openxmlformats.org/drawingml/2006/main">
            <a:r>
              <a:t>https://engineering.kraken.tech/news/2025/08/21/electrifying-domestic-heating.html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R18</a:t>
            </a:r>
          </a:p>
          <a:p xmlns:a="http://schemas.openxmlformats.org/drawingml/2006/main">
            <a:r>
              <a:t>Enphase</a:t>
            </a:r>
          </a:p>
          <a:p xmlns:a="http://schemas.openxmlformats.org/drawingml/2006/main">
            <a:r>
              <a:t>IQ Energy Router 독일·오스트리아 출시, 2023.06</a:t>
            </a:r>
          </a:p>
          <a:p xmlns:a="http://schemas.openxmlformats.org/drawingml/2006/main">
            <a:r>
              <a:t>https://investor.enphase.com/news-releases/news-release-details/enphase-energy-launches-new-home-energy-management-solution/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R19</a:t>
            </a:r>
          </a:p>
          <a:p xmlns:a="http://schemas.openxmlformats.org/drawingml/2006/main">
            <a:r>
              <a:t>Enphase</a:t>
            </a:r>
          </a:p>
          <a:p xmlns:a="http://schemas.openxmlformats.org/drawingml/2006/main">
            <a:r>
              <a:t>Daikin Altherma 3 설정 가이드</a:t>
            </a:r>
          </a:p>
          <a:p xmlns:a="http://schemas.openxmlformats.org/drawingml/2006/main">
            <a:r>
              <a:t>https://enphase.com/en-de/download/heat-pump-daikin-altherma-3-configuration-guide-iq-energy-router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R20</a:t>
            </a:r>
          </a:p>
          <a:p xmlns:a="http://schemas.openxmlformats.org/drawingml/2006/main">
            <a:r>
              <a:t>SPAN</a:t>
            </a:r>
          </a:p>
          <a:p xmlns:a="http://schemas.openxmlformats.org/drawingml/2006/main">
            <a:r>
              <a:t>PowerUp 및 배전반 에너지 제어</a:t>
            </a:r>
          </a:p>
          <a:p xmlns:a="http://schemas.openxmlformats.org/drawingml/2006/main">
            <a:r>
              <a:t>https://www.span.io/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R21</a:t>
            </a:r>
          </a:p>
          <a:p xmlns:a="http://schemas.openxmlformats.org/drawingml/2006/main">
            <a:r>
              <a:t>ConnectDER</a:t>
            </a:r>
          </a:p>
          <a:p xmlns:a="http://schemas.openxmlformats.org/drawingml/2006/main">
            <a:r>
              <a:t>Solar MSA v5.2 설치 매뉴얼</a:t>
            </a:r>
          </a:p>
          <a:p xmlns:a="http://schemas.openxmlformats.org/drawingml/2006/main">
            <a:r>
              <a:t>https://connectder.com/wp-content/uploads/2023/08/ConnectDER_Solar_MSA_v5.2_Installation-Manual-v1.0f.pdf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R22</a:t>
            </a:r>
          </a:p>
          <a:p xmlns:a="http://schemas.openxmlformats.org/drawingml/2006/main">
            <a:r>
              <a:t>UL Solutions</a:t>
            </a:r>
          </a:p>
          <a:p xmlns:a="http://schemas.openxmlformats.org/drawingml/2006/main">
            <a:r>
              <a:t>Power Control Systems for DER</a:t>
            </a:r>
          </a:p>
          <a:p xmlns:a="http://schemas.openxmlformats.org/drawingml/2006/main">
            <a:r>
              <a:t>https://www.ul.com/services/power-control-systems-distributed-energy-resource-systems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R23</a:t>
            </a:r>
          </a:p>
          <a:p xmlns:a="http://schemas.openxmlformats.org/drawingml/2006/main">
            <a:r>
              <a:t>ENA</a:t>
            </a:r>
          </a:p>
          <a:p xmlns:a="http://schemas.openxmlformats.org/drawingml/2006/main">
            <a:r>
              <a:t>G100 Issue 2 Amendment 2, 2023</a:t>
            </a:r>
          </a:p>
          <a:p xmlns:a="http://schemas.openxmlformats.org/drawingml/2006/main">
            <a:r>
              <a:t>https://www.energynetworks.org/assets/images/ENA_EREC_G100_Issue_2_Amendment_2_%282023%29.pdf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R15</a:t>
            </a:r>
          </a:p>
          <a:p xmlns:a="http://schemas.openxmlformats.org/drawingml/2006/main">
            <a:r>
              <a:t>gridX</a:t>
            </a:r>
          </a:p>
          <a:p xmlns:a="http://schemas.openxmlformats.org/drawingml/2006/main">
            <a:r>
              <a:t>Optimized Heat Pump Operation, 2026.06.02</a:t>
            </a:r>
          </a:p>
          <a:p xmlns:a="http://schemas.openxmlformats.org/drawingml/2006/main">
            <a:r>
              <a:t>https://support.gridx.ai/en/articles/590093-dynamic-tariff-optimization-optimized-heat-pump-operation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R19</a:t>
            </a:r>
          </a:p>
          <a:p xmlns:a="http://schemas.openxmlformats.org/drawingml/2006/main">
            <a:r>
              <a:t>Enphase</a:t>
            </a:r>
          </a:p>
          <a:p xmlns:a="http://schemas.openxmlformats.org/drawingml/2006/main">
            <a:r>
              <a:t>Daikin Altherma 3 설정 가이드</a:t>
            </a:r>
          </a:p>
          <a:p xmlns:a="http://schemas.openxmlformats.org/drawingml/2006/main">
            <a:r>
              <a:t>https://enphase.com/en-de/download/heat-pump-daikin-altherma-3-configuration-guide-iq-energy-router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R26</a:t>
            </a:r>
          </a:p>
          <a:p xmlns:a="http://schemas.openxmlformats.org/drawingml/2006/main">
            <a:r>
              <a:t>EEBUS</a:t>
            </a:r>
          </a:p>
          <a:p xmlns:a="http://schemas.openxmlformats.org/drawingml/2006/main">
            <a:r>
              <a:t>Solutions &amp; Use Cases</a:t>
            </a:r>
          </a:p>
          <a:p xmlns:a="http://schemas.openxmlformats.org/drawingml/2006/main">
            <a:r>
              <a:t>https://www.eebus.org/solutions-use-cases/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>가정: 설정·시험 3h에서1.5h, 시간당 완전원가€60, 재방문확률12%에서5%, 재방문당€180. 절감90+12.6=102.6. 건별사용료€35와추가자재€20 제외 설치업체 잔여편익€47.6. 설치업체 가치이며당사이익아님. 지원비·개발비는 별도 제품수익성모형으로 검토.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R24</a:t>
            </a:r>
          </a:p>
          <a:p xmlns:a="http://schemas.openxmlformats.org/drawingml/2006/main">
            <a:r>
              <a:t>Nesta·CNZ</a:t>
            </a:r>
          </a:p>
          <a:p xmlns:a="http://schemas.openxmlformats.org/drawingml/2006/main">
            <a:r>
              <a:t>HeatFlex UK, 2024 실증</a:t>
            </a:r>
          </a:p>
          <a:p xmlns:a="http://schemas.openxmlformats.org/drawingml/2006/main">
            <a:r>
              <a:t>https://www.nesta.org.uk/project/heat-flex/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R15</a:t>
            </a:r>
          </a:p>
          <a:p xmlns:a="http://schemas.openxmlformats.org/drawingml/2006/main">
            <a:r>
              <a:t>gridX</a:t>
            </a:r>
          </a:p>
          <a:p xmlns:a="http://schemas.openxmlformats.org/drawingml/2006/main">
            <a:r>
              <a:t>Optimized Heat Pump Operation, 2026.06.02</a:t>
            </a:r>
          </a:p>
          <a:p xmlns:a="http://schemas.openxmlformats.org/drawingml/2006/main">
            <a:r>
              <a:t>https://support.gridx.ai/en/articles/590093-dynamic-tariff-optimization-optimized-heat-pump-operation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>물 밀도 약1kg/L, 비열4.186kJ/(kg·K) 가정. 200×4.186×10÷3600=2.3256kWh_thermal. COP3 가정 시 해당 열생산에 드는 전기0.7752kWh. 열손실·혼합·위생운전·출탕 및 COP변동 제외. 전체 탱크를10°C 올릴 수 있는지 여부는 제품별허용온도와 안전설계로 판단.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>동일 열서비스 조건, 고가시간 회피전기1000kWh/년, 고가€0.30/kWh, 예열전기1200kWh/년(20%추가), 연운영료€60, 설치추가비€250 가정. 연총절감=1000*.30-1200*p. p=.05,.15,.25에서240,120,0. 고객순편익=총절감-60 -&gt;180,60,-60. 단순회수기간250/180=1.39년,250/60=4.17년. 할인율·고장·물가·수명은 반영하지 않은 비교용 단순예시.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R22</a:t>
            </a:r>
          </a:p>
          <a:p xmlns:a="http://schemas.openxmlformats.org/drawingml/2006/main">
            <a:r>
              <a:t>UL Solutions</a:t>
            </a:r>
          </a:p>
          <a:p xmlns:a="http://schemas.openxmlformats.org/drawingml/2006/main">
            <a:r>
              <a:t>Power Control Systems for DER</a:t>
            </a:r>
          </a:p>
          <a:p xmlns:a="http://schemas.openxmlformats.org/drawingml/2006/main">
            <a:r>
              <a:t>https://www.ul.com/services/power-control-systems-distributed-energy-resource-systems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R23</a:t>
            </a:r>
          </a:p>
          <a:p xmlns:a="http://schemas.openxmlformats.org/drawingml/2006/main">
            <a:r>
              <a:t>ENA</a:t>
            </a:r>
          </a:p>
          <a:p xmlns:a="http://schemas.openxmlformats.org/drawingml/2006/main">
            <a:r>
              <a:t>G100 Issue 2 Amendment 2, 2023</a:t>
            </a:r>
          </a:p>
          <a:p xmlns:a="http://schemas.openxmlformats.org/drawingml/2006/main">
            <a:r>
              <a:t>https://www.energynetworks.org/assets/images/ENA_EREC_G100_Issue_2_Amendment_2_%282023%29.pdf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R01</a:t>
            </a:r>
          </a:p>
          <a:p xmlns:a="http://schemas.openxmlformats.org/drawingml/2006/main">
            <a:r>
              <a:t>BNetzA</a:t>
            </a:r>
          </a:p>
          <a:p xmlns:a="http://schemas.openxmlformats.org/drawingml/2006/main">
            <a:r>
              <a:t>§14a 제어가능 설비 적용 안내</a:t>
            </a:r>
          </a:p>
          <a:p xmlns:a="http://schemas.openxmlformats.org/drawingml/2006/main">
            <a:r>
              <a:t>https://www.bundesnetzagentur.de/DE/Vportal/Energie/SteuerbareVBE/artikel.html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>NESO의 stacking 문서는 서로 다른 시간의 jumping, 다른 용량의 splitting, 같은 방향 동시 제공의 co-delivery 등을 구분한다. 개별허용 여부를 해당계약·버전별로 저장하는 설계를제안한다. 고객요금절감 추정과 프로그램정산 기준선은 다른 결과이므로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R03</a:t>
            </a:r>
          </a:p>
          <a:p xmlns:a="http://schemas.openxmlformats.org/drawingml/2006/main">
            <a:r>
              <a:t>NESO</a:t>
            </a:r>
          </a:p>
          <a:p xmlns:a="http://schemas.openxmlformats.org/drawingml/2006/main">
            <a:r>
              <a:t>DFS Stacking List v2, 2026.04</a:t>
            </a:r>
          </a:p>
          <a:p xmlns:a="http://schemas.openxmlformats.org/drawingml/2006/main">
            <a:r>
              <a:t>https://www.neso.energy/document/380211/download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R10</a:t>
            </a:r>
          </a:p>
          <a:p xmlns:a="http://schemas.openxmlformats.org/drawingml/2006/main">
            <a:r>
              <a:t>ERCOT</a:t>
            </a:r>
          </a:p>
          <a:p xmlns:a="http://schemas.openxmlformats.org/drawingml/2006/main">
            <a:r>
              <a:t>ADER Pilot, Phase 3.3, 2026.06.03</a:t>
            </a:r>
          </a:p>
          <a:p xmlns:a="http://schemas.openxmlformats.org/drawingml/2006/main">
            <a:r>
              <a:t>https://www.ercot.com/mktrules/pilots/ader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R15</a:t>
            </a:r>
          </a:p>
          <a:p xmlns:a="http://schemas.openxmlformats.org/drawingml/2006/main">
            <a:r>
              <a:t>gridX</a:t>
            </a:r>
          </a:p>
          <a:p xmlns:a="http://schemas.openxmlformats.org/drawingml/2006/main">
            <a:r>
              <a:t>Optimized Heat Pump Operation, 2026.06.02</a:t>
            </a:r>
          </a:p>
          <a:p xmlns:a="http://schemas.openxmlformats.org/drawingml/2006/main">
            <a:r>
              <a:t>https://support.gridx.ai/en/articles/590093-dynamic-tariff-optimization-optimized-heat-pump-operation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R16</a:t>
            </a:r>
          </a:p>
          <a:p xmlns:a="http://schemas.openxmlformats.org/drawingml/2006/main">
            <a:r>
              <a:t>1KOMMA5°</a:t>
            </a:r>
          </a:p>
          <a:p xmlns:a="http://schemas.openxmlformats.org/drawingml/2006/main">
            <a:r>
              <a:t>Heartbeat 호환 목록, 2026.08.25</a:t>
            </a:r>
          </a:p>
          <a:p xmlns:a="http://schemas.openxmlformats.org/drawingml/2006/main">
            <a:r>
              <a:t>https://support.1komma5.com/hc/de/articles/29833157635356-Heartbeat-Kompatibilit%C3%A4tsliste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R19</a:t>
            </a:r>
          </a:p>
          <a:p xmlns:a="http://schemas.openxmlformats.org/drawingml/2006/main">
            <a:r>
              <a:t>Enphase</a:t>
            </a:r>
          </a:p>
          <a:p xmlns:a="http://schemas.openxmlformats.org/drawingml/2006/main">
            <a:r>
              <a:t>Daikin Altherma 3 설정 가이드</a:t>
            </a:r>
          </a:p>
          <a:p xmlns:a="http://schemas.openxmlformats.org/drawingml/2006/main">
            <a:r>
              <a:t>https://enphase.com/en-de/download/heat-pump-daikin-altherma-3-configuration-guide-iq-energy-router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R22</a:t>
            </a:r>
          </a:p>
          <a:p xmlns:a="http://schemas.openxmlformats.org/drawingml/2006/main">
            <a:r>
              <a:t>UL Solutions</a:t>
            </a:r>
          </a:p>
          <a:p xmlns:a="http://schemas.openxmlformats.org/drawingml/2006/main">
            <a:r>
              <a:t>Power Control Systems for DER</a:t>
            </a:r>
          </a:p>
          <a:p xmlns:a="http://schemas.openxmlformats.org/drawingml/2006/main">
            <a:r>
              <a:t>https://www.ul.com/services/power-control-systems-distributed-energy-resource-systems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R27</a:t>
            </a:r>
          </a:p>
          <a:p xmlns:a="http://schemas.openxmlformats.org/drawingml/2006/main">
            <a:r>
              <a:t>EEBUS</a:t>
            </a:r>
          </a:p>
          <a:p xmlns:a="http://schemas.openxmlformats.org/drawingml/2006/main">
            <a:r>
              <a:t>Limitation of Power Consumption v1.0</a:t>
            </a:r>
          </a:p>
          <a:p xmlns:a="http://schemas.openxmlformats.org/drawingml/2006/main">
            <a:r>
              <a:t>https://www.eebus.org/wp-content/uploads/2023/04/EEBus_UC_TS_LimitationOfPowerConsumption_V1.0.0_public.pdf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R29</a:t>
            </a:r>
          </a:p>
          <a:p xmlns:a="http://schemas.openxmlformats.org/drawingml/2006/main">
            <a:r>
              <a:t>EU 집행위</a:t>
            </a:r>
          </a:p>
          <a:p xmlns:a="http://schemas.openxmlformats.org/drawingml/2006/main">
            <a:r>
              <a:t>Cyber Resilience Act 적용 일정</a:t>
            </a:r>
          </a:p>
          <a:p xmlns:a="http://schemas.openxmlformats.org/drawingml/2006/main">
            <a:r>
              <a:t>https://digital-strategy.ec.europa.eu/en/policies/cra-summary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>성능 목표는 보장이나 현실증 결과가 아니다. 제한된 시험의0건실패는 실제모집단에서위험0을뜻하지않는다. 안전관련실패가나면확대중단후원인교정·재검증. 온도이탈비율분모는재실및제어대상시간, 허용온도폭은가구별사전합의. 고객순편익95%구간은가구군수준추정이며개별가구확정액아님.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R01</a:t>
            </a:r>
          </a:p>
          <a:p xmlns:a="http://schemas.openxmlformats.org/drawingml/2006/main">
            <a:r>
              <a:t>BNetzA</a:t>
            </a:r>
          </a:p>
          <a:p xmlns:a="http://schemas.openxmlformats.org/drawingml/2006/main">
            <a:r>
              <a:t>§14a 제어가능 설비 적용 안내</a:t>
            </a:r>
          </a:p>
          <a:p xmlns:a="http://schemas.openxmlformats.org/drawingml/2006/main">
            <a:r>
              <a:t>https://www.bundesnetzagentur.de/DE/Vportal/Energie/SteuerbareVBE/artikel.html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R23</a:t>
            </a:r>
          </a:p>
          <a:p xmlns:a="http://schemas.openxmlformats.org/drawingml/2006/main">
            <a:r>
              <a:t>ENA</a:t>
            </a:r>
          </a:p>
          <a:p xmlns:a="http://schemas.openxmlformats.org/drawingml/2006/main">
            <a:r>
              <a:t>G100 Issue 2 Amendment 2, 2023</a:t>
            </a:r>
          </a:p>
          <a:p xmlns:a="http://schemas.openxmlformats.org/drawingml/2006/main">
            <a:r>
              <a:t>https://www.energynetworks.org/assets/images/ENA_EREC_G100_Issue_2_Amendment_2_%282023%29.pdf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R22</a:t>
            </a:r>
          </a:p>
          <a:p xmlns:a="http://schemas.openxmlformats.org/drawingml/2006/main">
            <a:r>
              <a:t>UL Solutions</a:t>
            </a:r>
          </a:p>
          <a:p xmlns:a="http://schemas.openxmlformats.org/drawingml/2006/main">
            <a:r>
              <a:t>Power Control Systems for DER</a:t>
            </a:r>
          </a:p>
          <a:p xmlns:a="http://schemas.openxmlformats.org/drawingml/2006/main">
            <a:r>
              <a:t>https://www.ul.com/services/power-control-systems-distributed-energy-resource-systems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R03</a:t>
            </a:r>
          </a:p>
          <a:p xmlns:a="http://schemas.openxmlformats.org/drawingml/2006/main">
            <a:r>
              <a:t>NESO</a:t>
            </a:r>
          </a:p>
          <a:p xmlns:a="http://schemas.openxmlformats.org/drawingml/2006/main">
            <a:r>
              <a:t>DFS Stacking List v2, 2026.04</a:t>
            </a:r>
          </a:p>
          <a:p xmlns:a="http://schemas.openxmlformats.org/drawingml/2006/main">
            <a:r>
              <a:t>https://www.neso.energy/document/380211/download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R10</a:t>
            </a:r>
          </a:p>
          <a:p xmlns:a="http://schemas.openxmlformats.org/drawingml/2006/main">
            <a:r>
              <a:t>ERCOT</a:t>
            </a:r>
          </a:p>
          <a:p xmlns:a="http://schemas.openxmlformats.org/drawingml/2006/main">
            <a:r>
              <a:t>ADER Pilot, Phase 3.3, 2026.06.03</a:t>
            </a:r>
          </a:p>
          <a:p xmlns:a="http://schemas.openxmlformats.org/drawingml/2006/main">
            <a:r>
              <a:t>https://www.ercot.com/mktrules/pilots/ader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R28</a:t>
            </a:r>
          </a:p>
          <a:p xmlns:a="http://schemas.openxmlformats.org/drawingml/2006/main">
            <a:r>
              <a:t>CSA</a:t>
            </a:r>
          </a:p>
          <a:p xmlns:a="http://schemas.openxmlformats.org/drawingml/2006/main">
            <a:r>
              <a:t>Matter 1.5 에너지 관리 확장, 2025.11.20</a:t>
            </a:r>
          </a:p>
          <a:p xmlns:a="http://schemas.openxmlformats.org/drawingml/2006/main">
            <a:r>
              <a:t>https://csa-iot.org/newsroom/matter-1-5-introduces-cameras-closures-and-enhanced-energy-management-capabilities/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R26</a:t>
            </a:r>
          </a:p>
          <a:p xmlns:a="http://schemas.openxmlformats.org/drawingml/2006/main">
            <a:r>
              <a:t>EEBUS</a:t>
            </a:r>
          </a:p>
          <a:p xmlns:a="http://schemas.openxmlformats.org/drawingml/2006/main">
            <a:r>
              <a:t>Solutions &amp; Use Cases</a:t>
            </a:r>
          </a:p>
          <a:p xmlns:a="http://schemas.openxmlformats.org/drawingml/2006/main">
            <a:r>
              <a:t>https://www.eebus.org/solutions-use-cases/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R27</a:t>
            </a:r>
          </a:p>
          <a:p xmlns:a="http://schemas.openxmlformats.org/drawingml/2006/main">
            <a:r>
              <a:t>EEBUS</a:t>
            </a:r>
          </a:p>
          <a:p xmlns:a="http://schemas.openxmlformats.org/drawingml/2006/main">
            <a:r>
              <a:t>Limitation of Power Consumption v1.0</a:t>
            </a:r>
          </a:p>
          <a:p xmlns:a="http://schemas.openxmlformats.org/drawingml/2006/main">
            <a:r>
              <a:t>https://www.eebus.org/wp-content/uploads/2023/04/EEBus_UC_TS_LimitationOfPowerConsumption_V1.0.0_public.pdf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R29</a:t>
            </a:r>
          </a:p>
          <a:p xmlns:a="http://schemas.openxmlformats.org/drawingml/2006/main">
            <a:r>
              <a:t>EU 집행위</a:t>
            </a:r>
          </a:p>
          <a:p xmlns:a="http://schemas.openxmlformats.org/drawingml/2006/main">
            <a:r>
              <a:t>Cyber Resilience Act 적용 일정</a:t>
            </a:r>
          </a:p>
          <a:p xmlns:a="http://schemas.openxmlformats.org/drawingml/2006/main">
            <a:r>
              <a:t>https://digital-strategy.ec.europa.eu/en/policies/cra-summary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>실증제안: 기상·재실·기기구성에따른층화, 사전분산측정후표본수결정, 사전등록한기간·제외기준으로대조. 교차설계는열관성의잔류효과와washout처리. 탈락·통신결측은제거만하지않고발생률·민감도보고. 사용요금절감은예열과회복비용·추가전력·수수료 포함. 계량경계·시간대·DST·세금·기본료처리 명시.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R24</a:t>
            </a:r>
          </a:p>
          <a:p xmlns:a="http://schemas.openxmlformats.org/drawingml/2006/main">
            <a:r>
              <a:t>Nesta·CNZ</a:t>
            </a:r>
          </a:p>
          <a:p xmlns:a="http://schemas.openxmlformats.org/drawingml/2006/main">
            <a:r>
              <a:t>HeatFlex UK, 2024 실증</a:t>
            </a:r>
          </a:p>
          <a:p xmlns:a="http://schemas.openxmlformats.org/drawingml/2006/main">
            <a:r>
              <a:t>https://www.nesta.org.uk/project/heat-flex/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R25</a:t>
            </a:r>
          </a:p>
          <a:p xmlns:a="http://schemas.openxmlformats.org/drawingml/2006/main">
            <a:r>
              <a:t>Nesta</a:t>
            </a:r>
          </a:p>
          <a:p xmlns:a="http://schemas.openxmlformats.org/drawingml/2006/main">
            <a:r>
              <a:t>HeatFlex 기술·실증 보고서</a:t>
            </a:r>
          </a:p>
          <a:p xmlns:a="http://schemas.openxmlformats.org/drawingml/2006/main">
            <a:r>
              <a:t>https://media.nesta.org.uk/documents/HeatFlex_-_the_untapped_potential_of_heat_pump_flexibility.pdf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R03</a:t>
            </a:r>
          </a:p>
          <a:p xmlns:a="http://schemas.openxmlformats.org/drawingml/2006/main">
            <a:r>
              <a:t>NESO</a:t>
            </a:r>
          </a:p>
          <a:p xmlns:a="http://schemas.openxmlformats.org/drawingml/2006/main">
            <a:r>
              <a:t>DFS Stacking List v2, 2026.04</a:t>
            </a:r>
          </a:p>
          <a:p xmlns:a="http://schemas.openxmlformats.org/drawingml/2006/main">
            <a:r>
              <a:t>https://www.neso.energy/document/380211/download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R30</a:t>
            </a:r>
          </a:p>
          <a:p xmlns:a="http://schemas.openxmlformats.org/drawingml/2006/main">
            <a:r>
              <a:t>특허 공개문헌</a:t>
            </a:r>
          </a:p>
          <a:p xmlns:a="http://schemas.openxmlformats.org/drawingml/2006/main">
            <a:r>
              <a:t>US10191102B2, CT 극성 자동 보정</a:t>
            </a:r>
          </a:p>
          <a:p xmlns:a="http://schemas.openxmlformats.org/drawingml/2006/main">
            <a:r>
              <a:t>https://patents.google.com/patent/US10191102B2/en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R27</a:t>
            </a:r>
          </a:p>
          <a:p xmlns:a="http://schemas.openxmlformats.org/drawingml/2006/main">
            <a:r>
              <a:t>EEBUS</a:t>
            </a:r>
          </a:p>
          <a:p xmlns:a="http://schemas.openxmlformats.org/drawingml/2006/main">
            <a:r>
              <a:t>Limitation of Power Consumption v1.0</a:t>
            </a:r>
          </a:p>
          <a:p xmlns:a="http://schemas.openxmlformats.org/drawingml/2006/main">
            <a:r>
              <a:t>https://www.eebus.org/wp-content/uploads/2023/04/EEBus_UC_TS_LimitationOfPowerConsumption_V1.0.0_public.pdf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R24</a:t>
            </a:r>
          </a:p>
          <a:p xmlns:a="http://schemas.openxmlformats.org/drawingml/2006/main">
            <a:r>
              <a:t>Nesta·CNZ</a:t>
            </a:r>
          </a:p>
          <a:p xmlns:a="http://schemas.openxmlformats.org/drawingml/2006/main">
            <a:r>
              <a:t>HeatFlex UK, 2024 실증</a:t>
            </a:r>
          </a:p>
          <a:p xmlns:a="http://schemas.openxmlformats.org/drawingml/2006/main">
            <a:r>
              <a:t>https://www.nesta.org.uk/project/heat-flex/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R00</a:t>
            </a:r>
          </a:p>
          <a:p xmlns:a="http://schemas.openxmlformats.org/drawingml/2006/main">
            <a:r>
              <a:t>제공 HTML</a:t>
            </a:r>
          </a:p>
          <a:p xmlns:a="http://schemas.openxmlformats.org/drawingml/2006/main">
            <a:r>
              <a:t>Energy Pack Gateway Technology 2027–2030</a:t>
            </a:r>
          </a:p>
          <a:p xmlns:a="http://schemas.openxmlformats.org/drawingml/2006/main">
            <a:r>
              <a:t>D:/hems-search/output/Energy_Pack_Gateway_Technology_2027-2030.html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R00</a:t>
            </a:r>
          </a:p>
          <a:p xmlns:a="http://schemas.openxmlformats.org/drawingml/2006/main">
            <a:r>
              <a:t>제공 HTML</a:t>
            </a:r>
          </a:p>
          <a:p xmlns:a="http://schemas.openxmlformats.org/drawingml/2006/main">
            <a:r>
              <a:t>Energy Pack Gateway Technology 2027–2030</a:t>
            </a:r>
          </a:p>
          <a:p xmlns:a="http://schemas.openxmlformats.org/drawingml/2006/main">
            <a:r>
              <a:t>D:/hems-search/output/Energy_Pack_Gateway_Technology_2027-2030.html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R22</a:t>
            </a:r>
          </a:p>
          <a:p xmlns:a="http://schemas.openxmlformats.org/drawingml/2006/main">
            <a:r>
              <a:t>UL Solutions</a:t>
            </a:r>
          </a:p>
          <a:p xmlns:a="http://schemas.openxmlformats.org/drawingml/2006/main">
            <a:r>
              <a:t>Power Control Systems for DER</a:t>
            </a:r>
          </a:p>
          <a:p xmlns:a="http://schemas.openxmlformats.org/drawingml/2006/main">
            <a:r>
              <a:t>https://www.ul.com/services/power-control-systems-distributed-energy-resource-systems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R19</a:t>
            </a:r>
          </a:p>
          <a:p xmlns:a="http://schemas.openxmlformats.org/drawingml/2006/main">
            <a:r>
              <a:t>Enphase</a:t>
            </a:r>
          </a:p>
          <a:p xmlns:a="http://schemas.openxmlformats.org/drawingml/2006/main">
            <a:r>
              <a:t>Daikin Altherma 3 설정 가이드</a:t>
            </a:r>
          </a:p>
          <a:p xmlns:a="http://schemas.openxmlformats.org/drawingml/2006/main">
            <a:r>
              <a:t>https://enphase.com/en-de/download/heat-pump-daikin-altherma-3-configuration-guide-iq-energy-router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R01</a:t>
            </a:r>
          </a:p>
          <a:p xmlns:a="http://schemas.openxmlformats.org/drawingml/2006/main">
            <a:r>
              <a:t>BNetzA</a:t>
            </a:r>
          </a:p>
          <a:p xmlns:a="http://schemas.openxmlformats.org/drawingml/2006/main">
            <a:r>
              <a:t>§14a 제어가능 설비 적용 안내</a:t>
            </a:r>
          </a:p>
          <a:p xmlns:a="http://schemas.openxmlformats.org/drawingml/2006/main">
            <a:r>
              <a:t>https://www.bundesnetzagentur.de/DE/Vportal/Energie/SteuerbareVBE/artikel.html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R02</a:t>
            </a:r>
          </a:p>
          <a:p xmlns:a="http://schemas.openxmlformats.org/drawingml/2006/main">
            <a:r>
              <a:t>NESO</a:t>
            </a:r>
          </a:p>
          <a:p xmlns:a="http://schemas.openxmlformats.org/drawingml/2006/main">
            <a:r>
              <a:t>Demand Flexibility Service explained, 2026 개편</a:t>
            </a:r>
          </a:p>
          <a:p xmlns:a="http://schemas.openxmlformats.org/drawingml/2006/main">
            <a:r>
              <a:t>https://www.neso.energy/industry-information/balancing-services/demand-flexibility-service/demand-flexibility-service-explained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R03</a:t>
            </a:r>
          </a:p>
          <a:p xmlns:a="http://schemas.openxmlformats.org/drawingml/2006/main">
            <a:r>
              <a:t>NESO</a:t>
            </a:r>
          </a:p>
          <a:p xmlns:a="http://schemas.openxmlformats.org/drawingml/2006/main">
            <a:r>
              <a:t>DFS Stacking List v2, 2026.04</a:t>
            </a:r>
          </a:p>
          <a:p xmlns:a="http://schemas.openxmlformats.org/drawingml/2006/main">
            <a:r>
              <a:t>https://www.neso.energy/document/380211/download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R04</a:t>
            </a:r>
          </a:p>
          <a:p xmlns:a="http://schemas.openxmlformats.org/drawingml/2006/main">
            <a:r>
              <a:t>Enedis</a:t>
            </a:r>
          </a:p>
          <a:p xmlns:a="http://schemas.openxmlformats.org/drawingml/2006/main">
            <a:r>
              <a:t>Heures creuses 개편, 2025.10.15</a:t>
            </a:r>
          </a:p>
          <a:p xmlns:a="http://schemas.openxmlformats.org/drawingml/2006/main">
            <a:r>
              <a:t>https://www.enedis.fr/presse/enedis-met-en-oeuvre-la-reforme-des-heures-creuses-pour-accompagner-les-nouveaux-usages-lies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R05</a:t>
            </a:r>
          </a:p>
          <a:p xmlns:a="http://schemas.openxmlformats.org/drawingml/2006/main">
            <a:r>
              <a:t>네덜란드 정부</a:t>
            </a:r>
          </a:p>
          <a:p xmlns:a="http://schemas.openxmlformats.org/drawingml/2006/main">
            <a:r>
              <a:t>Salderingsregeling stopt in 2027</a:t>
            </a:r>
          </a:p>
          <a:p xmlns:a="http://schemas.openxmlformats.org/drawingml/2006/main">
            <a:r>
              <a:t>https://www.rijksoverheid.nl/themas/klimaat-milieu-en-natuur/energie-thuis/salderingsregeling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R06</a:t>
            </a:r>
          </a:p>
          <a:p xmlns:a="http://schemas.openxmlformats.org/drawingml/2006/main">
            <a:r>
              <a:t>ARERA</a:t>
            </a:r>
          </a:p>
          <a:p xmlns:a="http://schemas.openxmlformats.org/drawingml/2006/main">
            <a:r>
              <a:t>Potenza impegnata 및 계량기 용량 안내</a:t>
            </a:r>
          </a:p>
          <a:p xmlns:a="http://schemas.openxmlformats.org/drawingml/2006/main">
            <a:r>
              <a:t>https://www.arera.it/bolletta/glossario-dei-termini/dettaglio/potenza-impegnata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R07</a:t>
            </a:r>
          </a:p>
          <a:p xmlns:a="http://schemas.openxmlformats.org/drawingml/2006/main">
            <a:r>
              <a:t>ARERA</a:t>
            </a:r>
          </a:p>
          <a:p xmlns:a="http://schemas.openxmlformats.org/drawingml/2006/main">
            <a:r>
              <a:t>Potenza del contatore</a:t>
            </a:r>
          </a:p>
          <a:p xmlns:a="http://schemas.openxmlformats.org/drawingml/2006/main">
            <a:r>
              <a:t>https://www.arera.it/en/consumatori/potenza-del-contatore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R08</a:t>
            </a:r>
          </a:p>
          <a:p xmlns:a="http://schemas.openxmlformats.org/drawingml/2006/main">
            <a:r>
              <a:t>CNMC</a:t>
            </a:r>
          </a:p>
          <a:p xmlns:a="http://schemas.openxmlformats.org/drawingml/2006/main">
            <a:r>
              <a:t>2023년 말 가계조사, 2024.06.28 발표</a:t>
            </a:r>
          </a:p>
          <a:p xmlns:a="http://schemas.openxmlformats.org/drawingml/2006/main">
            <a:r>
              <a:t>https://www.cnmc.es/prensa/panel-hogares-servicios-electricidad-gas-20240628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R09</a:t>
            </a:r>
          </a:p>
          <a:p xmlns:a="http://schemas.openxmlformats.org/drawingml/2006/main">
            <a:r>
              <a:t>CPUC</a:t>
            </a:r>
          </a:p>
          <a:p xmlns:a="http://schemas.openxmlformats.org/drawingml/2006/main">
            <a:r>
              <a:t>Net Energy Metering and Net Billing</a:t>
            </a:r>
          </a:p>
          <a:p xmlns:a="http://schemas.openxmlformats.org/drawingml/2006/main">
            <a:r>
              <a:t>https://www.cpuc.ca.gov/industries-and-topics/electrical-energy/demand-side-management/customer-generation/net-energy-metering-and-net-billing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R10</a:t>
            </a:r>
          </a:p>
          <a:p xmlns:a="http://schemas.openxmlformats.org/drawingml/2006/main">
            <a:r>
              <a:t>ERCOT</a:t>
            </a:r>
          </a:p>
          <a:p xmlns:a="http://schemas.openxmlformats.org/drawingml/2006/main">
            <a:r>
              <a:t>ADER Pilot, Phase 3.3, 2026.06.03</a:t>
            </a:r>
          </a:p>
          <a:p xmlns:a="http://schemas.openxmlformats.org/drawingml/2006/main">
            <a:r>
              <a:t>https://www.ercot.com/mktrules/pilots/ader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R11</a:t>
            </a:r>
          </a:p>
          <a:p xmlns:a="http://schemas.openxmlformats.org/drawingml/2006/main">
            <a:r>
              <a:t>IRS</a:t>
            </a:r>
          </a:p>
          <a:p xmlns:a="http://schemas.openxmlformats.org/drawingml/2006/main">
            <a:r>
              <a:t>Residential Clean Energy Credit</a:t>
            </a:r>
          </a:p>
          <a:p xmlns:a="http://schemas.openxmlformats.org/drawingml/2006/main">
            <a:r>
              <a:t>https://www.irs.gov/credits-deductions/residential-clean-energy-credit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R12</a:t>
            </a:r>
          </a:p>
          <a:p xmlns:a="http://schemas.openxmlformats.org/drawingml/2006/main">
            <a:r>
              <a:t>DEWA</a:t>
            </a:r>
          </a:p>
          <a:p xmlns:a="http://schemas.openxmlformats.org/drawingml/2006/main">
            <a:r>
              <a:t>Slab Tariff, 연료조정요금 2026.09</a:t>
            </a:r>
          </a:p>
          <a:p xmlns:a="http://schemas.openxmlformats.org/drawingml/2006/main">
            <a:r>
              <a:t>https://www.dewa.gov.ae/en/consumer/billing/slab-tariff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R13</a:t>
            </a:r>
          </a:p>
          <a:p xmlns:a="http://schemas.openxmlformats.org/drawingml/2006/main">
            <a:r>
              <a:t>SERA</a:t>
            </a:r>
          </a:p>
          <a:p xmlns:a="http://schemas.openxmlformats.org/drawingml/2006/main">
            <a:r>
              <a:t>Electricity Service Guide, 요금표 p.67</a:t>
            </a:r>
          </a:p>
          <a:p xmlns:a="http://schemas.openxmlformats.org/drawingml/2006/main">
            <a:r>
              <a:t>https://www.sera.gov.sa/-/media/4a51a8ff4b5a45609033cfb7fea9d644.ashx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R14</a:t>
            </a:r>
          </a:p>
          <a:p xmlns:a="http://schemas.openxmlformats.org/drawingml/2006/main">
            <a:r>
              <a:t>KAHRAMAA</a:t>
            </a:r>
          </a:p>
          <a:p xmlns:a="http://schemas.openxmlformats.org/drawingml/2006/main">
            <a:r>
              <a:t>BeSolar net billing 안내</a:t>
            </a:r>
          </a:p>
          <a:p xmlns:a="http://schemas.openxmlformats.org/drawingml/2006/main">
            <a:r>
              <a:t>https://km.qa/RenewableEnergy/Pages/Besolar.aspx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R15</a:t>
            </a:r>
          </a:p>
          <a:p xmlns:a="http://schemas.openxmlformats.org/drawingml/2006/main">
            <a:r>
              <a:t>gridX</a:t>
            </a:r>
          </a:p>
          <a:p xmlns:a="http://schemas.openxmlformats.org/drawingml/2006/main">
            <a:r>
              <a:t>Optimized Heat Pump Operation, 2026.06.02</a:t>
            </a:r>
          </a:p>
          <a:p xmlns:a="http://schemas.openxmlformats.org/drawingml/2006/main">
            <a:r>
              <a:t>https://support.gridx.ai/en/articles/590093-dynamic-tariff-optimization-optimized-heat-pump-operation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R16</a:t>
            </a:r>
          </a:p>
          <a:p xmlns:a="http://schemas.openxmlformats.org/drawingml/2006/main">
            <a:r>
              <a:t>1KOMMA5°</a:t>
            </a:r>
          </a:p>
          <a:p xmlns:a="http://schemas.openxmlformats.org/drawingml/2006/main">
            <a:r>
              <a:t>Heartbeat 호환 목록, 2026.08.25</a:t>
            </a:r>
          </a:p>
          <a:p xmlns:a="http://schemas.openxmlformats.org/drawingml/2006/main">
            <a:r>
              <a:t>https://support.1komma5.com/hc/de/articles/29833157635356-Heartbeat-Kompatibilit%C3%A4tsliste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R17</a:t>
            </a:r>
          </a:p>
          <a:p xmlns:a="http://schemas.openxmlformats.org/drawingml/2006/main">
            <a:r>
              <a:t>Kraken</a:t>
            </a:r>
          </a:p>
          <a:p xmlns:a="http://schemas.openxmlformats.org/drawingml/2006/main">
            <a:r>
              <a:t>Electrifying domestic heating, 2025.08.21</a:t>
            </a:r>
          </a:p>
          <a:p xmlns:a="http://schemas.openxmlformats.org/drawingml/2006/main">
            <a:r>
              <a:t>https://engineering.kraken.tech/news/2025/08/21/electrifying-domestic-heating.html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R18</a:t>
            </a:r>
          </a:p>
          <a:p xmlns:a="http://schemas.openxmlformats.org/drawingml/2006/main">
            <a:r>
              <a:t>Enphase</a:t>
            </a:r>
          </a:p>
          <a:p xmlns:a="http://schemas.openxmlformats.org/drawingml/2006/main">
            <a:r>
              <a:t>IQ Energy Router 독일·오스트리아 출시, 2023.06</a:t>
            </a:r>
          </a:p>
          <a:p xmlns:a="http://schemas.openxmlformats.org/drawingml/2006/main">
            <a:r>
              <a:t>https://investor.enphase.com/news-releases/news-release-details/enphase-energy-launches-new-home-energy-management-solution/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R19</a:t>
            </a:r>
          </a:p>
          <a:p xmlns:a="http://schemas.openxmlformats.org/drawingml/2006/main">
            <a:r>
              <a:t>Enphase</a:t>
            </a:r>
          </a:p>
          <a:p xmlns:a="http://schemas.openxmlformats.org/drawingml/2006/main">
            <a:r>
              <a:t>Daikin Altherma 3 설정 가이드</a:t>
            </a:r>
          </a:p>
          <a:p xmlns:a="http://schemas.openxmlformats.org/drawingml/2006/main">
            <a:r>
              <a:t>https://enphase.com/en-de/download/heat-pump-daikin-altherma-3-configuration-guide-iq-energy-router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R20</a:t>
            </a:r>
          </a:p>
          <a:p xmlns:a="http://schemas.openxmlformats.org/drawingml/2006/main">
            <a:r>
              <a:t>SPAN</a:t>
            </a:r>
          </a:p>
          <a:p xmlns:a="http://schemas.openxmlformats.org/drawingml/2006/main">
            <a:r>
              <a:t>PowerUp 및 배전반 에너지 제어</a:t>
            </a:r>
          </a:p>
          <a:p xmlns:a="http://schemas.openxmlformats.org/drawingml/2006/main">
            <a:r>
              <a:t>https://www.span.io/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</a:t>
            </a:r>
          </a:p>
          <a:p xmlns:a="http://schemas.openxmlformats.org/drawingml/2006/main">
            <a:r>
              <a:t>공개 1차 자료의 확인 사실과 작성자의 사업 제안·가설·목표를 구분했다. 내부 성능·원가·채널 역량은 확인되지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R21</a:t>
            </a:r>
          </a:p>
          <a:p xmlns:a="http://schemas.openxmlformats.org/drawingml/2006/main">
            <a:r>
              <a:t>ConnectDER</a:t>
            </a:r>
          </a:p>
          <a:p xmlns:a="http://schemas.openxmlformats.org/drawingml/2006/main">
            <a:r>
              <a:t>Solar MSA v5.2 설치 매뉴얼</a:t>
            </a:r>
          </a:p>
          <a:p xmlns:a="http://schemas.openxmlformats.org/drawingml/2006/main">
            <a:r>
              <a:t>https://connectder.com/wp-content/uploads/2023/08/ConnectDER_Solar_MSA_v5.2_Installation-Manual-v1.0f.pdf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R22</a:t>
            </a:r>
          </a:p>
          <a:p xmlns:a="http://schemas.openxmlformats.org/drawingml/2006/main">
            <a:r>
              <a:t>UL Solutions</a:t>
            </a:r>
          </a:p>
          <a:p xmlns:a="http://schemas.openxmlformats.org/drawingml/2006/main">
            <a:r>
              <a:t>Power Control Systems for DER</a:t>
            </a:r>
          </a:p>
          <a:p xmlns:a="http://schemas.openxmlformats.org/drawingml/2006/main">
            <a:r>
              <a:t>https://www.ul.com/services/power-control-systems-distributed-energy-resource-systems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R23</a:t>
            </a:r>
          </a:p>
          <a:p xmlns:a="http://schemas.openxmlformats.org/drawingml/2006/main">
            <a:r>
              <a:t>ENA</a:t>
            </a:r>
          </a:p>
          <a:p xmlns:a="http://schemas.openxmlformats.org/drawingml/2006/main">
            <a:r>
              <a:t>G100 Issue 2 Amendment 2, 2023</a:t>
            </a:r>
          </a:p>
          <a:p xmlns:a="http://schemas.openxmlformats.org/drawingml/2006/main">
            <a:r>
              <a:t>https://www.energynetworks.org/assets/images/ENA_EREC_G100_Issue_2_Amendment_2_%282023%29.pdf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R24</a:t>
            </a:r>
          </a:p>
          <a:p xmlns:a="http://schemas.openxmlformats.org/drawingml/2006/main">
            <a:r>
              <a:t>Nesta·CNZ</a:t>
            </a:r>
          </a:p>
          <a:p xmlns:a="http://schemas.openxmlformats.org/drawingml/2006/main">
            <a:r>
              <a:t>HeatFlex UK, 2024 실증</a:t>
            </a:r>
          </a:p>
          <a:p xmlns:a="http://schemas.openxmlformats.org/drawingml/2006/main">
            <a:r>
              <a:t>https://www.nesta.org.uk/project/heat-flex/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R25</a:t>
            </a:r>
          </a:p>
          <a:p xmlns:a="http://schemas.openxmlformats.org/drawingml/2006/main">
            <a:r>
              <a:t>Nesta</a:t>
            </a:r>
          </a:p>
          <a:p xmlns:a="http://schemas.openxmlformats.org/drawingml/2006/main">
            <a:r>
              <a:t>HeatFlex 기술·실증 보고서</a:t>
            </a:r>
          </a:p>
          <a:p xmlns:a="http://schemas.openxmlformats.org/drawingml/2006/main">
            <a:r>
              <a:t>https://media.nesta.org.uk/documents/HeatFlex_-_the_untapped_potential_of_heat_pump_flexibility.pdf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R26</a:t>
            </a:r>
          </a:p>
          <a:p xmlns:a="http://schemas.openxmlformats.org/drawingml/2006/main">
            <a:r>
              <a:t>EEBUS</a:t>
            </a:r>
          </a:p>
          <a:p xmlns:a="http://schemas.openxmlformats.org/drawingml/2006/main">
            <a:r>
              <a:t>Solutions &amp; Use Cases</a:t>
            </a:r>
          </a:p>
          <a:p xmlns:a="http://schemas.openxmlformats.org/drawingml/2006/main">
            <a:r>
              <a:t>https://www.eebus.org/solutions-use-cases/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R27</a:t>
            </a:r>
          </a:p>
          <a:p xmlns:a="http://schemas.openxmlformats.org/drawingml/2006/main">
            <a:r>
              <a:t>EEBUS</a:t>
            </a:r>
          </a:p>
          <a:p xmlns:a="http://schemas.openxmlformats.org/drawingml/2006/main">
            <a:r>
              <a:t>Limitation of Power Consumption v1.0</a:t>
            </a:r>
          </a:p>
          <a:p xmlns:a="http://schemas.openxmlformats.org/drawingml/2006/main">
            <a:r>
              <a:t>https://www.eebus.org/wp-content/uploads/2023/04/EEBus_UC_TS_LimitationOfPowerConsumption_V1.0.0_public.pdf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R28</a:t>
            </a:r>
          </a:p>
          <a:p xmlns:a="http://schemas.openxmlformats.org/drawingml/2006/main">
            <a:r>
              <a:t>CSA</a:t>
            </a:r>
          </a:p>
          <a:p xmlns:a="http://schemas.openxmlformats.org/drawingml/2006/main">
            <a:r>
              <a:t>Matter 1.5 에너지 관리 확장, 2025.11.20</a:t>
            </a:r>
          </a:p>
          <a:p xmlns:a="http://schemas.openxmlformats.org/drawingml/2006/main">
            <a:r>
              <a:t>https://csa-iot.org/newsroom/matter-1-5-introduces-cameras-closures-and-enhanced-energy-management-capabilities/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R29</a:t>
            </a:r>
          </a:p>
          <a:p xmlns:a="http://schemas.openxmlformats.org/drawingml/2006/main">
            <a:r>
              <a:t>EU 집행위</a:t>
            </a:r>
          </a:p>
          <a:p xmlns:a="http://schemas.openxmlformats.org/drawingml/2006/main">
            <a:r>
              <a:t>Cyber Resilience Act 적용 일정</a:t>
            </a:r>
          </a:p>
          <a:p xmlns:a="http://schemas.openxmlformats.org/drawingml/2006/main">
            <a:r>
              <a:t>https://digital-strategy.ec.europa.eu/en/policies/cra-summary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R30</a:t>
            </a:r>
          </a:p>
          <a:p xmlns:a="http://schemas.openxmlformats.org/drawingml/2006/main">
            <a:r>
              <a:t>특허 공개문헌</a:t>
            </a:r>
          </a:p>
          <a:p xmlns:a="http://schemas.openxmlformats.org/drawingml/2006/main">
            <a:r>
              <a:t>US10191102B2, CT 극성 자동 보정</a:t>
            </a:r>
          </a:p>
          <a:p xmlns:a="http://schemas.openxmlformats.org/drawingml/2006/main">
            <a:r>
              <a:t>https://patents.google.com/patent/US10191102B2/en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199cbd5c1a48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8a15cc8a844449" /><Relationship Type="http://schemas.openxmlformats.org/officeDocument/2006/relationships/slideLayout" Target="/ppt/slideLayouts/slideLayout1.xml" Id="R538e89de01a44a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8e89de01a44a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9ee9db5514b73" /><Relationship Type="http://schemas.openxmlformats.org/officeDocument/2006/relationships/notesSlide" Target="/ppt/notesSlides/notesSlide1.xml" Id="R42b3ee61879c44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b520dc1d2b4a4c" /><Relationship Type="http://schemas.openxmlformats.org/officeDocument/2006/relationships/notesSlide" Target="/ppt/notesSlides/notesSlide2.xml" Id="Rb2e007319fd04b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2388e3a0940b2" /><Relationship Type="http://schemas.openxmlformats.org/officeDocument/2006/relationships/notesSlide" Target="/ppt/notesSlides/notesSlide3.xml" Id="R24ba1498c3f44e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a8efc66524f26" /><Relationship Type="http://schemas.openxmlformats.org/officeDocument/2006/relationships/notesSlide" Target="/ppt/notesSlides/notesSlide4.xml" Id="Rcde9776bcc344d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9bfc148f3e4d9e" /><Relationship Type="http://schemas.openxmlformats.org/officeDocument/2006/relationships/notesSlide" Target="/ppt/notesSlides/notesSlide5.xml" Id="R5f4052aa9e2941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7ad4e801b4e29" /><Relationship Type="http://schemas.openxmlformats.org/officeDocument/2006/relationships/notesSlide" Target="/ppt/notesSlides/notesSlide6.xml" Id="Rb1c2b7e476c047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9d6d3efae8438e" /><Relationship Type="http://schemas.openxmlformats.org/officeDocument/2006/relationships/notesSlide" Target="/ppt/notesSlides/notesSlide7.xml" Id="R760ad083016244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7eab0e14424bcb" /><Relationship Type="http://schemas.openxmlformats.org/officeDocument/2006/relationships/notesSlide" Target="/ppt/notesSlides/notesSlide8.xml" Id="R37c0eb538bdb48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91b8a76df4fcd" /><Relationship Type="http://schemas.openxmlformats.org/officeDocument/2006/relationships/notesSlide" Target="/ppt/notesSlides/notesSlide9.xml" Id="R45ca38e66e4b4a0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b6e45a311245b6" /><Relationship Type="http://schemas.openxmlformats.org/officeDocument/2006/relationships/notesSlide" Target="/ppt/notesSlides/notesSlide10.xml" Id="Rfd7f1ffdd16d4d0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dbc9afaa34d67" /><Relationship Type="http://schemas.openxmlformats.org/officeDocument/2006/relationships/notesSlide" Target="/ppt/notesSlides/notesSlide11.xml" Id="R7b478c153fb241a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19d692a1a14942" /><Relationship Type="http://schemas.openxmlformats.org/officeDocument/2006/relationships/notesSlide" Target="/ppt/notesSlides/notesSlide12.xml" Id="Rae29959265214aa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7c6a5372444ad" /><Relationship Type="http://schemas.openxmlformats.org/officeDocument/2006/relationships/notesSlide" Target="/ppt/notesSlides/notesSlide13.xml" Id="R81b011ff9404487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f6d08e70aa4156" /><Relationship Type="http://schemas.openxmlformats.org/officeDocument/2006/relationships/notesSlide" Target="/ppt/notesSlides/notesSlide14.xml" Id="R7e1921dd422e453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2be82424c1486f" /><Relationship Type="http://schemas.openxmlformats.org/officeDocument/2006/relationships/notesSlide" Target="/ppt/notesSlides/notesSlide15.xml" Id="R6d0a4404c64343a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3a200692e34734" /><Relationship Type="http://schemas.openxmlformats.org/officeDocument/2006/relationships/notesSlide" Target="/ppt/notesSlides/notesSlide16.xml" Id="R1d3dca7ac20c464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9e33f6f104410" /><Relationship Type="http://schemas.openxmlformats.org/officeDocument/2006/relationships/notesSlide" Target="/ppt/notesSlides/notesSlide17.xml" Id="Rc59b02a617f34d9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6e9bcca0124571" /><Relationship Type="http://schemas.openxmlformats.org/officeDocument/2006/relationships/notesSlide" Target="/ppt/notesSlides/notesSlide18.xml" Id="Rd6406be2af0e462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485e1aba94ef6" /><Relationship Type="http://schemas.openxmlformats.org/officeDocument/2006/relationships/notesSlide" Target="/ppt/notesSlides/notesSlide19.xml" Id="R58e744a612ae4a6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c13494fa2d4b9c" /><Relationship Type="http://schemas.openxmlformats.org/officeDocument/2006/relationships/notesSlide" Target="/ppt/notesSlides/notesSlide20.xml" Id="Rb906a0e004ea455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58fdd25015480e" /><Relationship Type="http://schemas.openxmlformats.org/officeDocument/2006/relationships/notesSlide" Target="/ppt/notesSlides/notesSlide21.xml" Id="R79139c3d034c421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6daca3a9d4bb3" /><Relationship Type="http://schemas.openxmlformats.org/officeDocument/2006/relationships/notesSlide" Target="/ppt/notesSlides/notesSlide22.xml" Id="R3250d04e5098484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ee867f45ad4200" /><Relationship Type="http://schemas.openxmlformats.org/officeDocument/2006/relationships/notesSlide" Target="/ppt/notesSlides/notesSlide23.xml" Id="Rc7f08bef4d9d4ac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9fe3bbc1144e6" /><Relationship Type="http://schemas.openxmlformats.org/officeDocument/2006/relationships/notesSlide" Target="/ppt/notesSlides/notesSlide24.xml" Id="R71d48a21a367490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01bcf8d804ff4" /><Relationship Type="http://schemas.openxmlformats.org/officeDocument/2006/relationships/notesSlide" Target="/ppt/notesSlides/notesSlide25.xml" Id="Rbece7cd3952e471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9b09e09f84d28" /><Relationship Type="http://schemas.openxmlformats.org/officeDocument/2006/relationships/notesSlide" Target="/ppt/notesSlides/notesSlide26.xml" Id="Rb284e9cff1da4fe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5c4de1c2a442a" /><Relationship Type="http://schemas.openxmlformats.org/officeDocument/2006/relationships/notesSlide" Target="/ppt/notesSlides/notesSlide27.xml" Id="Rae15be77c3ea4ef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0eadf9e434b60" /><Relationship Type="http://schemas.openxmlformats.org/officeDocument/2006/relationships/notesSlide" Target="/ppt/notesSlides/notesSlide28.xml" Id="R00fd3253bbb94ec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b32574a7b34780" /><Relationship Type="http://schemas.openxmlformats.org/officeDocument/2006/relationships/notesSlide" Target="/ppt/notesSlides/notesSlide29.xml" Id="Rec5949374cd14eb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22d0692134337" /><Relationship Type="http://schemas.openxmlformats.org/officeDocument/2006/relationships/notesSlide" Target="/ppt/notesSlides/notesSlide30.xml" Id="R7c3406424955492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838e5bb9048eb" /><Relationship Type="http://schemas.openxmlformats.org/officeDocument/2006/relationships/notesSlide" Target="/ppt/notesSlides/notesSlide31.xml" Id="Rd4c3ffecbda64e8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7c0554f454f56" /><Relationship Type="http://schemas.openxmlformats.org/officeDocument/2006/relationships/notesSlide" Target="/ppt/notesSlides/notesSlide32.xml" Id="R6fbf4c73fd99491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dfe88171104d66" /><Relationship Type="http://schemas.openxmlformats.org/officeDocument/2006/relationships/notesSlide" Target="/ppt/notesSlides/notesSlide33.xml" Id="Rc0b06ddde6d448f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63bef45a3f49d4" /><Relationship Type="http://schemas.openxmlformats.org/officeDocument/2006/relationships/notesSlide" Target="/ppt/notesSlides/notesSlide34.xml" Id="Rc06855d4a628459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30a7f6f514b76" /><Relationship Type="http://schemas.openxmlformats.org/officeDocument/2006/relationships/notesSlide" Target="/ppt/notesSlides/notesSlide35.xml" Id="R52422d8aa8e9402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4492cc8bb04568" /><Relationship Type="http://schemas.openxmlformats.org/officeDocument/2006/relationships/notesSlide" Target="/ppt/notesSlides/notesSlide36.xml" Id="R717660484475436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c326aaf794a6f" /><Relationship Type="http://schemas.openxmlformats.org/officeDocument/2006/relationships/notesSlide" Target="/ppt/notesSlides/notesSlide37.xml" Id="Rf10f719ebbcf43b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68ae8cc0a44db" /><Relationship Type="http://schemas.openxmlformats.org/officeDocument/2006/relationships/notesSlide" Target="/ppt/notesSlides/notesSlide38.xml" Id="R27d54c151f8546a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95db71d974aec" /><Relationship Type="http://schemas.openxmlformats.org/officeDocument/2006/relationships/notesSlide" Target="/ppt/notesSlides/notesSlide39.xml" Id="Re4d11e47d3b84a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4DC9A5-CBCD-4E08-9AA7-3C948875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Energy Pack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E76FAF-A66C-4E04-AC5C-020DE001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D1D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DD1D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4BA9CE-5FB1-4F84-B100-47EE9219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DD1D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BDD1D8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BF198-F78D-4E22-B73D-91794BBE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DD1D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BDD1D8"/>
                </a:solidFill>
                <a:latin typeface="Malgun Gothic"/>
                <a:ea typeface="Malgun Gothic"/>
                <a:cs typeface="Malgun Gothic"/>
              </a:rPr>
              <a:t>국가별 고객 문제와 기술 개발·사업화 우선순위</a:t>
            </a:r>
          </a:p>
          <a:p xmlns:a="http://schemas.openxmlformats.org/drawingml/2006/main">
            <a:pPr>
              <a:defRPr sz="1125" b="0">
                <a:solidFill>
                  <a:srgbClr val="BDD1D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BDD1D8"/>
                </a:solidFill>
                <a:latin typeface="Malgun Gothic"/>
                <a:ea typeface="Malgun Gothic"/>
                <a:cs typeface="Malgun Gothic"/>
              </a:rPr>
              <a:t>근거  R00 제공 HTML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48922-DFA5-4A03-9319-F3F7CC86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28850"/>
            <a:ext cx="105727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미래 먹거리를 만드는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관문기술과 진입시장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82A939-2BAB-43D7-85BF-B3520EC9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10001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D8B26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D8B26A"/>
                </a:solidFill>
                <a:latin typeface="Malgun Gothic"/>
                <a:ea typeface="Malgun Gothic"/>
                <a:cs typeface="Malgun Gothic"/>
              </a:rPr>
              <a:t>2027–2030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84005F-4923-497F-8E34-C33824C5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DD1D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BDD1D8"/>
                </a:solidFill>
                <a:latin typeface="Malgun Gothic"/>
                <a:ea typeface="Malgun Gothic"/>
                <a:cs typeface="Malgun Gothic"/>
              </a:rPr>
              <a:t>국가별 Pain Point · 경쟁 제품 검증 · R&amp;D 실행안</a:t>
            </a:r>
          </a:p>
        </p:txBody>
      </p:sp>
    </p:spTree>
    <p:extLst>
      <p:ext uri="{BB962C8B-B14F-4D97-AF65-F5344CB8AC3E}">
        <p14:creationId xmlns:p14="http://schemas.microsoft.com/office/powerpoint/2010/main" val="10247041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70AAEF-6F09-4B98-87F4-5DFA5800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2027년은 두 과제에 집중하는 편이 타당하다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C0F980-2D98-4F82-8082-4525A427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독일의 설치 검증과 영국의 열 유연성을 먼저 검증하고, 동일 기술을 네덜란드로 확장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91B58F-3BE0-4DFE-BFD9-122058C5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6466C-8830-46C6-893A-128D3BAC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8E3948-EAB0-4737-89C3-9E57A566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사업 제안 · 수치가 있는 경우 별도 표시한 가정 또는 목표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73373F-3EB5-4174-835C-3A5DB193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526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직접 개발  GT1 설치 검증 자동화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9775A3-6FFA-499B-9A68-7783742E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6193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설치업체가 반복하는 연결·설정·시험 작업을 줄이고, 유료 도입 여부를 확인한다.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F7F6A2-263B-4A39-8044-BFA2AE49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528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직접 개발  GT3 쾌적 제약을 지키는 열 제어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E8837B-6E69-4AF8-9973-437E89ED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8195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집별로 실제 제공 가능한 전력 조절 범위를 추정하고, 단순 타이머 대비 편익을 검증한다.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511AB4-F9D5-45BC-B0E5-747E6DD1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529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제휴 우선  GT2 전력 허브와 GT4 시장 연계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F98C99-F94C-45F9-BCE2-AD0A7EEB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0196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전력 보호·인증 하드웨어와 시장 등록·정산은 파트너를 활용한다.</a:t>
            </a:r>
          </a:p>
        </p:txBody>
      </p:sp>
    </p:spTree>
    <p:extLst>
      <p:ext uri="{BB962C8B-B14F-4D97-AF65-F5344CB8AC3E}">
        <p14:creationId xmlns:p14="http://schemas.microsoft.com/office/powerpoint/2010/main" val="13745171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7F57BE-8678-4B65-9F8F-77C7877C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기존 논리에서 수정해야 할 다섯 가지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9676C1-36C1-42CD-B474-F9BF6692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4대 관문기술 틀은 유지하되, 사업 범위와 차별성의 근거를 좁혔다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71FE61-311B-436F-BFA9-6303263A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C0102-2CA6-4C13-A714-9AF79738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60614E-A0F9-499B-9134-4213752D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근거  R04 Enedis · R10 ERCOT · R16 1KOMMA5° · R15 gridX · R22 UL Solutions · R03 NESO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28650" y="2124075"/>
          <a:ext xmlns:a="http://schemas.openxmlformats.org/drawingml/2006/main" cx="109347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57550"/>
                <a:gridCol w="3838575"/>
                <a:gridCol w="3838575"/>
              </a:tblGrid>
              <a:tr h="6064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자료의 주요 전제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확인 결과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전략에 반영할 변화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프랑스 급탕 스케줄 대규모 재설정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Linky 접점 연결 기기는 자동 추종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고정 타이머·혼합 설비만 선별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다른 브랜드 통합은 경쟁사 공백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복수 제조사 연동 제품이 이미 존재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 후 실제 제어·시험에 집중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텍사스 ADER의 전면 시장화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2026.06 Phase 3.3도 Pilot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 파트너 확보 전 수익 제외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소프트웨어가 증설 문제 해결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PCS 인증·현장 조건에 따라 다름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제품과 경제성 비교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여러 프로그램 수익을 동시 합산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시간·용량·방향별 중복 규칙 존재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허용 계약만 편익에 반영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60108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82B242-37E1-4112-8C61-0F854282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시장 우선순위는 고객 접근성과 실증 조건으로 결정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C3BD03-B58E-4312-923F-C029E151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국가 수를 세어 수요를 추정하지 않고, 구매자·제어권·계량 접근 가능성을 함께 판단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8A8D8-0144-4306-AA44-7F2E1694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DA9B93-0DB8-4594-A8AD-DE1E577F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404333-22D3-40CF-A62F-6CBD2B11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사업 제안 · 수치가 있는 경우 별도 표시한 가정 또는 목표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28650" y="2124075"/>
          <a:ext xmlns:a="http://schemas.openxmlformats.org/drawingml/2006/main" cx="1093470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52725"/>
                <a:gridCol w="4400550"/>
                <a:gridCol w="3781425"/>
              </a:tblGrid>
              <a:tr h="6096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진입 순서 제안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첫 고객과 문제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진입 조건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  독일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설치업체·OEM의 설정·시험 부담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 기기 목록, 현장 30건 접근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  영국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소매사·집합사업자의 열부하 운전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계량 데이터·기기 제어권·실증 가구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  네덜란드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PV 가구의 2027년 이후 자가소비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HP·급탕탱크 보유, 수출 계약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선별  프랑스·스페인·이탈리아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고정 타이머·계약전력·혼합 설비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저비용 대안 대비 추가 가치 확인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파트너 동반  미국·걸프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전력 증설·백업 또는 냉방 운전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인증·채널·요금 부담자 확보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73436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A803D8-A9D3-466B-B5C0-06DCA142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독일: 설치 완료를 검증하는 비용을 줄인다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8631FD-BB6D-40A8-82FD-0D774E79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첫 구매자 후보는 가정 소비자보다 설치업체·Energy Pack OEM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D7BDCA-30C6-42D5-95FE-4B288FE7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DCA399-C2FF-4620-B704-33D8EF06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05E5E-3928-4306-A26D-1BD01667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§14a는 대상 설비의 수전 제어다. 일반 가전과 PV 역송 전체를 한꺼번에 제한하는 제도가 아니다.</a:t>
            </a:r>
          </a:p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근거  R01 BNetzA · R26 EEBUS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838876-CDB2-456C-B127-62FB516A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5181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확인한 제도와 고객 문제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7DF713-3F0C-496E-9C7B-0F0F5C5A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51816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2024년 이후 신규 설치 등 조건에 따라</a:t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히트펌프·EV 충전·저장장치 등이 적용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EMS가 여러 대상 설비를 조정할 수 있음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현장 문제 가설</a:t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계측 방향·제어권·통신·설정이 맞는지</a:t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기기별로 확인하는 시간이 길다.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4A04BA-A179-47F2-934A-FB72073B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190750"/>
            <a:ext cx="5181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판매할 모듈과 검증 방법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5AFECA-6AD7-4842-A3F9-8DA3FEA7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09875"/>
            <a:ext cx="51816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기기 연결 후 명령·응답 시험 수행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지원 조합별 설치 완료 보고서 생성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수익 방식: 설치 건별 또는 OEM 탑재료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측정: 작업시간, 재방문, 실패 원인</a:t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비교: 현재 설치 앱과 기존 HEMS</a:t>
            </a:r>
          </a:p>
        </p:txBody>
      </p:sp>
    </p:spTree>
    <p:extLst>
      <p:ext uri="{BB962C8B-B14F-4D97-AF65-F5344CB8AC3E}">
        <p14:creationId xmlns:p14="http://schemas.microsoft.com/office/powerpoint/2010/main" val="21389793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C76747-F21A-4971-9E80-6BAAD286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영국: 열부하의 양방향 유연성을 공급한다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AD58EE-1422-44A7-BEDF-9C614CE5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소매사·집합사업자가 고객 확보와 시장 참여를 담당하는 B2B2C 모델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FBC1D6-D9D1-4547-BA1F-F736D6D8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0C41ED-40F6-49D9-ADE7-759389EA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ED3DA-742C-459E-9810-2041693E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제도 참여가 수익을 보장하지 않는다. 대상 가구·이벤트·보상은 공급자 계약에 따라 달라진다.</a:t>
            </a:r>
          </a:p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근거  R02 NESO · R24 Nesta·CNZ · R03 NESO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3B58AB-5F3E-418F-895E-920F139A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5181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2026년의 기회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6B2084-10A1-4892-AF81-0C52404A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51816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NESO DFS는 2026.04.14부터</a:t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사용 감소뿐 아니라 증가도 보상 가능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스마트미터와 등록 사업자를 통해 참여</a:t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대상 지역: 잉글랜드·스코틀랜드·웨일스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열 유연성은 이미 현장 실증이 존재</a:t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새 과제는 집별 제공량과 신뢰도다.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701A05-4EE8-44C7-B533-F5A19A93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190750"/>
            <a:ext cx="5181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제안 상품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84FA8F-9CAE-4A1A-B812-79620601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09875"/>
            <a:ext cx="51816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저렴하거나 계통이 요구하는 시간에</a:t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급탕·예열하고 피크 시간 사용을 조절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집별 온도 제약과 회복 부하까지 관리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소매사에는 가용 kW와 불확실성 제공</a:t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고객에게는 요금·온도 결과 공개</a:t>
            </a:r>
          </a:p>
        </p:txBody>
      </p:sp>
    </p:spTree>
    <p:extLst>
      <p:ext uri="{BB962C8B-B14F-4D97-AF65-F5344CB8AC3E}">
        <p14:creationId xmlns:p14="http://schemas.microsoft.com/office/powerpoint/2010/main" val="3434984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13922D-E451-4098-9343-0FCBFA05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네덜란드는 상품화, 프랑스는 대상 선별이 핵심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70914F-2B00-470D-A307-2CA1A7F6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같은 급탕 제어라도 제도 변화가 만들어내는 추가 가치는 다르다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489333-A410-49C1-B2B0-ADB31784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C05EB4-8132-4A74-A8D7-7D262E9B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886198-2CF4-42DA-A4ED-3921FE0A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근거  R05 네덜란드 정부 · R04 Enedis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CC009-1758-4AD6-B7FA-6867BE72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5181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네덜란드  PV·HP 보유 가구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586DE3-A376-4BE1-9E22-439118CE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51816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2027.01.01 상계제도 종료</a:t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역송 보상은 계속 존재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기회: 잉여 발전을 열로 활용하되</a:t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역송 보상·열손실을 함께 계산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채널: PV·HP 설치업체</a:t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판단: 탱크·배터리의 추가 구입 없이도</a:t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운전 개선으로 편익이 남는가?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32089C-9910-4E92-BB10-41C04E22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190750"/>
            <a:ext cx="5181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프랑스  미연동 설비를 선별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1B7122-9474-4A3C-BE39-531EEF87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09875"/>
            <a:ext cx="51816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비첨두 시간 변경은 2025–2027 순차 적용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Linky 접점 연결 급탕기는 자동 추종</a:t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1,100만 변경 고객 모두가 추가 시장은 아님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기회: 고정 타이머, PV·HP 혼합 제어</a:t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채널: 설비 유지보수 사업자</a:t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판단: 간단한 재설정으로 해결되는가?</a:t>
            </a:r>
          </a:p>
        </p:txBody>
      </p:sp>
    </p:spTree>
    <p:extLst>
      <p:ext uri="{BB962C8B-B14F-4D97-AF65-F5344CB8AC3E}">
        <p14:creationId xmlns:p14="http://schemas.microsoft.com/office/powerpoint/2010/main" val="20006720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FE719B-8331-4AF8-8431-DE85457E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남유럽: 용량 부족과 과다 계약을 구분한다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9340F0-50A5-4FFC-9664-6DDD0D07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증설 회피형 허브는 실제로 비싼 공사가 필요한 집에 한해 검토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A5CFE-9C56-4E27-8678-A150CE4E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BAB23-28AB-46A3-BE71-F7E41D22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E0FD52-7D56-4EA1-87F3-0A2F2AA8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스페인 수치는 2023년 말 조사다. 현재 전체 시장 규모나 신규 전기화 가구의 상황으로 확대 해석하지 않는다.</a:t>
            </a:r>
          </a:p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근거  R06 ARERA · R07 ARERA · R08 CNMC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B20E8-AFB4-4872-B09A-130A0253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5181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이탈리아  동시 사용 제약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21CA6A-F515-4731-A9B1-847AFCCE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51816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일반 가정의 대표 계약전력은 3 kW</a:t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계량기는 통상 10% 여유를 제공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기회: EV·히트펌프를 기존 가전과 조정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먼저 비교할 대안</a:t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계약용량 변경, EV 단독 부하관리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허브 가격이 대안보다 낮아야 성립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E869C5-ECD6-436B-8A86-EAF8529A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190750"/>
            <a:ext cx="5181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스페인  계약 최적화부터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8CDB81-1F7F-4D2E-821D-6BB50F9B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09875"/>
            <a:ext cx="51816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CNMC 조사에서 63% 가구가</a:t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피크 시간 실제 사용보다 높은 용량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모든 집이 용량 부족에 처한 것은 아님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기회: 전기화 예정 가구의 사용 이력으로</a:t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계약 변경과 능동 제어를 함께 제안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재투입·증설 비용까지 비교</a:t>
            </a:r>
          </a:p>
        </p:txBody>
      </p:sp>
    </p:spTree>
    <p:extLst>
      <p:ext uri="{BB962C8B-B14F-4D97-AF65-F5344CB8AC3E}">
        <p14:creationId xmlns:p14="http://schemas.microsoft.com/office/powerpoint/2010/main" val="2017394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1351ED-FD95-452F-B4B6-2DC561A8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미국: 캘리포니아 운전 최적화와 텍사스 참여를 분리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0A0CFE-4848-4E75-A366-E9ED1B72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보조금·백업·전력시장 수익은 같은 경제성 항목으로 자동 합산하지 않는다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5F3935-A202-4AD7-A813-8DC20957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7259FD-0A4D-4B7D-9C90-C7B7B562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5BEC27-4E7E-468C-B906-81857463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IRS §25D는 2025년 이후 사용 개시 설비에 적용되지 않는다. 다른 사업·주정부 제도의 조건은 별도 확인.</a:t>
            </a:r>
          </a:p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근거  R09 CPUC · R10 ERCOT · R11 IRS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AFD89D-12C2-4775-B428-02E1F20A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5181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캘리포니아  NBT 가구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3A882D-CAAA-4D78-B42B-6D5BE2DB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51816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역송 보상은 보통 소매요금보다 낮지만</a:t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일부 늦여름 저녁에는 더 높을 수 있음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제안: 열부하·배터리·백업 잔량 통합 운전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자가소비 극대화만으로 최적을 단정 불가</a:t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가입 연도·요금표별 실제 청구로 검증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채널: 인증 ESS·설치 파트너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6505B7-AE9A-4356-BF9B-0DD5E41A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190750"/>
            <a:ext cx="5181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텍사스  파트너 실증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1C541F-F185-41F3-8402-2645E431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09875"/>
            <a:ext cx="51816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ERCOT ADER는 Phase 3.3 Pilot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참여에는 등록·계량·텔레메트리와</a:t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관련 사업자의 확인 절차 필요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제안: 현지 집합사업자에 제어 모듈 공급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시장 계약 확보 전 기본 수익은 0으로 설정</a:t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고객 백업 선호를 계약에 반영</a:t>
            </a:r>
          </a:p>
        </p:txBody>
      </p:sp>
    </p:spTree>
    <p:extLst>
      <p:ext uri="{BB962C8B-B14F-4D97-AF65-F5344CB8AC3E}">
        <p14:creationId xmlns:p14="http://schemas.microsoft.com/office/powerpoint/2010/main" val="12908235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ECC03D-4472-421B-BD82-E0FA101A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걸프: 냉방 요금 절감과 수요반응 사업을 구분한다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57B5E5-7DB0-4AD3-9076-5E36AC3F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국가별 요금과 실제 비용 부담자가 다르므로 하나의 GCC 상품으로 묶기 어렵다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6F042A-D558-405D-877E-212970CF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6B6A7-A818-40CF-A11D-E25D63A7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D83C80-3C93-4953-8CCC-8D9251F2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근거  R12 DEWA · R13 SERA · R14 KAHRAMAA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28650" y="2124075"/>
          <a:ext xmlns:a="http://schemas.openxmlformats.org/drawingml/2006/main" cx="10934700" cy="3552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3752850"/>
                <a:gridCol w="3657600"/>
              </a:tblGrid>
              <a:tr h="88820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지역·확인 사실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구매자와 문제 가설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우선 제안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</a:tr>
              <a:tr h="88820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두바이 / DEWA 누진요금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0.230–0.380 AED/kWh¹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냉방비를 내는 빌라 소유자·운영사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운전 낭비, 온습도 불만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열·습도 제어와 이상 탐지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 이동보다 총 소비 절감 검증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8820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사우디 / 주거용 누진요금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월 6,000 kWh 경계, 18·30 halala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주택·단지 운영사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냉방 요금·유지보수 부담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냉방 최적화 실증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보조·계약 조건별 편익 확인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88820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카타르 / BeSolar net billing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역송 0.237 QAR/kWh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PV 설치 고객·개발사업자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자가소비와 역송 중 선택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한계 구입요금과 역송가 비교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경제성이 낮으면 제어 확대 보류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BB34BF-705E-49DE-A23C-587562B5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7150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¹ 기본 전력량 요금. 2026.09 연료조정요금 0.060 AED/kWh와 VAT는 별도</a:t>
            </a:r>
          </a:p>
        </p:txBody>
      </p:sp>
    </p:spTree>
    <p:extLst>
      <p:ext uri="{BB962C8B-B14F-4D97-AF65-F5344CB8AC3E}">
        <p14:creationId xmlns:p14="http://schemas.microsoft.com/office/powerpoint/2010/main" val="1767435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74AD6E-30B8-498A-B520-5DEDAB75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다른 브랜드 연동 자체는 이미 경쟁 영역이다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A9E68-32AC-489A-8588-8DE5F213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공식 제품·지원 문서에 나온 기능과, 우리가 추가 검증할 차이를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6FFCAB-3B46-4BA2-A35D-6AF743C1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028DD8-5F03-4F3B-8E15-8A46CD52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7E55A-D483-44B3-B044-9D022A9F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근거  R15 gridX · R16 1KOMMA5° · R17 Kraken · R18 Enphase · R19 Enphase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28650" y="2124075"/>
          <a:ext xmlns:a="http://schemas.openxmlformats.org/drawingml/2006/main" cx="1093470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57450"/>
                <a:gridCol w="4400550"/>
                <a:gridCol w="4076700"/>
              </a:tblGrid>
              <a:tr h="73152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제품·플랫폼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공식 문서에서 확인한 기능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차별성 검증 질문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gridX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저가·PV 잉여 시 HP 운전 권고</a:t>
                      </a:r>
                    </a:p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해당 기능은 직접 전력값 제어가 아님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응답량을 더 정확하게</a:t>
                      </a:r>
                    </a:p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추정·확인할 수 있는가?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1KOMMA5° Heartbeat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복수 제조사 호환 목록 제공</a:t>
                      </a:r>
                    </a:p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일부 HP는 계량 방식 통합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계측 가능과 제어 가능을</a:t>
                      </a:r>
                    </a:p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자동으로 구분할 수 있는가?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Kraken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열부하 유연성 프로젝트·운영 경험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소매사 플랫폼에 공급할</a:t>
                      </a:r>
                    </a:p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OEM 제어 모듈이 필요한가?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Enphase IQ Energy Router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독일·오스트리아에서</a:t>
                      </a:r>
                    </a:p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선택된 타사 EV·HP 통합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특정 지원 조합에서 설치·시험을</a:t>
                      </a:r>
                    </a:p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얼마나 더 줄일 수 있는가?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26348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E5261C-4FE8-4E68-99B0-7A21D012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전력 허브도 대체 제품과 인증 경로가 존재한다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D20F17-878C-439F-80F2-16AF4650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하드웨어 사업은 독자 개발보다 기존 제품 대비 추가 가치 검증이 먼저다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F42C04-D35D-4139-8C35-712A7039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414BF-02BF-45E8-8A52-81DE46BB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BAA2AD-C924-41B2-B22B-F9163D8D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근거  R20 SPAN · R21 ConnectDER · R22 UL Solutions · R23 ENA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28650" y="2124075"/>
          <a:ext xmlns:a="http://schemas.openxmlformats.org/drawingml/2006/main" cx="10934700" cy="3352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90800"/>
                <a:gridCol w="4343400"/>
                <a:gridCol w="4000500"/>
              </a:tblGrid>
              <a:tr h="838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 대상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이미 제공하는 역할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우리가 검증할 추가 가치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SPAN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회로별 제어·백업 부하 우선순위</a:t>
                      </a:r>
                    </a:p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조건에 맞는 전력 증설 회피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온도·급탕·EV 출발시간까지 반영한</a:t>
                      </a:r>
                    </a:p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부하 배분이 추가 편익을 주는가?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ConnectDER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계량기 소켓 어댑터를 통한</a:t>
                      </a:r>
                    </a:p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설비 접속 구조 단순화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현장 공사비가 문제인지</a:t>
                      </a:r>
                    </a:p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제약이 문제인지 구분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UL PCS / 영국 G100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전력 제한·고장 시 동작을 다루는</a:t>
                      </a:r>
                    </a:p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평가·적합성 경로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국가·설비별 시험 범위와</a:t>
                      </a:r>
                    </a:p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파트너 비용을 확보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852B0E-7CEE-4D4C-884D-B74E9582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60070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백업 제어·증설 회피가 미개척이라는 전제로 신규 배전반을 개발하면 차별성이 약하다.</a:t>
            </a:r>
          </a:p>
        </p:txBody>
      </p:sp>
    </p:spTree>
    <p:extLst>
      <p:ext uri="{BB962C8B-B14F-4D97-AF65-F5344CB8AC3E}">
        <p14:creationId xmlns:p14="http://schemas.microsoft.com/office/powerpoint/2010/main" val="20754961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7EDDCC-741E-4D80-A1FE-891486C4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4대 관문기술의 개발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8F8BE1-37E2-4C6A-8CAD-9BE313E6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관문기술: 고객 도입이나 반복 판매를 막는 문제를 해결하는 공통 기술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DC2687-51D6-42BA-87E3-4F954BCC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B364D-9FFE-4D43-A12B-E10010EF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2FC46E-5F31-496F-A324-50BD26E2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사업 제안 · 수치가 있는 경우 별도 표시한 가정 또는 목표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28650" y="2124075"/>
          <a:ext xmlns:a="http://schemas.openxmlformats.org/drawingml/2006/main" cx="109347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19450"/>
                <a:gridCol w="4476750"/>
                <a:gridCol w="3238500"/>
              </a:tblGrid>
              <a:tr h="72771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관문기술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남길 기술적 핵심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2027년 선택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GT1  설치 검증 자동화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제어능력 탐색, 안전한 응답 시험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기기·계측·정책 버전별 증적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직접 개발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독일 설치 파트너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GT3  쾌적 제약 열 제어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가용 전력·에너지와 불확실성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응답 확인과 회복 운전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직접 개발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영국 소매사·HP OEM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GT2  전력 제한 허브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계통·회로·상별 제약 안의 부하 배분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HW 제휴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증설비가 높은 현장 선별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GT4  다중 계약·편익 검증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제어권 충돌 처리, 허용 중복 규칙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계약별 기록과 고객 순편익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기능으로 구현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시장 정산은 파트너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76113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A54A2D-1C6A-426C-9F08-AC0A2E3B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GT1: 자동 발견보다 설치 후 응답 시험이 핵심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870D67-8811-4915-A391-7E97CEBB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지원 기기·정상 배선·승인된 시험 조건 안에서 자동화를 시작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F9F6A6-9784-46D4-87D7-F00EC158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CD033-193F-4374-A0DD-E1434159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0B2FC5-571B-4444-A986-59E13D4D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설치 보고서는 제품·현장 적합성 판단의 증거다. 법정 인증이나 설치자의 책임을 대체하지 않는다.</a:t>
            </a:r>
          </a:p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근거  R15 gridX · R19 Enphase · R26 EEBUS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28650" y="2124075"/>
          <a:ext xmlns:a="http://schemas.openxmlformats.org/drawingml/2006/main" cx="109347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52650"/>
                <a:gridCol w="4867275"/>
                <a:gridCol w="3914775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기술 동작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출력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  관찰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기기·펌웨어·프로토콜·계측점 식별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/ 권고 / 직접제어 등 능력 분류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  제한된 시험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허용된 작은 명령을 순차 적용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전력·상·상태 변화 확인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명령 지연, 미응답, 계측 불일치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  대조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기기 보호·제어권·국가 설정 대조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실패 시 읽기 전용 또는 수동 절차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통과·재시험·현장 점검 구분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  기록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시간·버전·설정·시험 결과를 저장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 보고서와 유지보수 기준선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38961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075CE8-5DF0-4EED-895A-79E737E3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GT1 경제성: 줄일 수 있는 작업만 계산한다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D8A34-0586-4AA5-838E-09E8D06A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가상 사례. 전체 설비 공사비나 태양광의 모든 간접비를 절감 대상으로 잡지 않음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8108D2-7D8C-47A7-BCF4-BB80387F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54B1DF-438A-4A15-BD8A-6410A131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8F609D-9936-4F3C-AA58-3FD298DB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아래는 시장 평균·실적·제안가격이 아니다. 현장 관찰과 견적을 받기 위한 계산 예시다.</a:t>
            </a:r>
          </a:p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사업 제안 · 수치가 있는 경우 별도 표시한 가정 또는 목표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28650" y="2124075"/>
          <a:ext xmlns:a="http://schemas.openxmlformats.org/drawingml/2006/main" cx="109347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4552950"/>
                <a:gridCol w="2571750"/>
              </a:tblGrid>
              <a:tr h="59531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계산 항목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가정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건당 편익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설정·시험 노동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3.0시간에서 1.5시간, €60/시간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€90.0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재방문 기대비용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12%에서 5%, 1회 €180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€12.6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설치업체 총 절감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작업·재방문 항목 합계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€102.6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사용료와 추가 자재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€35 + €20 차감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−€55.0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설치업체에 남는 편익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총 절감 − 추가 비용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€47.6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419693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F58B97-76A7-40A1-B1D8-DAA71FCC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GT3: “지금 이 집이 얼마나 조절 가능한가”를 계산한다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0B7FE6-DF1D-46A9-93BF-69160B3F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시각별 가용 전력, 지속시간, 회복 부하를 불확실성과 함께 제공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74DCFA-F399-43B7-AFF5-143389DB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FF0C4E-7578-4C30-9EEF-540A6A45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88E0D-C9C6-4F01-9F28-5234AF4E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HeatFlex는 43가구·30회 이벤트의 현장 연구다. 모든 기후·주택·기기에 일반화한 수익 증거는 아니다.</a:t>
            </a:r>
          </a:p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근거  R24 Nesta·CNZ · R15 gridX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97E749-E427-4019-811B-FE8A9187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5181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입력과 연구 대상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E894F-20C6-47BC-B91C-653D75A6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51816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실내·외 온도, 온수 온도, 사용 이력</a:t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HP 상태와 전력, 사용자 허용 범위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미지 상태: 단열·열용량·탱크 잔열</a:t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동작 지연: 제상·최소 운전·휴지시간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핵심 연구</a:t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불확실할수록 제공량을 줄이는</a:t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보수적 가용량 추정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696BA6-3005-47C4-B137-55D12831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190750"/>
            <a:ext cx="5181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판매 가능한 출력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95E40E-B752-42AB-8295-72A54478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09875"/>
            <a:ext cx="51816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가능한 증감 전력과 지속시간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명령의 실제 이행 여부와 원인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이벤트 후 회복 전력과 예상 비용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사용자는 온도 범위·급탕 시점 설정</a:t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언제든 해당 이벤트에서 제외 가능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단순 타이머 대비 추가 편익으로 평가</a:t>
            </a:r>
          </a:p>
        </p:txBody>
      </p:sp>
    </p:spTree>
    <p:extLst>
      <p:ext uri="{BB962C8B-B14F-4D97-AF65-F5344CB8AC3E}">
        <p14:creationId xmlns:p14="http://schemas.microsoft.com/office/powerpoint/2010/main" val="21255940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FB9B15-EF69-4DAF-A3B7-881E2238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열 저장량과 이동 가능한 전력량은 다르다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03723-32B8-4410-983F-32E57B80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200 L 급탕탱크를 예로 든 물리 계산. 실제 설비 용량 또는 제품 성능 주장이 아님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7EB9DB-EF53-41D5-B751-8FBDF79A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231BB-5E67-4AB1-A7C6-DFEB78BE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038948-B424-4B7C-A83E-16CF5942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사업 제안 · 수치가 있는 경우 별도 표시한 가정 또는 목표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B49D82-7569-4DC2-99EC-58DFD8F8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0275"/>
            <a:ext cx="5524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54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2.33 kWh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95FC03-3F5A-4E01-A22B-4E06F26B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열량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131833-AC26-4C0E-9A45-32EC8EF6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0275"/>
            <a:ext cx="5143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약 0.78 kWh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36AFED-1F15-4783-8BF8-891DC8D1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9565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해당 열을 만드는 전기량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10B4D6-C0AF-4CC0-A99A-0121BF9B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338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가정: 물 200 L, 온도차 10°C, COP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E31AC7-F533-452B-95E2-36C6B9D3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43450"/>
            <a:ext cx="1038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Q = 질량 × 비열 × 온도차. 전기량은 Q ÷ COP로 환산한다.</a:t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실제 유연성은 열손실·온수 사용·위생 운전·쾌적 제약 때문에 더 작아질 수 있다.</a:t>
            </a:r>
          </a:p>
        </p:txBody>
      </p:sp>
    </p:spTree>
    <p:extLst>
      <p:ext uri="{BB962C8B-B14F-4D97-AF65-F5344CB8AC3E}">
        <p14:creationId xmlns:p14="http://schemas.microsoft.com/office/powerpoint/2010/main" val="38044397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03160D-B562-4992-9065-FF193768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GT3 경제성: 가격 차이가 좁으면 수익이 사라진다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3A9D5-2F20-4417-A4AA-0099993E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가상 가구의 연간 민감도. 시장 보상은 0으로 놓고 요금 이동만 계산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D006B4-EF04-459C-84FC-914CF428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AE2DE2-89E5-4A77-98BB-A41C0F25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3204BD-424E-401D-8A6F-0A147076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실제 요금·계절·COP·열손실·사용 패턴으로 다시 계산해야 한다. 아래 값은 시장 전망이 아니다.</a:t>
            </a:r>
          </a:p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사업 제안 · 수치가 있는 경우 별도 표시한 가정 또는 목표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28650" y="2124075"/>
          <a:ext xmlns:a="http://schemas.openxmlformats.org/drawingml/2006/main" cx="10934700" cy="2781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38600"/>
                <a:gridCol w="2305050"/>
                <a:gridCol w="2295525"/>
                <a:gridCol w="2295525"/>
              </a:tblGrid>
              <a:tr h="6953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저가 시간 전력단가 가정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€0.05/kWh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€0.15/kWh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€0.25/kWh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연간 요금 절감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€240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€120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€0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연간 고객 순편익¹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€180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€60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−€60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€250 추가 설치비 회수²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1.4년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4.2년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회수 불가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900AC-9D64-43F8-8C76-80F8B2AD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172075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가정: 고가 시간 1,000 kWh 회피, 고가 €0.30/kWh, 예열 소비 20% 증가</a:t>
            </a:r>
          </a:p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¹ 운영료 €60/년 차감    ² 할인율·수명·고장비 제외한 단순 회수기간</a:t>
            </a:r>
          </a:p>
        </p:txBody>
      </p:sp>
    </p:spTree>
    <p:extLst>
      <p:ext uri="{BB962C8B-B14F-4D97-AF65-F5344CB8AC3E}">
        <p14:creationId xmlns:p14="http://schemas.microsoft.com/office/powerpoint/2010/main" val="14441629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23F3BE-E5C1-4418-B89F-201EA8F0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GT2: 인증된 제한 기능 안에서 부하를 배분한다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47F0E1-BE6E-4913-B8BE-2D247D60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허브의 가치 가설은 불필요한 공사·차단을 줄이면서 사용자가 원하는 서비스를 유지하는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05B51D-D1DB-469E-86FA-5D31D76A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B3F3B7-B500-46FE-95ED-93BCE1E4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5B52BB-0341-4BF7-B932-4986910D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계통 접속 허용, 보호기기 적합성, 현장 시공은 별도 요건이다. 클라우드 최적화만으로 보장할 수 없다.</a:t>
            </a:r>
          </a:p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근거  R22 UL Solutions · R23 ENA · R01 BNetzA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5A02E-8581-4C17-BFE9-B848EF08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5181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현지 HW 파트너 역할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48D424-F469-4E64-B8C3-0266BAFB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51816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회로·상·접속점의 승인된 계량</a:t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전력 제한과 고장 시 동작</a:t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접촉기·차단·보호의 적합성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통신 단절, 계량 이상, 재부팅 시험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국가별 인증 범위·설치 조건 확보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D28CF2-DBEB-4C69-9D05-1D94FF2E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190750"/>
            <a:ext cx="5181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직접 개발할 배분 기술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25F5C9-D368-4FB7-B5F7-8D2F29DB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09875"/>
            <a:ext cx="51816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하드 제약 안에서 HP·급탕·EV 배분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EV 출발시간, 온도, 급탕 필요량 반영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제어 불가능 부하는 별도 여유 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평가: 단순 순차 차단·충전기 관리보다</a:t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불편과 설치비를 함께 줄이는가?</a:t>
            </a:r>
          </a:p>
        </p:txBody>
      </p:sp>
    </p:spTree>
    <p:extLst>
      <p:ext uri="{BB962C8B-B14F-4D97-AF65-F5344CB8AC3E}">
        <p14:creationId xmlns:p14="http://schemas.microsoft.com/office/powerpoint/2010/main" val="196593480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35F4F7-12A5-4B71-B662-DDEA308C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GT4: 계약 충돌을 처리하고 편익을 설명한다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BFD16-E354-4182-A520-A05B96D6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여러 시장의 최대 수익을 더하는 방식으로 사업성을 계산하지 않는다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89250B-0C90-4FD8-B879-A57DBAEA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A9A9B-047C-4B81-B483-D8F1D2BA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270F6-0BCF-4889-B410-7BBF1336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근거  R03 NESO · R10 ERCOT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28650" y="2124075"/>
          <a:ext xmlns:a="http://schemas.openxmlformats.org/drawingml/2006/main" cx="109347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781550"/>
                <a:gridCol w="3867150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기능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 범위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시장 파트너 역할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제어권 조정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명령 출처·유효기간·우선순위 확인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동일 자원 중복 예약 방지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고객 동의·접속·계약 조건 제공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계약 규칙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시간·자원·방향별 허용 조합 저장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불명확한 조합은 거래 대상 제외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최신 규칙 해석·참여 자격 확인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기록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명령·응답·계측·제외 사유 보관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공식 정산 계량·입찰·청구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편익 설명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요금 절감 추정, 수수료, 온도 결과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불확실성과 누락 데이터 표시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보상 지급·고객 약관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859687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407231-EB45-4A1F-8F8E-EC65B104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추가 아이디어 1: 검증된 제어능력 프로파일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91501-65FA-48ED-9FE9-A0A2891E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기기를 발견한 뒤, 실제로 가능한 제어의 범위를 재사용하는 기술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CF0DAD-9D2E-45A1-971D-B73086C4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D3480-8A8C-435C-A2CD-00BF942F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3105E9-6656-47D1-9314-D99B0578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신규 개발 가설. 표준 채택·특허성·파트너 구매 의향을 확인한 것은 아니다.</a:t>
            </a:r>
          </a:p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근거  R15 gridX · R16 1KOMMA5° · R19 Enphase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9CEC9-5F80-4B03-BC5D-ADB0081E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526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기록할 내용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8959BC-7E82-47A7-94B9-67E643FE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6193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모델·펌웨어, 읽기/쓰기 권한, 명령 지연, 실측 응답 범위, 시험 조건과 만료 시점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14609E-5EC9-4738-958D-801AEAB1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528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사용할 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5D5568-0A0C-419D-B880-72C8F94C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8195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설치 완료 판단, 열 유연성 제공량 산정, 고장 진단, 파트너의 자원 등록 준비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EC7448-AA83-4AAF-9CE6-74896286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529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검증할 차별성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9EF51F-292F-4DFE-8370-67B96220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0196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단순 호환 목록 대비 미응답을 줄이는가? 펌웨어 변경 후 재시험 범위를 줄이는가?</a:t>
            </a:r>
          </a:p>
        </p:txBody>
      </p:sp>
    </p:spTree>
    <p:extLst>
      <p:ext uri="{BB962C8B-B14F-4D97-AF65-F5344CB8AC3E}">
        <p14:creationId xmlns:p14="http://schemas.microsoft.com/office/powerpoint/2010/main" val="104640023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867549-D2E5-47EE-995B-C78202A5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추가 아이디어 2: 이벤트 후 회복 전력도 예약한다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D4409E-83C3-48A4-83B2-D11CD2DC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저가 시간 또는 이벤트 종료 직후 다수 기기가 함께 켜지는 상황을 실증에서 다룬다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6D3A5-5E8C-4195-AEC3-E912C86A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871AB0-1D9D-4CE1-9CD7-4BB5E3C4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CBE099-A194-4162-AC27-48CB6291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신규 연구 가설. 현장에서 문제가 발생하는 빈도와 크기부터 측정한다.</a:t>
            </a:r>
          </a:p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사업 제안 · 수치가 있는 경우 별도 표시한 가정 또는 목표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E3A50-986E-4D95-A014-6FAFA833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5181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제안 기술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83B32-75B1-4F0E-B0C2-97D268D5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51816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각 가구가 조절한 열량과 회복기한 계산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회복에 쓸 수 있는 전체 전력 예산 설정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온도·급탕이 급한 집부터 순차 재개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기기 휴지시간을 지키며 재기동 분산</a:t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클라우드 단절 시 로컬 기본 동작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CDCA1-6FFD-45F2-B04E-CACAD987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190750"/>
            <a:ext cx="5181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사업화 판단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466A4A-66DB-409F-B93F-91C2CE0C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09875"/>
            <a:ext cx="51816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구매자 후보: 소매사·집합사업자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비교군: 동시 복귀, 고정 무작위 지연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평가: 최대 회복 kW, 온도 이탈, 비용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차이가 작으면 독립 과제로 만들지 않고</a:t>
            </a:r>
          </a:p>
          <a:p xmlns:a="http://schemas.openxmlformats.org/drawingml/2006/main">
            <a:pPr>
              <a:def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GT3의 운전 기능으로 포함</a:t>
            </a:r>
          </a:p>
        </p:txBody>
      </p:sp>
    </p:spTree>
    <p:extLst>
      <p:ext uri="{BB962C8B-B14F-4D97-AF65-F5344CB8AC3E}">
        <p14:creationId xmlns:p14="http://schemas.microsoft.com/office/powerpoint/2010/main" val="67865353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9C264A-628E-498C-AB63-A4237680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안전 제한과 경제 최적화의 책임을 분리한다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60822B-4AB5-40DC-96B4-DCDC8ECD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가격·AI·원격 명령은 로컬 보호 기능을 우회하지 못하도록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B17E9-159C-4E89-A756-B028288B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7FE3C-E2EA-457D-90BE-D6F4D953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7C6B14-10F8-40AC-B8B1-D82CFE9B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근거  R22 UL Solutions · R27 EEBUS · R29 EU 집행위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28650" y="2124075"/>
          <a:ext xmlns:a="http://schemas.openxmlformats.org/drawingml/2006/main" cx="109347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71800"/>
                <a:gridCol w="4600575"/>
                <a:gridCol w="3362325"/>
              </a:tblGrid>
              <a:tr h="72771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위치·책임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동작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기술 선택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기기·인증 보호계층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과전류, 기기 보호, 승인된 전력 한계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하드웨어·결정론적 로직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게이트웨이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명령 권한·유효기간 검증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통신 실패 시 기본 운전 복귀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서명 정책, 상태기계, 이벤트 로그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로컬·클라우드 최적화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온도·급탕·배터리·EV 제약 안의 배분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제약 최적화, 열상태 추정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 운영계층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계약·가격 갱신, 편익 설명, 고객 지원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 관리, 정산 파트너 연계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988640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2D0D0D-A5E8-4B05-B5FC-5128493A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직접 개발은 현장 데이터가 쌓이는 부분에 집중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496179-86AF-4C2E-B955-DF11D31D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범용 연결과 시장 접속까지 모두 직접 만들면 7명 조직의 범위가 과도해진다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C1AC11-5415-4FC9-A686-C88861DE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48BA0-B15F-48DB-A8D1-33D424D6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28358-6F82-44D3-A8F5-FBBB425A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사업 제안 · 수치가 있는 경우 별도 표시한 가정 또는 목표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28650" y="2124075"/>
          <a:ext xmlns:a="http://schemas.openxmlformats.org/drawingml/2006/main" cx="109347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57450"/>
                <a:gridCol w="4819650"/>
                <a:gridCol w="365760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범위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결과물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직접 개발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시험 계획·응답 판정</a:t>
                      </a:r>
                    </a:p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 유연성·회복 제어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현장 시험 엔진</a:t>
                      </a:r>
                    </a:p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가용량 산정 및 제어 모듈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표준·구매 활용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통신 스택, 기본 게이트웨이</a:t>
                      </a:r>
                    </a:p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계량·보호 부품, 기상·요금 피드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조합별 호환·버전 관리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전력 허브, 설치 채널</a:t>
                      </a:r>
                    </a:p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시장 등록·입찰·정산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공동 시험·제품 공급·운영 계약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초기 보류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범용 V2H, 신규 범용 배전반</a:t>
                      </a:r>
                    </a:p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모든 브랜드·국가의 동시 지원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선행 조건을 만족할 때 재검토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81921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B2A7A8-CCFD-4E3B-B5DC-EBAF0CDF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실증은 기술 성능과 구매 의향을 함께 확인한다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D8F6D7-E5F9-4B47-9BCF-AFF98888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아래 규모는 초기 계획안이다. 통계 검정력과 계절 범위를 확인한 뒤 확정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812565-1665-499E-9251-2F6B2740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434F32-0515-4BB9-A88A-B67F7F9C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F4C50-131C-4AAD-8D6F-2CCDEA6A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독일 현장 30건과 영국 40가구는 초기 검증 규모 제안이며 시장 성능을 일반화하는 표본이 아니다.</a:t>
            </a:r>
          </a:p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사업 제안 · 수치가 있는 경우 별도 표시한 가정 또는 목표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28650" y="2124075"/>
          <a:ext xmlns:a="http://schemas.openxmlformats.org/drawingml/2006/main" cx="10934700" cy="3648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95550"/>
                <a:gridCol w="4219575"/>
                <a:gridCol w="4219575"/>
              </a:tblGrid>
              <a:tr h="72961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트랙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초기 범위 제안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반드시 확보할 비교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</a:tr>
              <a:tr h="72961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GT1 / 독일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설치업체 2곳, 현장 30건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우선 기기 조합 3개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동일 작업 범위의 기존 절차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총 시간·재방문·사용료 의향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GT3 / 영국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40가구, 난방기 12주 이상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계량·온도·HP 상태 동의 확보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타이머와 대조 운전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요금·쾌적·회복 부하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72961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GT2 / 파트너 시험실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파트너 1곳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계량·통신·제어 고장 주입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부하관리·증설 견적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현지 승인 경로와 비용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GT4 / 계약 검증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시장 파트너 1곳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기록으로 정산 재현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공식 기준선과 재계산 차이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중복 참여 규칙·고객 설명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978814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EBE2A8-C8BE-4464-A8BA-47EAE831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확대 기준은 과제 착수 때 수치로 합의한다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CE99E7-7919-4BE5-9DFC-ED634773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초기 목표 제안. 사전 기준선·측정 오차·현장 조건을 확인한 후 확정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9EF123-340F-447C-A388-DBB8086D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D6C92-55B7-48FD-8EE8-001A0C32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653DBB-0D5F-4FF3-AE65-0A1AFDD7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사업 제안 · 수치가 있는 경우 별도 표시한 가정 또는 목표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28650" y="2124075"/>
          <a:ext xmlns:a="http://schemas.openxmlformats.org/drawingml/2006/main" cx="109347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71700"/>
                <a:gridCol w="5238750"/>
                <a:gridCol w="3524250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과제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확대 판단 기준 제안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보류·축소 조건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GT1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설정·시험 중앙시간 40% 이상 단축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재방문 증가 없음, 유료 도입 의향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 범위 확대 비용이 절감액 초과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GT3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단순 타이머 대비 순편익 추정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하한도 양수, 온도 이탈 악화 없음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편익이 운영·지원비보다 작음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GT2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고장시험 통과, 현지 승인 경로 확보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 총비용이 비교 대안보다 유리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일정·원가로 경쟁 불가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GT4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중복 지급·명령 충돌을 검출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파트너 정산 결과 차이를 설명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데이터·계약 접근을 확보하지 못함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086153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48A84F-727F-4272-882A-83098438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2027–2030 로드맵은 증거가 쌓일 때 확장한다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41D881-E8C9-45AD-9020-F74A4761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연도는 개발·상용화 목표안이며 확정 출시일 또는 매출 계획이 아님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AE3581-7E98-4F25-8CAD-7B72B10F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799FCF-CEF0-494D-B7DB-B91EAD17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E1BBF-F57C-4B25-B86E-5E68FDC5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사업 제안 · 수치가 있는 경우 별도 표시한 가정 또는 목표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28650" y="2124075"/>
          <a:ext xmlns:a="http://schemas.openxmlformats.org/drawingml/2006/main" cx="109347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05025"/>
                <a:gridCol w="5219700"/>
                <a:gridCol w="3609975"/>
              </a:tblGrid>
              <a:tr h="72771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결과물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다음 단계 조건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 Q4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현장 시간·요금·기기 권한 조사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실증 파트너와 비교 기준 합의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데이터 접근·시험 허용·구매자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2027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GT1 지원 조합 3개 시제품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GT3 난방기 실증·가격 검증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두 과제 중 최소 1개 유료 도입 근거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선별 제품화, 네덜란드 지역화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GT2 파트너 HW 통합·인증 시험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운영비 포함 이익·채널 재판매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2029–2030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검증된 OEM·국가로 확장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GT4 추가 계약·시장 어댑터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고객 유지와 설치·지원 품질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037058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AEC657-400D-4320-B9A9-E965D7BE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7명 기준의 역할과 사업 모델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84E6B5-CB50-4BB2-9ACB-2A31A443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내부 인력·기술 보유 현황은 미확인. 7명 체제를 가정한 배치안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84E4C4-79A6-4EDA-B19E-C7DE6DCF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6A9705-1DD3-466C-A3E9-E5197D8C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BA44D-6D40-426C-A851-BB346357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사업 제안 · 수치가 있는 경우 별도 표시한 가정 또는 목표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1A5A35-5C4E-455B-AE27-13BEB313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5181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개발 인력 배치  총 7명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B0F9C6-CDF0-45C2-A7DC-F5FE38DD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51816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시스템·안전 아키텍처  1명</a:t>
            </a:r>
          </a:p>
          <a:p xmlns:a="http://schemas.openxmlformats.org/drawingml/2006/main">
            <a:pPr>
              <a:def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엣지 통신·설치 시험  2명</a:t>
            </a:r>
          </a:p>
          <a:p xmlns:a="http://schemas.openxmlformats.org/drawingml/2006/main">
            <a:pPr>
              <a:def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열 제어·최적화  2명</a:t>
            </a:r>
          </a:p>
          <a:p xmlns:a="http://schemas.openxmlformats.org/drawingml/2006/main">
            <a:pPr>
              <a:def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데이터·편익 검증  1명</a:t>
            </a:r>
          </a:p>
          <a:p xmlns:a="http://schemas.openxmlformats.org/drawingml/2006/main">
            <a:pPr>
              <a:def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현장 실증·시험 자동화  1명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영업·인증·보안 검토는 별도 지원 필요</a:t>
            </a:r>
          </a:p>
          <a:p xmlns:a="http://schemas.openxmlformats.org/drawingml/2006/main">
            <a:pPr>
              <a:def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기존 과제 병행 시간은 제외한 가정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8DA90-482E-4C84-B5B8-E205E1B0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190750"/>
            <a:ext cx="5181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판매 단위와 지불 이유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C7C216-2176-46EF-B72F-3EE8359B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09875"/>
            <a:ext cx="51816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설치업체 / 건별 사용료</a:t>
            </a:r>
          </a:p>
          <a:p xmlns:a="http://schemas.openxmlformats.org/drawingml/2006/main">
            <a:pPr>
              <a:def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작업시간·재방문 감소로 회수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OEM / 탑재료와 유지관리료</a:t>
            </a:r>
          </a:p>
          <a:p xmlns:a="http://schemas.openxmlformats.org/drawingml/2006/main">
            <a:pPr>
              <a:def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제품·펌웨어별 검증 비용 절감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소매사 / 활성 기기별 운영료</a:t>
            </a:r>
          </a:p>
          <a:p xmlns:a="http://schemas.openxmlformats.org/drawingml/2006/main">
            <a:pPr>
              <a:def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이행 가능한 유연성·운영 품질에 지불</a:t>
            </a:r>
          </a:p>
          <a:p xmlns:a="http://schemas.openxmlformats.org/drawingml/2006/main">
            <a:pPr>
              <a:def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성과배분은 정산·책임 합의 후 적용</a:t>
            </a:r>
          </a:p>
        </p:txBody>
      </p:sp>
    </p:spTree>
    <p:extLst>
      <p:ext uri="{BB962C8B-B14F-4D97-AF65-F5344CB8AC3E}">
        <p14:creationId xmlns:p14="http://schemas.microsoft.com/office/powerpoint/2010/main" val="137957582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602D0B-64D5-4BE2-ACDC-E51703DA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다음 90일 조사에서 투자 여부를 결정한다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E217AF-6651-464B-8FEB-CAF75BA5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공개자료로 확인하지 못한 현장 비용·권한·가격을 확보하는 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7536E-45AD-423B-B985-E7226A0D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38578B-B0FF-4C04-9BD9-2EEED5F8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F0B77-54B5-4B62-91EE-551E7EFC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사업 제안 · 수치가 있는 경우 별도 표시한 가정 또는 목표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28650" y="2124075"/>
          <a:ext xmlns:a="http://schemas.openxmlformats.org/drawingml/2006/main" cx="109347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5029200"/>
                <a:gridCol w="3857625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미지수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남길 증거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1–30일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 지연의 실제 원인과 재방문 비용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고객·기기 데이터 접근 권한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 동행 관찰 10건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 분류표·익명 비용 기록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31–60일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기기 응답 시험과 열 제어 구현 가능성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현행 제품 대비 차이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우선 조합 3개 시험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방식과 결과 비교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61–90일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구매자가 지급 가능한 가격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파트너 인증·운영·지원 비용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유료 실증 제안과 가격 면담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부품·인증·지원 원가 견적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90일 판단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편익이 대안 대비 충분한가?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과제별 계속 / 범위 축소 / 중단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508757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112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AA4848-CAB5-4EF4-8933-2A3D85DA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이번에 결정할 투자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FAB063-03ED-456B-AFDA-5D3AF74D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DD1D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BDD1D8"/>
                </a:solidFill>
                <a:latin typeface="Malgun Gothic"/>
                <a:ea typeface="Malgun Gothic"/>
                <a:cs typeface="Malgun Gothic"/>
              </a:rPr>
              <a:t>독일·영국의 두 실증으로 기술과 지불 의향을 함께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BF0734-ACD7-4C08-ADC3-97002A91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D1D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DD1D8"/>
                </a:solidFill>
                <a:latin typeface="Malgun Gothic"/>
                <a:ea typeface="Malgun Gothic"/>
                <a:cs typeface="Malgun Gothic"/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A47F1B-7983-466D-9619-3F5698D5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DD1D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BDD1D8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DD8B8-4DD5-432D-B6B2-9B503EC3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DD1D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BDD1D8"/>
                </a:solidFill>
                <a:latin typeface="Malgun Gothic"/>
                <a:ea typeface="Malgun Gothic"/>
                <a:cs typeface="Malgun Gothic"/>
              </a:rPr>
              <a:t>사업 제안 · 수치가 있는 경우 별도 표시한 가정 또는 목표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1DA712-8DF7-4DEF-8EEB-734DDAB4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526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8B26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D8B26A"/>
                </a:solidFill>
                <a:latin typeface="Malgun Gothic"/>
                <a:ea typeface="Malgun Gothic"/>
                <a:cs typeface="Malgun Gothic"/>
              </a:rPr>
              <a:t>착수  GT1과 GT3의 공통 기반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D9D64E-AE8A-4649-A891-B8FFFC95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6193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기기 응답 검증, 제어능력 프로파일, 열 유연성·회복 운전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A470E8-1C7D-4F5D-8C12-8F8079C5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528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8B26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D8B26A"/>
                </a:solidFill>
                <a:latin typeface="Malgun Gothic"/>
                <a:ea typeface="Malgun Gothic"/>
                <a:cs typeface="Malgun Gothic"/>
              </a:rPr>
              <a:t>조건부 추진  GT2·GT4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CE4D3A-3D9F-4EB8-86E4-4E2B0D7A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8195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인증 HW와 현지 시장 파트너가 확보한 범위 안에서 연계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A7FB05-C501-417F-BE56-56BF0AD4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529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8B26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D8B26A"/>
                </a:solidFill>
                <a:latin typeface="Malgun Gothic"/>
                <a:ea typeface="Malgun Gothic"/>
                <a:cs typeface="Malgun Gothic"/>
              </a:rPr>
              <a:t>확대 조건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FFDDED-1D3E-461F-B72D-D7A6D142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0196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단순 대안보다 높은 고객 순편익, 유료 도입 근거, 반복 가능한 설치·지원 비용</a:t>
            </a:r>
          </a:p>
        </p:txBody>
      </p:sp>
    </p:spTree>
    <p:extLst>
      <p:ext uri="{BB962C8B-B14F-4D97-AF65-F5344CB8AC3E}">
        <p14:creationId xmlns:p14="http://schemas.microsoft.com/office/powerpoint/2010/main" val="127176627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C76541-4317-45E2-B3FA-93B678BE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부록  제도별 제한 대상이 서로 다르다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2FFB99-D305-4C37-8602-690B43B2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하나의 “국가별 전력 제한값”으로 추상화하면 잘못 제어할 수 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D39F1A-A7FA-44A2-8AC9-E29F07A6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4D3268-9502-4EE2-991C-D7E74A97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2F2885-1608-4BDA-B8BE-DFB4E838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근거  R01 BNetzA · R23 ENA · R22 UL Solutions · R03 NESO · R10 ERCOT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28650" y="2124075"/>
          <a:ext xmlns:a="http://schemas.openxmlformats.org/drawingml/2006/main" cx="10934700" cy="3590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09850"/>
                <a:gridCol w="4743450"/>
                <a:gridCol w="3581400"/>
              </a:tblGrid>
              <a:tr h="71818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제도·표준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구분해야 하는 대상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 시 확인할 것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</a:tr>
              <a:tr h="71818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독일 §14a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제어가능 설비의 계통 수전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가전·PV 역송과 구분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설비 조합·설치 시점·DSO 방식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818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영국 G100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접속점의 수전·역송 제한 체계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해당 판·접속 조건·고장 동작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71818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미국 PCS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해당 인증 범위의 전력·회로 제한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현지 법규 채택·유틸리티·현장 승인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818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영국 DFS / 텍사스 ADER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서비스·계약별 자원 참여·정산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동의·계량·기준선·중복 참여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783155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EE9298-2865-4955-9785-4541F82E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부록  표준 지원과 실제 제어 가능성의 차이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C78A3E-B05E-4425-9E2F-EF82F700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기기·펌웨어·권한·지역 조건을 조합별로 검증하는 능력이 필요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C43212-6481-450D-A901-C67A23ED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ABB892-43D3-4A38-A540-88A4B7FC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EB9692-9F34-4CCF-A041-981F4A93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근거  R28 CSA · R26 EEBUS · R27 EEBUS · R29 EU 집행위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28650" y="2124075"/>
          <a:ext xmlns:a="http://schemas.openxmlformats.org/drawingml/2006/main" cx="10934700" cy="3228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9900"/>
                <a:gridCol w="3962400"/>
                <a:gridCol w="3962400"/>
              </a:tblGrid>
              <a:tr h="80724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사항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의미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R&amp;D에 반영할 일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</a:tr>
              <a:tr h="80724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Matter 1.5 에너지 확장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요금·계량·계통 정보 교환 기능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2025.11 발표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표준 기능 존재와 설치기기 지원을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별도 호환 시험으로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0724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EEBUS 전력 제한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LPC·LPP 등 용도별 제한 기능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모든 기기에서 동일 기능·응답을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보장한다고 가정하지 않음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80724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EU Cyber Resilience Act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의무 2027.12.11 적용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보고 의무 2026.09.11부터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업데이트·취약점 대응·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지원기간 비용을 제품 설계에 포함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53E464-1040-45EF-BCFD-560C23A4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007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출하 이후에도 펌웨어·설정·시험 기록을 관리해야 설치 자동화의 가치가 유지된다.</a:t>
            </a:r>
          </a:p>
        </p:txBody>
      </p:sp>
    </p:spTree>
    <p:extLst>
      <p:ext uri="{BB962C8B-B14F-4D97-AF65-F5344CB8AC3E}">
        <p14:creationId xmlns:p14="http://schemas.microsoft.com/office/powerpoint/2010/main" val="70396656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18A4FD-CB83-48B2-B252-BCCD6C34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부록  편익 검증과 시장 정산을 구분한다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6ACDA5-B3CC-4AD0-A190-247F1AD4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같은 집에서 제어하지 않았을 때의 전기요금은 직접 관측할 수 없다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E51378-6F2F-4F7A-8E5D-F261C977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33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162DE-A602-4EBD-A19F-D89A96A9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72E24F-4C58-4542-9CA0-EA108F1C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근거  R24 Nesta·CNZ · R25 Nesta · R03 NESO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46424C-B39C-4DFD-9D65-0B6153CF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5181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고객 순편익 검증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BF14F9-34A8-4BA2-9439-062AADEE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51816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날씨·재실·요금이 비슷한 대조 운전</a:t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또는 무작위 배정·교차 설계 사용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예열과 회복 기간까지 전체 비용 포함</a:t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열관성의 잔류 효과를 분리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평균뿐 아니라 분산·불확실성 제시</a:t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온도 이탈·거부·결측을 함께 보고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AA137C-4B9D-4736-B779-DFEAC719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190750"/>
            <a:ext cx="5181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프로그램 정산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0F0B27-4140-4319-AE07-6029CD5A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09875"/>
            <a:ext cx="51816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사업자가 정한 공식 기준선 적용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인정 계량기·구간·이벤트 조건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고객 요금 절감과 시장 보상 별도 표시</a:t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동일 자원·시간의 이중 집계 차단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추정 절감액을 확정 정산액처럼</a:t>
            </a:r>
          </a:p>
          <a:p xmlns:a="http://schemas.openxmlformats.org/drawingml/2006/main">
            <a:pPr>
              <a:def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표시하지 않음</a:t>
            </a:r>
          </a:p>
        </p:txBody>
      </p:sp>
    </p:spTree>
    <p:extLst>
      <p:ext uri="{BB962C8B-B14F-4D97-AF65-F5344CB8AC3E}">
        <p14:creationId xmlns:p14="http://schemas.microsoft.com/office/powerpoint/2010/main" val="26349719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3F291B-2703-4514-887B-990DCE48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부록  특허와 차별성은 시험 방법까지 좁혀 검토한다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03A5B8-09A7-44BC-9002-F773E9C2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선행기술 샘플 확인이며 특허성·권리범위·실시 자유의 종합 판단이 아님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106246-DB20-4FFA-9540-A3F6A80F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1D2A2C-73FB-4C00-9471-2AE3EFF1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03F93-E4A8-4B63-97A1-01884644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근거  R30 특허 공개문헌 · R27 EEBUS · R24 Nesta·CNZ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28650" y="2124075"/>
          <a:ext xmlns:a="http://schemas.openxmlformats.org/drawingml/2006/main" cx="109347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3981450"/>
                <a:gridCol w="4476750"/>
              </a:tblGrid>
              <a:tr h="84296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영역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이미 존재하는 선행기술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새로 검토할 좁은 가설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CT 극성·연결 자동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US10191102B2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CT 극성 자동 보정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가정 내 여러 기기의 제한된 자극으로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제어권·계측점·응답을 함께 판정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 유연성 제공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HeatFlex 현장 실증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모델·제어 연구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 시험 결과를 이용한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가용량 불확실성의 초기 축소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제약·통신 실패 대응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EEBUS LPC 등 공개 사양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펌웨어 변화 후 위험에 따라</a:t>
                      </a:r>
                    </a:p>
                    <a:p>
                      <a:r>
                        <a:rPr sz="1800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재시험 범위를 선택하는 방법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C21E87-D725-4B9E-A7F8-1B45C43E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“자동화·AI·멀티브랜드”라는 표현만으로 2–3년의 기술 우위나 특허를 주장하기 어렵다.</a:t>
            </a:r>
          </a:p>
        </p:txBody>
      </p:sp>
    </p:spTree>
    <p:extLst>
      <p:ext uri="{BB962C8B-B14F-4D97-AF65-F5344CB8AC3E}">
        <p14:creationId xmlns:p14="http://schemas.microsoft.com/office/powerpoint/2010/main" val="68759042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FC363-B6B0-46E1-9ED2-8F16EB41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부록  기존 12개 아이디어의 처리 방향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359D30-2A93-4E51-AB13-D60A6179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제공 HTML의 후보를 공통 과제·지역 확장·보류 대상으로 재배치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8FC57A-C748-4D96-BCAF-C2BE3BF6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23BEEE-4E6E-4011-8E42-94845691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2C5970-4257-4DF8-844E-4907ED52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근거  R00 제공 HTML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28650" y="2124075"/>
          <a:ext xmlns:a="http://schemas.openxmlformats.org/drawingml/2006/main" cx="109347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33875"/>
                <a:gridCol w="3038475"/>
                <a:gridCol w="3562350"/>
              </a:tblGrid>
              <a:tr h="6111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후보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이번 반영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재검토 조건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T1 자동 시운전 · T2 규칙 코드화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GT1 핵심 + 국가별 설정 모듈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 조합의 현장 시간 절감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T3 열 유연성 · T11 성능 관리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GT3 핵심 + 응답·원격 진단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타이머 대비 순편익·지원비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T4 전력 제한 · T5 증설 회피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GT2 인증 HW 제휴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공사 견적·승인 경로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T7 제어권 · T8 편익 검증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GT4 공통 운영 기능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파트너 계약·데이터 접근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T6 백업 · T9 레거시</a:t>
                      </a:r>
                    </a:p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T10 V2H · T12 임대형 소형팩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지역 옵션 또는 초기 보류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설치권·보증·인증·추가 HW</a:t>
                      </a:r>
                    </a:p>
                    <a:p>
                      <a:r>
                        <a:rPr sz="172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구매자와 원가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78491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376BFB-AC7D-44BC-A3E3-367E0515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부록  추가 개발 전 확인할 전제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8996D-A0AE-4B2E-8975-C582153B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주거형태와 기기 보호 조건이 충족돼야 상품을 판매할 수 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B683C6-BF72-4B8A-A037-0F7661F2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36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68BE5D-B3DC-4193-B51B-A8ABD49D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B6CB85-B576-4204-A033-943E2CB9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근거  R00 제공 HTML · R22 UL Solutions · R19 Enphase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28650" y="2124075"/>
          <a:ext xmlns:a="http://schemas.openxmlformats.org/drawingml/2006/main" cx="10934700" cy="3562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5029200"/>
                <a:gridCol w="3429000"/>
              </a:tblGrid>
              <a:tr h="71247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전제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초기 판단</a:t>
                      </a:r>
                    </a:p>
                  </a:txBody>
                  <a:tcPr marL="91440" marR="91440" marT="45720" marB="45720">
                    <a:solidFill>
                      <a:srgbClr val="112A3A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백업·정전 대응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정전 빈도·중요 부하·잔량 선호</a:t>
                      </a:r>
                    </a:p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전환 장치·섬운전 가능 제품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미국 파트너 상품의 옵션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레거시·IR 어댑터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명령 성공을 확인할 상태 피드백</a:t>
                      </a:r>
                    </a:p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설정 충돌·OEM 보증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 모델을 제한한 설치 옵션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차종·충전기·전환장치 조합</a:t>
                      </a:r>
                    </a:p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보증·접속·계약 승인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기능 선행 개발은 보류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임대형·플러그인 팩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설치권·계량 경계·역송 제한</a:t>
                      </a:r>
                    </a:p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현지 접속 요건·회수 비용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E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국가와 인증 경로 확정 후</a:t>
                      </a:r>
                    </a:p>
                  </a:txBody>
                  <a:tcPr marL="91440" marR="91440" marT="45720" marB="45720"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995093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06F8FB-BD57-45A5-A5DF-D4D8BDC8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조사 근거 1  국가 제도·요금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578304-42A4-4F28-A64D-2B5FD6CB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각 번호의 원문 URL은 해당 슬라이드 발표자 노트에 수록. 조사 기준일 2026.09.30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C89763-A86C-4EFA-A536-16B204BC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37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3F429-CB30-4B90-ACD5-D7974FD4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86D844-6F99-4DCD-8B09-15F147ED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근거  R01 BNetzA · R02 NESO · R03 NESO · R04 Enedis · R05 네덜란드 정부 · R06 ARERA · R07 ARERA · R08 CNMC · R09 CPUC · R10 ERCOT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3D12C1-4FF6-4612-998B-0E6EDBCF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764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0B20B8-6AEF-449E-99FF-F7B226CD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0764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BNetzA  §14a 제어가능 설비 적용 안내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37BB7F-89FB-43CD-B650-10C3E36C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384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463955-C970-457F-8591-A274CB74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4384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NESO  Demand Flexibility Service explained, 2026 개편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444F3F-54E3-455E-ABDC-698E2D9D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003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F5D7D9-CA4C-45A5-A55E-5BA8694C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8003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NESO  DFS Stacking List v2, 2026.04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626AD8-F460-49CF-9E8C-C0B8DDCD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623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5BF956-BD4C-4717-8F30-6CD24B30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1623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Enedis  Heures creuses 개편, 2025.10.15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5ED1EF-D795-4167-BECE-A3FA2673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5242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058C78-BB8C-46B5-B173-D0220771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5242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네덜란드 정부  Salderingsregeling stopt in 2027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C52F2B-CBEA-45DD-B523-B093252A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8862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R06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9227DF-6D4D-428E-88A0-5AB87088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8862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ARERA  Potenza impegnata 및 계량기 용량 안내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977383-AB58-405E-855A-DE84B186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481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R07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FFDBF6-F519-4912-ABE7-8ABC11E8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2481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ARERA  Potenza del contatore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0B6D84-9353-4360-84D1-A50385C1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6101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R08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C39A3B-23B9-4CAD-8C5E-A2A9C656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6101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CNMC  2023년 말 가계조사, 2024.06.28 발표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A47217-65BD-462E-9E5E-EA85BE7D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9720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R09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17614B-48C5-4917-9D5B-37E01E28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9720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CPUC  Net Energy Metering and Net Billing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50D6E7-1A62-4885-8984-9FB6D828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3340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9C5442-02C0-4126-94C0-6334EB58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3340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ERCOT  ADER Pilot, Phase 3.3, 2026.06.03</a:t>
            </a:r>
          </a:p>
        </p:txBody>
      </p:sp>
    </p:spTree>
    <p:extLst>
      <p:ext uri="{BB962C8B-B14F-4D97-AF65-F5344CB8AC3E}">
        <p14:creationId xmlns:p14="http://schemas.microsoft.com/office/powerpoint/2010/main" val="3102720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872EF3-9DB6-48A9-BF43-C8500F81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조사 근거 2  지역 경제성과 경쟁 제품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B2121-362F-4347-8538-47961EE0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각 번호의 원문 URL은 해당 슬라이드 발표자 노트에 수록. 조사 기준일 2026.09.30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ECF364-C846-4E98-9794-C6D5EF64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38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28292-9D77-499C-AFFB-96DF8295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D59A8-F2FC-411D-8606-535B5F06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근거  R11 IRS · R12 DEWA · R13 SERA · R14 KAHRAMAA · R15 gridX · R16 1KOMMA5° · R17 Kraken · R18 Enphase · R19 Enphase · R20 SPAN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DB521D-D669-46D8-BCC5-A1528A34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764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839B2C-2BD4-4823-8616-A5C616D3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0764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IRS  Residential Clean Energy Credit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3208E0-A768-4A16-A482-4C254838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384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246C45-10AB-447C-B135-50322DBF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4384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DEWA  Slab Tariff, 연료조정요금 2026.09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5CFB0C-DF2C-4894-B359-916D6A61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003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R13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149151-5C48-4E47-8872-F3ADC22F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8003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SERA  Electricity Service Guide, 요금표 p.67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D7AC95-A45D-42DD-94FC-FED9F11D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623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R14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91ACD9-CD97-4953-B37B-4A95FDCD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1623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KAHRAMAA  BeSolar net billing 안내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83B00D-4EC9-41AE-93B7-43723950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5242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52A941-0B1A-4099-A04B-7C9FFB04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5242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gridX  Optimized Heat Pump Operation, 2026.06.02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FB209A-DEE1-4781-9962-7B3CE05E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8862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R16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76F7C9-03F6-4FDF-B4A0-BBF649D1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8862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1KOMMA5°  Heartbeat 호환 목록, 2026.08.25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CF2E42-63F2-439D-8A2D-F1CCF92E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481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R17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E60710-CEC8-4A80-AD2C-B2654C59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2481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Kraken  Electrifying domestic heating, 2025.08.21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C31347-8B6F-49CD-B132-61B0BD83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6101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R18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72FCCD-0286-498B-B081-67922194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6101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Enphase  IQ Energy Router 독일·오스트리아 출시, 2023.06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73F99F-791A-4F9A-B1E4-849E809D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9720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R19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677B73-8B5C-4900-949E-A359F82F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9720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Enphase  Daikin Altherma 3 설정 가이드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CBB1EE-94F0-4D65-BA03-27BEB6E8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3340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R20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06ACB7-F373-415D-A267-A9D0DF56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3340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SPAN  PowerUp 및 배전반 에너지 제어</a:t>
            </a:r>
          </a:p>
        </p:txBody>
      </p:sp>
    </p:spTree>
    <p:extLst>
      <p:ext uri="{BB962C8B-B14F-4D97-AF65-F5344CB8AC3E}">
        <p14:creationId xmlns:p14="http://schemas.microsoft.com/office/powerpoint/2010/main" val="49785893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EA20C2-6EBB-4051-A548-4A0D83B2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조사 근거 3  인증·실증·표준·선행기술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D7C7C2-DF05-4D5A-8A12-8C249DD5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91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각 번호의 원문 URL은 해당 슬라이드 발표자 노트에 수록. 조사 기준일 2026.09.30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BD16E0-142B-4470-9D38-9BEDF5BC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D1595-0B8A-491C-AD3C-F44AE77B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Energy Pack 2027–2030  /  2026.09.30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D04EF-0390-4B25-A7B6-D7B2A70E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A6D77"/>
                </a:solidFill>
                <a:latin typeface="Malgun Gothic"/>
                <a:ea typeface="Malgun Gothic"/>
                <a:cs typeface="Malgun Gothic"/>
              </a:rPr>
              <a:t>근거  R21 ConnectDER · R22 UL Solutions · R23 ENA · R24 Nesta·CNZ · R25 Nesta · R26 EEBUS · R27 EEBUS · R28 CSA · R29 EU 집행위 · R30 특허 공개문헌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7473A-A7BC-44A1-88CB-EDCCECBE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764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B88C9C-65BE-4B3C-BE19-E0E21010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0764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ConnectDER  Solar MSA v5.2 설치 매뉴얼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C74A03-7FEE-422E-A558-58055507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384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154071-94E2-4BDD-9F6E-7E60909E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4384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UL Solutions  Power Control Systems for 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48CD76-FFC9-4559-B736-EE23C4CE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003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R23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4E4878-34CF-486F-885D-F3B45340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8003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ENA  G100 Issue 2 Amendment 2, 2023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D43C3C-0158-46C7-8BC8-2F0F101B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623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R24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FA8041-B164-4DEE-8A2E-BE7CF27B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1623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Nesta·CNZ  HeatFlex UK, 2024 실증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61A867-5E42-4CA3-9BE2-CD716460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5242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547F9C-E9D3-4037-8B82-47913ED5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5242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Nesta  HeatFlex 기술·실증 보고서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34802A-B7FC-4608-BEB1-4EFE447A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8862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D1DA7F-6FC6-4C52-AFF5-0BDE588D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8862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EEBUS  Solutions &amp; Use Cases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819F07-7051-476D-A46D-0DCB78C9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481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R27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03AA9A-4C41-47CE-BB5D-D9BEC165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2481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EEBUS  Limitation of Power Consumption v1.0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804773-35D5-4079-93C3-55AE2799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6101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R28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376CA6-6DA0-432A-9E7B-2520FB50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6101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CSA  Matter 1.5 에너지 관리 확장, 2025.11.20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226402-D5F7-42EC-B4D6-4BE94285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9720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R29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DFC665-7838-484D-BAB3-73F006D5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9720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EU 집행위  Cyber Resilience Act 적용 일정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C6BA2D-6104-43FF-B610-3C3FA485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3340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B74"/>
                </a:solidFill>
                <a:latin typeface="Malgun Gothic"/>
                <a:ea typeface="Malgun Gothic"/>
                <a:cs typeface="Malgun Gothic"/>
              </a:rPr>
              <a:t>R30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9F8F08-AC66-4A4C-BE03-51E55FC7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3340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42E42"/>
                </a:solidFill>
                <a:latin typeface="Malgun Gothic"/>
                <a:ea typeface="Malgun Gothic"/>
                <a:cs typeface="Malgun Gothic"/>
              </a:rPr>
              <a:t>특허 공개문헌  US10191102B2, CT 극성 자동 보정</a:t>
            </a:r>
          </a:p>
        </p:txBody>
      </p:sp>
    </p:spTree>
    <p:extLst>
      <p:ext uri="{BB962C8B-B14F-4D97-AF65-F5344CB8AC3E}">
        <p14:creationId xmlns:p14="http://schemas.microsoft.com/office/powerpoint/2010/main" val="9826348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2026-09-30T08:10:04.4610000Z</dcterms:created>
  <dcterms:modified xsi:type="dcterms:W3CDTF">2026-09-30T08:10:04.4610000Z</dcterms:modified>
</coreProperties>
</file>