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284df82b224746" /><Relationship Type="http://schemas.openxmlformats.org/officeDocument/2006/relationships/extended-properties" Target="/docProps/app.xml" Id="R494e64e8c3794bb3" /><Relationship Type="http://schemas.openxmlformats.org/officeDocument/2006/relationships/officeDocument" Target="/ppt/presentation.xml" Id="R3058f369117c49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2a662414fb4279"/>
  </p:sldMasterIdLst>
  <p:notesMasterIdLst>
    <p:notesMasterId xmlns:r="http://schemas.openxmlformats.org/officeDocument/2006/relationships" r:id="R7a6cab1a40c644f0"/>
  </p:notesMasterIdLst>
  <p:sldIdLst>
    <p:sldId xmlns:r="http://schemas.openxmlformats.org/officeDocument/2006/relationships" id="256" r:id="R292ba513e7f04574"/>
    <p:sldId xmlns:r="http://schemas.openxmlformats.org/officeDocument/2006/relationships" id="257" r:id="Rfbc43c034aeb415a"/>
    <p:sldId xmlns:r="http://schemas.openxmlformats.org/officeDocument/2006/relationships" id="258" r:id="R64bdd04547e14fa4"/>
    <p:sldId xmlns:r="http://schemas.openxmlformats.org/officeDocument/2006/relationships" id="259" r:id="Red488cf8fc3d4121"/>
    <p:sldId xmlns:r="http://schemas.openxmlformats.org/officeDocument/2006/relationships" id="260" r:id="R3dad3c1117854838"/>
    <p:sldId xmlns:r="http://schemas.openxmlformats.org/officeDocument/2006/relationships" id="261" r:id="Rdb4a94c3dfa042df"/>
    <p:sldId xmlns:r="http://schemas.openxmlformats.org/officeDocument/2006/relationships" id="262" r:id="R1a550fff53df4258"/>
    <p:sldId xmlns:r="http://schemas.openxmlformats.org/officeDocument/2006/relationships" id="263" r:id="Re098f265fe3e4e8a"/>
    <p:sldId xmlns:r="http://schemas.openxmlformats.org/officeDocument/2006/relationships" id="264" r:id="R50db2595aa6e4178"/>
    <p:sldId xmlns:r="http://schemas.openxmlformats.org/officeDocument/2006/relationships" id="265" r:id="R961aeac15f3140f8"/>
    <p:sldId xmlns:r="http://schemas.openxmlformats.org/officeDocument/2006/relationships" id="266" r:id="R4c334688ef394fe3"/>
    <p:sldId xmlns:r="http://schemas.openxmlformats.org/officeDocument/2006/relationships" id="267" r:id="R83225069079b475d"/>
    <p:sldId xmlns:r="http://schemas.openxmlformats.org/officeDocument/2006/relationships" id="268" r:id="Rfaf533fa9575407a"/>
    <p:sldId xmlns:r="http://schemas.openxmlformats.org/officeDocument/2006/relationships" id="269" r:id="R741fc0caac7a4cda"/>
    <p:sldId xmlns:r="http://schemas.openxmlformats.org/officeDocument/2006/relationships" id="270" r:id="R252a926973f34e4f"/>
    <p:sldId xmlns:r="http://schemas.openxmlformats.org/officeDocument/2006/relationships" id="271" r:id="R42ab18f4422b4cad"/>
    <p:sldId xmlns:r="http://schemas.openxmlformats.org/officeDocument/2006/relationships" id="272" r:id="Rd272683d9b3d407c"/>
    <p:sldId xmlns:r="http://schemas.openxmlformats.org/officeDocument/2006/relationships" id="273" r:id="Rd5ae1cfc457c4f4d"/>
    <p:sldId xmlns:r="http://schemas.openxmlformats.org/officeDocument/2006/relationships" id="274" r:id="Rf69095233f82427b"/>
    <p:sldId xmlns:r="http://schemas.openxmlformats.org/officeDocument/2006/relationships" id="275" r:id="Rcb11fa0c200f4f3c"/>
    <p:sldId xmlns:r="http://schemas.openxmlformats.org/officeDocument/2006/relationships" id="276" r:id="R4c69433e76e44a54"/>
    <p:sldId xmlns:r="http://schemas.openxmlformats.org/officeDocument/2006/relationships" id="277" r:id="R1be4e24a596e490c"/>
    <p:sldId xmlns:r="http://schemas.openxmlformats.org/officeDocument/2006/relationships" id="278" r:id="Re0ef8c22be324191"/>
    <p:sldId xmlns:r="http://schemas.openxmlformats.org/officeDocument/2006/relationships" id="279" r:id="Rf5f34194eadb4f30"/>
    <p:sldId xmlns:r="http://schemas.openxmlformats.org/officeDocument/2006/relationships" id="280" r:id="R494b44e7664e4ad8"/>
    <p:sldId xmlns:r="http://schemas.openxmlformats.org/officeDocument/2006/relationships" id="281" r:id="R79aedf68737546ad"/>
    <p:sldId xmlns:r="http://schemas.openxmlformats.org/officeDocument/2006/relationships" id="282" r:id="Rf659bb0a95d446bc"/>
    <p:sldId xmlns:r="http://schemas.openxmlformats.org/officeDocument/2006/relationships" id="283" r:id="Rfff88a7e95214bf5"/>
    <p:sldId xmlns:r="http://schemas.openxmlformats.org/officeDocument/2006/relationships" id="284" r:id="R8e0179e0c2024686"/>
    <p:sldId xmlns:r="http://schemas.openxmlformats.org/officeDocument/2006/relationships" id="285" r:id="R20ab6cbf793944e7"/>
    <p:sldId xmlns:r="http://schemas.openxmlformats.org/officeDocument/2006/relationships" id="286" r:id="Rc14b749666914b28"/>
    <p:sldId xmlns:r="http://schemas.openxmlformats.org/officeDocument/2006/relationships" id="287" r:id="R0c4683dacd7e4b7c"/>
    <p:sldId xmlns:r="http://schemas.openxmlformats.org/officeDocument/2006/relationships" id="288" r:id="Rb445dbdb24a44395"/>
    <p:sldId xmlns:r="http://schemas.openxmlformats.org/officeDocument/2006/relationships" id="289" r:id="Rc04c6538fdfa4280"/>
    <p:sldId xmlns:r="http://schemas.openxmlformats.org/officeDocument/2006/relationships" id="290" r:id="R5b981a7808c24116"/>
    <p:sldId xmlns:r="http://schemas.openxmlformats.org/officeDocument/2006/relationships" id="291" r:id="Rf0187c79b5c94eb4"/>
    <p:sldId xmlns:r="http://schemas.openxmlformats.org/officeDocument/2006/relationships" id="292" r:id="Redf8b4e3b02c448e"/>
    <p:sldId xmlns:r="http://schemas.openxmlformats.org/officeDocument/2006/relationships" id="293" r:id="Rc1e74befb5394f9f"/>
    <p:sldId xmlns:r="http://schemas.openxmlformats.org/officeDocument/2006/relationships" id="294" r:id="R7b9db045e49848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f3d326f51b47d2" /><Relationship Type="http://schemas.openxmlformats.org/officeDocument/2006/relationships/slideMaster" Target="/ppt/slideMasters/slideMaster1.xml" Id="Raa2a662414fb4279" /><Relationship Type="http://schemas.openxmlformats.org/officeDocument/2006/relationships/notesMaster" Target="/ppt/notesMasters/notesMaster1.xml" Id="R7a6cab1a40c644f0" /><Relationship Type="http://schemas.openxmlformats.org/officeDocument/2006/relationships/presProps" Target="/ppt/presProps.xml" Id="R1e8fc0c3a3ff496d" /><Relationship Type="http://schemas.openxmlformats.org/officeDocument/2006/relationships/tableStyles" Target="/ppt/tableStyles.xml" Id="Re3025ca9abf144af" /><Relationship Type="http://schemas.openxmlformats.org/officeDocument/2006/relationships/slide" Target="/ppt/slides/slide1.xml" Id="R292ba513e7f04574" /><Relationship Type="http://schemas.openxmlformats.org/officeDocument/2006/relationships/slide" Target="/ppt/slides/slide2.xml" Id="Rfbc43c034aeb415a" /><Relationship Type="http://schemas.openxmlformats.org/officeDocument/2006/relationships/slide" Target="/ppt/slides/slide3.xml" Id="R64bdd04547e14fa4" /><Relationship Type="http://schemas.openxmlformats.org/officeDocument/2006/relationships/slide" Target="/ppt/slides/slide4.xml" Id="Red488cf8fc3d4121" /><Relationship Type="http://schemas.openxmlformats.org/officeDocument/2006/relationships/slide" Target="/ppt/slides/slide5.xml" Id="R3dad3c1117854838" /><Relationship Type="http://schemas.openxmlformats.org/officeDocument/2006/relationships/slide" Target="/ppt/slides/slide6.xml" Id="Rdb4a94c3dfa042df" /><Relationship Type="http://schemas.openxmlformats.org/officeDocument/2006/relationships/slide" Target="/ppt/slides/slide7.xml" Id="R1a550fff53df4258" /><Relationship Type="http://schemas.openxmlformats.org/officeDocument/2006/relationships/slide" Target="/ppt/slides/slide8.xml" Id="Re098f265fe3e4e8a" /><Relationship Type="http://schemas.openxmlformats.org/officeDocument/2006/relationships/slide" Target="/ppt/slides/slide9.xml" Id="R50db2595aa6e4178" /><Relationship Type="http://schemas.openxmlformats.org/officeDocument/2006/relationships/slide" Target="/ppt/slides/slide10.xml" Id="R961aeac15f3140f8" /><Relationship Type="http://schemas.openxmlformats.org/officeDocument/2006/relationships/slide" Target="/ppt/slides/slide11.xml" Id="R4c334688ef394fe3" /><Relationship Type="http://schemas.openxmlformats.org/officeDocument/2006/relationships/slide" Target="/ppt/slides/slide12.xml" Id="R83225069079b475d" /><Relationship Type="http://schemas.openxmlformats.org/officeDocument/2006/relationships/slide" Target="/ppt/slides/slide13.xml" Id="Rfaf533fa9575407a" /><Relationship Type="http://schemas.openxmlformats.org/officeDocument/2006/relationships/slide" Target="/ppt/slides/slide14.xml" Id="R741fc0caac7a4cda" /><Relationship Type="http://schemas.openxmlformats.org/officeDocument/2006/relationships/slide" Target="/ppt/slides/slide15.xml" Id="R252a926973f34e4f" /><Relationship Type="http://schemas.openxmlformats.org/officeDocument/2006/relationships/slide" Target="/ppt/slides/slide16.xml" Id="R42ab18f4422b4cad" /><Relationship Type="http://schemas.openxmlformats.org/officeDocument/2006/relationships/slide" Target="/ppt/slides/slide17.xml" Id="Rd272683d9b3d407c" /><Relationship Type="http://schemas.openxmlformats.org/officeDocument/2006/relationships/slide" Target="/ppt/slides/slide18.xml" Id="Rd5ae1cfc457c4f4d" /><Relationship Type="http://schemas.openxmlformats.org/officeDocument/2006/relationships/slide" Target="/ppt/slides/slide19.xml" Id="Rf69095233f82427b" /><Relationship Type="http://schemas.openxmlformats.org/officeDocument/2006/relationships/slide" Target="/ppt/slides/slide20.xml" Id="Rcb11fa0c200f4f3c" /><Relationship Type="http://schemas.openxmlformats.org/officeDocument/2006/relationships/slide" Target="/ppt/slides/slide21.xml" Id="R4c69433e76e44a54" /><Relationship Type="http://schemas.openxmlformats.org/officeDocument/2006/relationships/slide" Target="/ppt/slides/slide22.xml" Id="R1be4e24a596e490c" /><Relationship Type="http://schemas.openxmlformats.org/officeDocument/2006/relationships/slide" Target="/ppt/slides/slide23.xml" Id="Re0ef8c22be324191" /><Relationship Type="http://schemas.openxmlformats.org/officeDocument/2006/relationships/slide" Target="/ppt/slides/slide24.xml" Id="Rf5f34194eadb4f30" /><Relationship Type="http://schemas.openxmlformats.org/officeDocument/2006/relationships/slide" Target="/ppt/slides/slide25.xml" Id="R494b44e7664e4ad8" /><Relationship Type="http://schemas.openxmlformats.org/officeDocument/2006/relationships/slide" Target="/ppt/slides/slide26.xml" Id="R79aedf68737546ad" /><Relationship Type="http://schemas.openxmlformats.org/officeDocument/2006/relationships/slide" Target="/ppt/slides/slide27.xml" Id="Rf659bb0a95d446bc" /><Relationship Type="http://schemas.openxmlformats.org/officeDocument/2006/relationships/slide" Target="/ppt/slides/slide28.xml" Id="Rfff88a7e95214bf5" /><Relationship Type="http://schemas.openxmlformats.org/officeDocument/2006/relationships/slide" Target="/ppt/slides/slide29.xml" Id="R8e0179e0c2024686" /><Relationship Type="http://schemas.openxmlformats.org/officeDocument/2006/relationships/slide" Target="/ppt/slides/slide30.xml" Id="R20ab6cbf793944e7" /><Relationship Type="http://schemas.openxmlformats.org/officeDocument/2006/relationships/slide" Target="/ppt/slides/slide31.xml" Id="Rc14b749666914b28" /><Relationship Type="http://schemas.openxmlformats.org/officeDocument/2006/relationships/slide" Target="/ppt/slides/slide32.xml" Id="R0c4683dacd7e4b7c" /><Relationship Type="http://schemas.openxmlformats.org/officeDocument/2006/relationships/slide" Target="/ppt/slides/slide33.xml" Id="Rb445dbdb24a44395" /><Relationship Type="http://schemas.openxmlformats.org/officeDocument/2006/relationships/slide" Target="/ppt/slides/slide34.xml" Id="Rc04c6538fdfa4280" /><Relationship Type="http://schemas.openxmlformats.org/officeDocument/2006/relationships/slide" Target="/ppt/slides/slide35.xml" Id="R5b981a7808c24116" /><Relationship Type="http://schemas.openxmlformats.org/officeDocument/2006/relationships/slide" Target="/ppt/slides/slide36.xml" Id="Rf0187c79b5c94eb4" /><Relationship Type="http://schemas.openxmlformats.org/officeDocument/2006/relationships/slide" Target="/ppt/slides/slide37.xml" Id="Redf8b4e3b02c448e" /><Relationship Type="http://schemas.openxmlformats.org/officeDocument/2006/relationships/slide" Target="/ppt/slides/slide38.xml" Id="Rc1e74befb5394f9f" /><Relationship Type="http://schemas.openxmlformats.org/officeDocument/2006/relationships/slide" Target="/ppt/slides/slide39.xml" Id="R7b9db045e49848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ad36ea939a47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ba6c1da8ea4539" /><Relationship Type="http://schemas.openxmlformats.org/officeDocument/2006/relationships/notesMaster" Target="/ppt/notesMasters/notesMaster1.xml" Id="R3382e602fdda4c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58faa8abc44170" /><Relationship Type="http://schemas.openxmlformats.org/officeDocument/2006/relationships/notesMaster" Target="/ppt/notesMasters/notesMaster1.xml" Id="R165657f0f6d34f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fa977d91ae438b" /><Relationship Type="http://schemas.openxmlformats.org/officeDocument/2006/relationships/notesMaster" Target="/ppt/notesMasters/notesMaster1.xml" Id="R4151a7f74a2449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3a1fd3da7846fc" /><Relationship Type="http://schemas.openxmlformats.org/officeDocument/2006/relationships/notesMaster" Target="/ppt/notesMasters/notesMaster1.xml" Id="Rcb8201c7f9c54d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4bfc99191244e0" /><Relationship Type="http://schemas.openxmlformats.org/officeDocument/2006/relationships/notesMaster" Target="/ppt/notesMasters/notesMaster1.xml" Id="R4c875de390364d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d4f9c78f174135" /><Relationship Type="http://schemas.openxmlformats.org/officeDocument/2006/relationships/notesMaster" Target="/ppt/notesMasters/notesMaster1.xml" Id="R9bf0387a6a6f4f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db4b22fd1d46de" /><Relationship Type="http://schemas.openxmlformats.org/officeDocument/2006/relationships/notesMaster" Target="/ppt/notesMasters/notesMaster1.xml" Id="Re74a23a5b9cb43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92efc6bc994dfc" /><Relationship Type="http://schemas.openxmlformats.org/officeDocument/2006/relationships/notesMaster" Target="/ppt/notesMasters/notesMaster1.xml" Id="Rc20b442860d649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c7f59761704a62" /><Relationship Type="http://schemas.openxmlformats.org/officeDocument/2006/relationships/notesMaster" Target="/ppt/notesMasters/notesMaster1.xml" Id="Ra0398d5c26d644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ddd5665fbc4736" /><Relationship Type="http://schemas.openxmlformats.org/officeDocument/2006/relationships/notesMaster" Target="/ppt/notesMasters/notesMaster1.xml" Id="R94d6b1bea00e42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31f28febf54d8f" /><Relationship Type="http://schemas.openxmlformats.org/officeDocument/2006/relationships/notesMaster" Target="/ppt/notesMasters/notesMaster1.xml" Id="R9096d87a4c9148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ae93640c79477a" /><Relationship Type="http://schemas.openxmlformats.org/officeDocument/2006/relationships/notesMaster" Target="/ppt/notesMasters/notesMaster1.xml" Id="R7b05c911d0ae44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2822bc64d848f1" /><Relationship Type="http://schemas.openxmlformats.org/officeDocument/2006/relationships/notesMaster" Target="/ppt/notesMasters/notesMaster1.xml" Id="Rfaa6139ecf014a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1a0de64f3a4b4c" /><Relationship Type="http://schemas.openxmlformats.org/officeDocument/2006/relationships/notesMaster" Target="/ppt/notesMasters/notesMaster1.xml" Id="Raaa73ff65687480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1fbc1353f3c43b8" /><Relationship Type="http://schemas.openxmlformats.org/officeDocument/2006/relationships/notesMaster" Target="/ppt/notesMasters/notesMaster1.xml" Id="R751ff96483ed40a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a5043d74d44a79" /><Relationship Type="http://schemas.openxmlformats.org/officeDocument/2006/relationships/notesMaster" Target="/ppt/notesMasters/notesMaster1.xml" Id="R4f6bd9f8c320413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3cd7cd0117648e0" /><Relationship Type="http://schemas.openxmlformats.org/officeDocument/2006/relationships/notesMaster" Target="/ppt/notesMasters/notesMaster1.xml" Id="Rc6a37f7239a0484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2f8ea7ae9d64914" /><Relationship Type="http://schemas.openxmlformats.org/officeDocument/2006/relationships/notesMaster" Target="/ppt/notesMasters/notesMaster1.xml" Id="R4ee6caa774f046e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7ac96ee85634344" /><Relationship Type="http://schemas.openxmlformats.org/officeDocument/2006/relationships/notesMaster" Target="/ppt/notesMasters/notesMaster1.xml" Id="Rf018e5757bbf426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ec74ab650bb4aa5" /><Relationship Type="http://schemas.openxmlformats.org/officeDocument/2006/relationships/notesMaster" Target="/ppt/notesMasters/notesMaster1.xml" Id="R17463e35f710454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e0c355f1492445f" /><Relationship Type="http://schemas.openxmlformats.org/officeDocument/2006/relationships/notesMaster" Target="/ppt/notesMasters/notesMaster1.xml" Id="R3a37aa1566c4403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249cc7bd63d44a0" /><Relationship Type="http://schemas.openxmlformats.org/officeDocument/2006/relationships/notesMaster" Target="/ppt/notesMasters/notesMaster1.xml" Id="R48274055b61e4c4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96822280a8a45a6" /><Relationship Type="http://schemas.openxmlformats.org/officeDocument/2006/relationships/notesMaster" Target="/ppt/notesMasters/notesMaster1.xml" Id="Ra248ca928d864f6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a6cdbb88f4444e2" /><Relationship Type="http://schemas.openxmlformats.org/officeDocument/2006/relationships/notesMaster" Target="/ppt/notesMasters/notesMaster1.xml" Id="Rdaa761ba6f604d6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9ceb1545d764976" /><Relationship Type="http://schemas.openxmlformats.org/officeDocument/2006/relationships/notesMaster" Target="/ppt/notesMasters/notesMaster1.xml" Id="Rd0e7acd1b12540e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f051aab3a2a468c" /><Relationship Type="http://schemas.openxmlformats.org/officeDocument/2006/relationships/notesMaster" Target="/ppt/notesMasters/notesMaster1.xml" Id="R8fe17df04385452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4394f8e752c47be" /><Relationship Type="http://schemas.openxmlformats.org/officeDocument/2006/relationships/notesMaster" Target="/ppt/notesMasters/notesMaster1.xml" Id="Rd8deb22ea09045d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42225e4db9a40c2" /><Relationship Type="http://schemas.openxmlformats.org/officeDocument/2006/relationships/notesMaster" Target="/ppt/notesMasters/notesMaster1.xml" Id="R717184ddd6dc4e3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885dca89f7b4d9d" /><Relationship Type="http://schemas.openxmlformats.org/officeDocument/2006/relationships/notesMaster" Target="/ppt/notesMasters/notesMaster1.xml" Id="R46dc310d513141f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292159a25614dfc" /><Relationship Type="http://schemas.openxmlformats.org/officeDocument/2006/relationships/notesMaster" Target="/ppt/notesMasters/notesMaster1.xml" Id="R66d6fe22744246c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a73f01b73de457e" /><Relationship Type="http://schemas.openxmlformats.org/officeDocument/2006/relationships/notesMaster" Target="/ppt/notesMasters/notesMaster1.xml" Id="Rf464799b993143a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b83584d75a34f39" /><Relationship Type="http://schemas.openxmlformats.org/officeDocument/2006/relationships/notesMaster" Target="/ppt/notesMasters/notesMaster1.xml" Id="R79345540bd47451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ef73680e5f04282" /><Relationship Type="http://schemas.openxmlformats.org/officeDocument/2006/relationships/notesMaster" Target="/ppt/notesMasters/notesMaster1.xml" Id="Re3d52cedc61940a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8c8c185fed9452c" /><Relationship Type="http://schemas.openxmlformats.org/officeDocument/2006/relationships/notesMaster" Target="/ppt/notesMasters/notesMaster1.xml" Id="R1318bcec81cc4bf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5a1c26673c7442f" /><Relationship Type="http://schemas.openxmlformats.org/officeDocument/2006/relationships/notesMaster" Target="/ppt/notesMasters/notesMaster1.xml" Id="R41444260f273400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c053c2587f243f1" /><Relationship Type="http://schemas.openxmlformats.org/officeDocument/2006/relationships/notesMaster" Target="/ppt/notesMasters/notesMaster1.xml" Id="Rbfa743f0ee3a495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d2c57bf81754472" /><Relationship Type="http://schemas.openxmlformats.org/officeDocument/2006/relationships/notesMaster" Target="/ppt/notesMasters/notesMaster1.xml" Id="Rae4c8f7686b3414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572de1d63c9450c" /><Relationship Type="http://schemas.openxmlformats.org/officeDocument/2006/relationships/notesMaster" Target="/ppt/notesMasters/notesMaster1.xml" Id="Rde121f16a8a6485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d1f3e7256ff4bb8" /><Relationship Type="http://schemas.openxmlformats.org/officeDocument/2006/relationships/notesMaster" Target="/ppt/notesMasters/notesMaster1.xml" Id="R3c871c362a6a44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R00</a:t>
            </a:r>
          </a:p>
          <a:p xmlns:a="http://schemas.openxmlformats.org/drawingml/2006/main">
            <a:r>
              <a:t>제공 HTML</a:t>
            </a:r>
          </a:p>
          <a:p xmlns:a="http://schemas.openxmlformats.org/drawingml/2006/main">
            <a:r>
              <a:t>Energy Pack Gateway Technology 2027–2030</a:t>
            </a:r>
          </a:p>
          <a:p xmlns:a="http://schemas.openxmlformats.org/drawingml/2006/main">
            <a:r>
              <a:t>D:/hems-search/output/Energy_Pack_Gateway_Technology_2027-2030.html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>경영 판단을 위한 우선순위 제안이다. 시장 규모에 대한 정량 점수나 확보된 수주를 의미하지 않는다. 두 과제의 공통 기반은 제어능력 확인, 계측, 현장 시험, 기기별 제약 데이터이다.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R04</a:t>
            </a:r>
          </a:p>
          <a:p xmlns:a="http://schemas.openxmlformats.org/drawingml/2006/main">
            <a:r>
              <a:t>Enedis</a:t>
            </a:r>
          </a:p>
          <a:p xmlns:a="http://schemas.openxmlformats.org/drawingml/2006/main">
            <a:r>
              <a:t>Heures creuses 개편, 2025.10.15</a:t>
            </a:r>
          </a:p>
          <a:p xmlns:a="http://schemas.openxmlformats.org/drawingml/2006/main">
            <a:r>
              <a:t>https://www.enedis.fr/presse/enedis-met-en-oeuvre-la-reforme-des-heures-creuses-pour-accompagner-les-nouveaux-usages-lies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R10</a:t>
            </a:r>
          </a:p>
          <a:p xmlns:a="http://schemas.openxmlformats.org/drawingml/2006/main">
            <a:r>
              <a:t>ERCOT</a:t>
            </a:r>
          </a:p>
          <a:p xmlns:a="http://schemas.openxmlformats.org/drawingml/2006/main">
            <a:r>
              <a:t>ADER Pilot, Phase 3.3, 2026.06.03</a:t>
            </a:r>
          </a:p>
          <a:p xmlns:a="http://schemas.openxmlformats.org/drawingml/2006/main">
            <a:r>
              <a:t>https://www.ercot.com/mktrules/pilots/ader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R16</a:t>
            </a:r>
          </a:p>
          <a:p xmlns:a="http://schemas.openxmlformats.org/drawingml/2006/main">
            <a:r>
              <a:t>1KOMMA5°</a:t>
            </a:r>
          </a:p>
          <a:p xmlns:a="http://schemas.openxmlformats.org/drawingml/2006/main">
            <a:r>
              <a:t>Heartbeat 호환 목록, 2026.08.25</a:t>
            </a:r>
          </a:p>
          <a:p xmlns:a="http://schemas.openxmlformats.org/drawingml/2006/main">
            <a:r>
              <a:t>https://support.1komma5.com/hc/de/articles/29833157635356-Heartbeat-Kompatibilit%C3%A4tsliste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R15</a:t>
            </a:r>
          </a:p>
          <a:p xmlns:a="http://schemas.openxmlformats.org/drawingml/2006/main">
            <a:r>
              <a:t>gridX</a:t>
            </a:r>
          </a:p>
          <a:p xmlns:a="http://schemas.openxmlformats.org/drawingml/2006/main">
            <a:r>
              <a:t>Optimized Heat Pump Operation, 2026.06.02</a:t>
            </a:r>
          </a:p>
          <a:p xmlns:a="http://schemas.openxmlformats.org/drawingml/2006/main">
            <a:r>
              <a:t>https://support.gridx.ai/en/articles/590093-dynamic-tariff-optimization-optimized-heat-pump-operation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R22</a:t>
            </a:r>
          </a:p>
          <a:p xmlns:a="http://schemas.openxmlformats.org/drawingml/2006/main">
            <a:r>
              <a:t>UL Solutions</a:t>
            </a:r>
          </a:p>
          <a:p xmlns:a="http://schemas.openxmlformats.org/drawingml/2006/main">
            <a:r>
              <a:t>Power Control Systems for DER</a:t>
            </a:r>
          </a:p>
          <a:p xmlns:a="http://schemas.openxmlformats.org/drawingml/2006/main">
            <a:r>
              <a:t>https://www.ul.com/services/power-control-systems-distributed-energy-resource-systems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R03</a:t>
            </a:r>
          </a:p>
          <a:p xmlns:a="http://schemas.openxmlformats.org/drawingml/2006/main">
            <a:r>
              <a:t>NESO</a:t>
            </a:r>
          </a:p>
          <a:p xmlns:a="http://schemas.openxmlformats.org/drawingml/2006/main">
            <a:r>
              <a:t>DFS Stacking List v2, 2026.04</a:t>
            </a:r>
          </a:p>
          <a:p xmlns:a="http://schemas.openxmlformats.org/drawingml/2006/main">
            <a:r>
              <a:t>https://www.neso.energy/document/380211/download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R01</a:t>
            </a:r>
          </a:p>
          <a:p xmlns:a="http://schemas.openxmlformats.org/drawingml/2006/main">
            <a:r>
              <a:t>BNetzA</a:t>
            </a:r>
          </a:p>
          <a:p xmlns:a="http://schemas.openxmlformats.org/drawingml/2006/main">
            <a:r>
              <a:t>§14a 제어가능 설비 적용 안내</a:t>
            </a:r>
          </a:p>
          <a:p xmlns:a="http://schemas.openxmlformats.org/drawingml/2006/main">
            <a:r>
              <a:t>https://www.bundesnetzagentur.de/DE/Vportal/Energie/SteuerbareVBE/artikel.html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R26</a:t>
            </a:r>
          </a:p>
          <a:p xmlns:a="http://schemas.openxmlformats.org/drawingml/2006/main">
            <a:r>
              <a:t>EEBUS</a:t>
            </a:r>
          </a:p>
          <a:p xmlns:a="http://schemas.openxmlformats.org/drawingml/2006/main">
            <a:r>
              <a:t>Solutions &amp; Use Cases</a:t>
            </a:r>
          </a:p>
          <a:p xmlns:a="http://schemas.openxmlformats.org/drawingml/2006/main">
            <a:r>
              <a:t>https://www.eebus.org/solutions-use-cases/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R02</a:t>
            </a:r>
          </a:p>
          <a:p xmlns:a="http://schemas.openxmlformats.org/drawingml/2006/main">
            <a:r>
              <a:t>NESO</a:t>
            </a:r>
          </a:p>
          <a:p xmlns:a="http://schemas.openxmlformats.org/drawingml/2006/main">
            <a:r>
              <a:t>Demand Flexibility Service explained, 2026 개편</a:t>
            </a:r>
          </a:p>
          <a:p xmlns:a="http://schemas.openxmlformats.org/drawingml/2006/main">
            <a:r>
              <a:t>https://www.neso.energy/industry-information/balancing-services/demand-flexibility-service/demand-flexibility-service-explained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R24</a:t>
            </a:r>
          </a:p>
          <a:p xmlns:a="http://schemas.openxmlformats.org/drawingml/2006/main">
            <a:r>
              <a:t>Nesta·CNZ</a:t>
            </a:r>
          </a:p>
          <a:p xmlns:a="http://schemas.openxmlformats.org/drawingml/2006/main">
            <a:r>
              <a:t>HeatFlex UK, 2024 실증</a:t>
            </a:r>
          </a:p>
          <a:p xmlns:a="http://schemas.openxmlformats.org/drawingml/2006/main">
            <a:r>
              <a:t>https://www.nesta.org.uk/project/heat-flex/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R03</a:t>
            </a:r>
          </a:p>
          <a:p xmlns:a="http://schemas.openxmlformats.org/drawingml/2006/main">
            <a:r>
              <a:t>NESO</a:t>
            </a:r>
          </a:p>
          <a:p xmlns:a="http://schemas.openxmlformats.org/drawingml/2006/main">
            <a:r>
              <a:t>DFS Stacking List v2, 2026.04</a:t>
            </a:r>
          </a:p>
          <a:p xmlns:a="http://schemas.openxmlformats.org/drawingml/2006/main">
            <a:r>
              <a:t>https://www.neso.energy/document/380211/download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R05</a:t>
            </a:r>
          </a:p>
          <a:p xmlns:a="http://schemas.openxmlformats.org/drawingml/2006/main">
            <a:r>
              <a:t>네덜란드 정부</a:t>
            </a:r>
          </a:p>
          <a:p xmlns:a="http://schemas.openxmlformats.org/drawingml/2006/main">
            <a:r>
              <a:t>Salderingsregeling stopt in 2027</a:t>
            </a:r>
          </a:p>
          <a:p xmlns:a="http://schemas.openxmlformats.org/drawingml/2006/main">
            <a:r>
              <a:t>https://www.rijksoverheid.nl/themas/klimaat-milieu-en-natuur/energie-thuis/salderingsregeling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R04</a:t>
            </a:r>
          </a:p>
          <a:p xmlns:a="http://schemas.openxmlformats.org/drawingml/2006/main">
            <a:r>
              <a:t>Enedis</a:t>
            </a:r>
          </a:p>
          <a:p xmlns:a="http://schemas.openxmlformats.org/drawingml/2006/main">
            <a:r>
              <a:t>Heures creuses 개편, 2025.10.15</a:t>
            </a:r>
          </a:p>
          <a:p xmlns:a="http://schemas.openxmlformats.org/drawingml/2006/main">
            <a:r>
              <a:t>https://www.enedis.fr/presse/enedis-met-en-oeuvre-la-reforme-des-heures-creuses-pour-accompagner-les-nouveaux-usages-lies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R06</a:t>
            </a:r>
          </a:p>
          <a:p xmlns:a="http://schemas.openxmlformats.org/drawingml/2006/main">
            <a:r>
              <a:t>ARERA</a:t>
            </a:r>
          </a:p>
          <a:p xmlns:a="http://schemas.openxmlformats.org/drawingml/2006/main">
            <a:r>
              <a:t>Potenza impegnata 및 계량기 용량 안내</a:t>
            </a:r>
          </a:p>
          <a:p xmlns:a="http://schemas.openxmlformats.org/drawingml/2006/main">
            <a:r>
              <a:t>https://www.arera.it/bolletta/glossario-dei-termini/dettaglio/potenza-impegnata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R07</a:t>
            </a:r>
          </a:p>
          <a:p xmlns:a="http://schemas.openxmlformats.org/drawingml/2006/main">
            <a:r>
              <a:t>ARERA</a:t>
            </a:r>
          </a:p>
          <a:p xmlns:a="http://schemas.openxmlformats.org/drawingml/2006/main">
            <a:r>
              <a:t>Potenza del contatore</a:t>
            </a:r>
          </a:p>
          <a:p xmlns:a="http://schemas.openxmlformats.org/drawingml/2006/main">
            <a:r>
              <a:t>https://www.arera.it/en/consumatori/potenza-del-contatore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R08</a:t>
            </a:r>
          </a:p>
          <a:p xmlns:a="http://schemas.openxmlformats.org/drawingml/2006/main">
            <a:r>
              <a:t>CNMC</a:t>
            </a:r>
          </a:p>
          <a:p xmlns:a="http://schemas.openxmlformats.org/drawingml/2006/main">
            <a:r>
              <a:t>2023년 말 가계조사, 2024.06.28 발표</a:t>
            </a:r>
          </a:p>
          <a:p xmlns:a="http://schemas.openxmlformats.org/drawingml/2006/main">
            <a:r>
              <a:t>https://www.cnmc.es/prensa/panel-hogares-servicios-electricidad-gas-20240628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R09</a:t>
            </a:r>
          </a:p>
          <a:p xmlns:a="http://schemas.openxmlformats.org/drawingml/2006/main">
            <a:r>
              <a:t>CPUC</a:t>
            </a:r>
          </a:p>
          <a:p xmlns:a="http://schemas.openxmlformats.org/drawingml/2006/main">
            <a:r>
              <a:t>Net Energy Metering and Net Billing</a:t>
            </a:r>
          </a:p>
          <a:p xmlns:a="http://schemas.openxmlformats.org/drawingml/2006/main">
            <a:r>
              <a:t>https://www.cpuc.ca.gov/industries-and-topics/electrical-energy/demand-side-management/customer-generation/net-energy-metering-and-net-billing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R10</a:t>
            </a:r>
          </a:p>
          <a:p xmlns:a="http://schemas.openxmlformats.org/drawingml/2006/main">
            <a:r>
              <a:t>ERCOT</a:t>
            </a:r>
          </a:p>
          <a:p xmlns:a="http://schemas.openxmlformats.org/drawingml/2006/main">
            <a:r>
              <a:t>ADER Pilot, Phase 3.3, 2026.06.03</a:t>
            </a:r>
          </a:p>
          <a:p xmlns:a="http://schemas.openxmlformats.org/drawingml/2006/main">
            <a:r>
              <a:t>https://www.ercot.com/mktrules/pilots/ader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R11</a:t>
            </a:r>
          </a:p>
          <a:p xmlns:a="http://schemas.openxmlformats.org/drawingml/2006/main">
            <a:r>
              <a:t>IRS</a:t>
            </a:r>
          </a:p>
          <a:p xmlns:a="http://schemas.openxmlformats.org/drawingml/2006/main">
            <a:r>
              <a:t>Residential Clean Energy Credit</a:t>
            </a:r>
          </a:p>
          <a:p xmlns:a="http://schemas.openxmlformats.org/drawingml/2006/main">
            <a:r>
              <a:t>https://www.irs.gov/credits-deductions/residential-clean-energy-credit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R12</a:t>
            </a:r>
          </a:p>
          <a:p xmlns:a="http://schemas.openxmlformats.org/drawingml/2006/main">
            <a:r>
              <a:t>DEWA</a:t>
            </a:r>
          </a:p>
          <a:p xmlns:a="http://schemas.openxmlformats.org/drawingml/2006/main">
            <a:r>
              <a:t>Slab Tariff, 연료조정요금 2026.09</a:t>
            </a:r>
          </a:p>
          <a:p xmlns:a="http://schemas.openxmlformats.org/drawingml/2006/main">
            <a:r>
              <a:t>https://www.dewa.gov.ae/en/consumer/billing/slab-tariff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R13</a:t>
            </a:r>
          </a:p>
          <a:p xmlns:a="http://schemas.openxmlformats.org/drawingml/2006/main">
            <a:r>
              <a:t>SERA</a:t>
            </a:r>
          </a:p>
          <a:p xmlns:a="http://schemas.openxmlformats.org/drawingml/2006/main">
            <a:r>
              <a:t>Electricity Service Guide, 요금표 p.67</a:t>
            </a:r>
          </a:p>
          <a:p xmlns:a="http://schemas.openxmlformats.org/drawingml/2006/main">
            <a:r>
              <a:t>https://www.sera.gov.sa/-/media/4a51a8ff4b5a45609033cfb7fea9d644.ashx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R14</a:t>
            </a:r>
          </a:p>
          <a:p xmlns:a="http://schemas.openxmlformats.org/drawingml/2006/main">
            <a:r>
              <a:t>KAHRAMAA</a:t>
            </a:r>
          </a:p>
          <a:p xmlns:a="http://schemas.openxmlformats.org/drawingml/2006/main">
            <a:r>
              <a:t>BeSolar net billing 안내</a:t>
            </a:r>
          </a:p>
          <a:p xmlns:a="http://schemas.openxmlformats.org/drawingml/2006/main">
            <a:r>
              <a:t>https://km.qa/RenewableEnergy/Pages/Besolar.aspx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R15</a:t>
            </a:r>
          </a:p>
          <a:p xmlns:a="http://schemas.openxmlformats.org/drawingml/2006/main">
            <a:r>
              <a:t>gridX</a:t>
            </a:r>
          </a:p>
          <a:p xmlns:a="http://schemas.openxmlformats.org/drawingml/2006/main">
            <a:r>
              <a:t>Optimized Heat Pump Operation, 2026.06.02</a:t>
            </a:r>
          </a:p>
          <a:p xmlns:a="http://schemas.openxmlformats.org/drawingml/2006/main">
            <a:r>
              <a:t>https://support.gridx.ai/en/articles/590093-dynamic-tariff-optimization-optimized-heat-pump-operation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R16</a:t>
            </a:r>
          </a:p>
          <a:p xmlns:a="http://schemas.openxmlformats.org/drawingml/2006/main">
            <a:r>
              <a:t>1KOMMA5°</a:t>
            </a:r>
          </a:p>
          <a:p xmlns:a="http://schemas.openxmlformats.org/drawingml/2006/main">
            <a:r>
              <a:t>Heartbeat 호환 목록, 2026.08.25</a:t>
            </a:r>
          </a:p>
          <a:p xmlns:a="http://schemas.openxmlformats.org/drawingml/2006/main">
            <a:r>
              <a:t>https://support.1komma5.com/hc/de/articles/29833157635356-Heartbeat-Kompatibilit%C3%A4tsliste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R17</a:t>
            </a:r>
          </a:p>
          <a:p xmlns:a="http://schemas.openxmlformats.org/drawingml/2006/main">
            <a:r>
              <a:t>Kraken</a:t>
            </a:r>
          </a:p>
          <a:p xmlns:a="http://schemas.openxmlformats.org/drawingml/2006/main">
            <a:r>
              <a:t>Electrifying domestic heating, 2025.08.21</a:t>
            </a:r>
          </a:p>
          <a:p xmlns:a="http://schemas.openxmlformats.org/drawingml/2006/main">
            <a:r>
              <a:t>https://engineering.kraken.tech/news/2025/08/21/electrifying-domestic-heating.html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R18</a:t>
            </a:r>
          </a:p>
          <a:p xmlns:a="http://schemas.openxmlformats.org/drawingml/2006/main">
            <a:r>
              <a:t>Enphase</a:t>
            </a:r>
          </a:p>
          <a:p xmlns:a="http://schemas.openxmlformats.org/drawingml/2006/main">
            <a:r>
              <a:t>IQ Energy Router 독일·오스트리아 출시, 2023.06</a:t>
            </a:r>
          </a:p>
          <a:p xmlns:a="http://schemas.openxmlformats.org/drawingml/2006/main">
            <a:r>
              <a:t>https://investor.enphase.com/news-releases/news-release-details/enphase-energy-launches-new-home-energy-management-solution/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R19</a:t>
            </a:r>
          </a:p>
          <a:p xmlns:a="http://schemas.openxmlformats.org/drawingml/2006/main">
            <a:r>
              <a:t>Enphase</a:t>
            </a:r>
          </a:p>
          <a:p xmlns:a="http://schemas.openxmlformats.org/drawingml/2006/main">
            <a:r>
              <a:t>Daikin Altherma 3 설정 가이드</a:t>
            </a:r>
          </a:p>
          <a:p xmlns:a="http://schemas.openxmlformats.org/drawingml/2006/main">
            <a:r>
              <a:t>https://enphase.com/en-de/download/heat-pump-daikin-altherma-3-configuration-guide-iq-energy-router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R20</a:t>
            </a:r>
          </a:p>
          <a:p xmlns:a="http://schemas.openxmlformats.org/drawingml/2006/main">
            <a:r>
              <a:t>SPAN</a:t>
            </a:r>
          </a:p>
          <a:p xmlns:a="http://schemas.openxmlformats.org/drawingml/2006/main">
            <a:r>
              <a:t>PowerUp 및 배전반 에너지 제어</a:t>
            </a:r>
          </a:p>
          <a:p xmlns:a="http://schemas.openxmlformats.org/drawingml/2006/main">
            <a:r>
              <a:t>https://www.span.io/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R21</a:t>
            </a:r>
          </a:p>
          <a:p xmlns:a="http://schemas.openxmlformats.org/drawingml/2006/main">
            <a:r>
              <a:t>ConnectDER</a:t>
            </a:r>
          </a:p>
          <a:p xmlns:a="http://schemas.openxmlformats.org/drawingml/2006/main">
            <a:r>
              <a:t>Solar MSA v5.2 설치 매뉴얼</a:t>
            </a:r>
          </a:p>
          <a:p xmlns:a="http://schemas.openxmlformats.org/drawingml/2006/main">
            <a:r>
              <a:t>https://connectder.com/wp-content/uploads/2023/08/ConnectDER_Solar_MSA_v5.2_Installation-Manual-v1.0f.pdf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R22</a:t>
            </a:r>
          </a:p>
          <a:p xmlns:a="http://schemas.openxmlformats.org/drawingml/2006/main">
            <a:r>
              <a:t>UL Solutions</a:t>
            </a:r>
          </a:p>
          <a:p xmlns:a="http://schemas.openxmlformats.org/drawingml/2006/main">
            <a:r>
              <a:t>Power Control Systems for DER</a:t>
            </a:r>
          </a:p>
          <a:p xmlns:a="http://schemas.openxmlformats.org/drawingml/2006/main">
            <a:r>
              <a:t>https://www.ul.com/services/power-control-systems-distributed-energy-resource-systems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R23</a:t>
            </a:r>
          </a:p>
          <a:p xmlns:a="http://schemas.openxmlformats.org/drawingml/2006/main">
            <a:r>
              <a:t>ENA</a:t>
            </a:r>
          </a:p>
          <a:p xmlns:a="http://schemas.openxmlformats.org/drawingml/2006/main">
            <a:r>
              <a:t>G100 Issue 2 Amendment 2, 2023</a:t>
            </a:r>
          </a:p>
          <a:p xmlns:a="http://schemas.openxmlformats.org/drawingml/2006/main">
            <a:r>
              <a:t>https://www.energynetworks.org/assets/images/ENA_EREC_G100_Issue_2_Amendment_2_%282023%29.pdf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R15</a:t>
            </a:r>
          </a:p>
          <a:p xmlns:a="http://schemas.openxmlformats.org/drawingml/2006/main">
            <a:r>
              <a:t>gridX</a:t>
            </a:r>
          </a:p>
          <a:p xmlns:a="http://schemas.openxmlformats.org/drawingml/2006/main">
            <a:r>
              <a:t>Optimized Heat Pump Operation, 2026.06.02</a:t>
            </a:r>
          </a:p>
          <a:p xmlns:a="http://schemas.openxmlformats.org/drawingml/2006/main">
            <a:r>
              <a:t>https://support.gridx.ai/en/articles/590093-dynamic-tariff-optimization-optimized-heat-pump-operation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R19</a:t>
            </a:r>
          </a:p>
          <a:p xmlns:a="http://schemas.openxmlformats.org/drawingml/2006/main">
            <a:r>
              <a:t>Enphase</a:t>
            </a:r>
          </a:p>
          <a:p xmlns:a="http://schemas.openxmlformats.org/drawingml/2006/main">
            <a:r>
              <a:t>Daikin Altherma 3 설정 가이드</a:t>
            </a:r>
          </a:p>
          <a:p xmlns:a="http://schemas.openxmlformats.org/drawingml/2006/main">
            <a:r>
              <a:t>https://enphase.com/en-de/download/heat-pump-daikin-altherma-3-configuration-guide-iq-energy-router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R26</a:t>
            </a:r>
          </a:p>
          <a:p xmlns:a="http://schemas.openxmlformats.org/drawingml/2006/main">
            <a:r>
              <a:t>EEBUS</a:t>
            </a:r>
          </a:p>
          <a:p xmlns:a="http://schemas.openxmlformats.org/drawingml/2006/main">
            <a:r>
              <a:t>Solutions &amp; Use Cases</a:t>
            </a:r>
          </a:p>
          <a:p xmlns:a="http://schemas.openxmlformats.org/drawingml/2006/main">
            <a:r>
              <a:t>https://www.eebus.org/solutions-use-cases/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>가정: 설정·시험 3h에서1.5h, 시간당 완전원가€60, 재방문확률12%에서5%, 재방문당€180. 절감90+12.6=102.6. 건별사용료€35와추가자재€20 제외 설치업체 잔여편익€47.6. 설치업체 가치이며당사이익아님. 지원비·개발비는 별도 제품수익성모형으로 검토.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R24</a:t>
            </a:r>
          </a:p>
          <a:p xmlns:a="http://schemas.openxmlformats.org/drawingml/2006/main">
            <a:r>
              <a:t>Nesta·CNZ</a:t>
            </a:r>
          </a:p>
          <a:p xmlns:a="http://schemas.openxmlformats.org/drawingml/2006/main">
            <a:r>
              <a:t>HeatFlex UK, 2024 실증</a:t>
            </a:r>
          </a:p>
          <a:p xmlns:a="http://schemas.openxmlformats.org/drawingml/2006/main">
            <a:r>
              <a:t>https://www.nesta.org.uk/project/heat-flex/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R15</a:t>
            </a:r>
          </a:p>
          <a:p xmlns:a="http://schemas.openxmlformats.org/drawingml/2006/main">
            <a:r>
              <a:t>gridX</a:t>
            </a:r>
          </a:p>
          <a:p xmlns:a="http://schemas.openxmlformats.org/drawingml/2006/main">
            <a:r>
              <a:t>Optimized Heat Pump Operation, 2026.06.02</a:t>
            </a:r>
          </a:p>
          <a:p xmlns:a="http://schemas.openxmlformats.org/drawingml/2006/main">
            <a:r>
              <a:t>https://support.gridx.ai/en/articles/590093-dynamic-tariff-optimization-optimized-heat-pump-operation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>물 밀도 약1kg/L, 비열4.186kJ/(kg·K) 가정. 200×4.186×10÷3600=2.3256kWh_thermal. COP3 가정 시 해당 열생산에 드는 전기0.7752kWh. 열손실·혼합·위생운전·출탕 및 COP변동 제외. 전체 탱크를10°C 올릴 수 있는지 여부는 제품별허용온도와 안전설계로 판단.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>동일 열서비스 조건, 고가시간 회피전기1000kWh/년, 고가€0.30/kWh, 예열전기1200kWh/년(20%추가), 연운영료€60, 설치추가비€250 가정. 연총절감=1000*.30-1200*p. p=.05,.15,.25에서240,120,0. 고객순편익=총절감-60 -&gt;180,60,-60. 단순회수기간250/180=1.39년,250/60=4.17년. 할인율·고장·물가·수명은 반영하지 않은 비교용 단순예시.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R22</a:t>
            </a:r>
          </a:p>
          <a:p xmlns:a="http://schemas.openxmlformats.org/drawingml/2006/main">
            <a:r>
              <a:t>UL Solutions</a:t>
            </a:r>
          </a:p>
          <a:p xmlns:a="http://schemas.openxmlformats.org/drawingml/2006/main">
            <a:r>
              <a:t>Power Control Systems for DER</a:t>
            </a:r>
          </a:p>
          <a:p xmlns:a="http://schemas.openxmlformats.org/drawingml/2006/main">
            <a:r>
              <a:t>https://www.ul.com/services/power-control-systems-distributed-energy-resource-systems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R23</a:t>
            </a:r>
          </a:p>
          <a:p xmlns:a="http://schemas.openxmlformats.org/drawingml/2006/main">
            <a:r>
              <a:t>ENA</a:t>
            </a:r>
          </a:p>
          <a:p xmlns:a="http://schemas.openxmlformats.org/drawingml/2006/main">
            <a:r>
              <a:t>G100 Issue 2 Amendment 2, 2023</a:t>
            </a:r>
          </a:p>
          <a:p xmlns:a="http://schemas.openxmlformats.org/drawingml/2006/main">
            <a:r>
              <a:t>https://www.energynetworks.org/assets/images/ENA_EREC_G100_Issue_2_Amendment_2_%282023%29.pdf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R01</a:t>
            </a:r>
          </a:p>
          <a:p xmlns:a="http://schemas.openxmlformats.org/drawingml/2006/main">
            <a:r>
              <a:t>BNetzA</a:t>
            </a:r>
          </a:p>
          <a:p xmlns:a="http://schemas.openxmlformats.org/drawingml/2006/main">
            <a:r>
              <a:t>§14a 제어가능 설비 적용 안내</a:t>
            </a:r>
          </a:p>
          <a:p xmlns:a="http://schemas.openxmlformats.org/drawingml/2006/main">
            <a:r>
              <a:t>https://www.bundesnetzagentur.de/DE/Vportal/Energie/SteuerbareVBE/artikel.html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>NESO의 stacking 문서는 서로 다른 시간의 jumping, 다른 용량의 splitting, 같은 방향 동시 제공의 co-delivery 등을 구분한다. 개별허용 여부를 해당계약·버전별로 저장하는 설계를제안한다. 고객요금절감 추정과 프로그램정산 기준선은 다른 결과이므로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R03</a:t>
            </a:r>
          </a:p>
          <a:p xmlns:a="http://schemas.openxmlformats.org/drawingml/2006/main">
            <a:r>
              <a:t>NESO</a:t>
            </a:r>
          </a:p>
          <a:p xmlns:a="http://schemas.openxmlformats.org/drawingml/2006/main">
            <a:r>
              <a:t>DFS Stacking List v2, 2026.04</a:t>
            </a:r>
          </a:p>
          <a:p xmlns:a="http://schemas.openxmlformats.org/drawingml/2006/main">
            <a:r>
              <a:t>https://www.neso.energy/document/380211/download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R10</a:t>
            </a:r>
          </a:p>
          <a:p xmlns:a="http://schemas.openxmlformats.org/drawingml/2006/main">
            <a:r>
              <a:t>ERCOT</a:t>
            </a:r>
          </a:p>
          <a:p xmlns:a="http://schemas.openxmlformats.org/drawingml/2006/main">
            <a:r>
              <a:t>ADER Pilot, Phase 3.3, 2026.06.03</a:t>
            </a:r>
          </a:p>
          <a:p xmlns:a="http://schemas.openxmlformats.org/drawingml/2006/main">
            <a:r>
              <a:t>https://www.ercot.com/mktrules/pilots/ader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R15</a:t>
            </a:r>
          </a:p>
          <a:p xmlns:a="http://schemas.openxmlformats.org/drawingml/2006/main">
            <a:r>
              <a:t>gridX</a:t>
            </a:r>
          </a:p>
          <a:p xmlns:a="http://schemas.openxmlformats.org/drawingml/2006/main">
            <a:r>
              <a:t>Optimized Heat Pump Operation, 2026.06.02</a:t>
            </a:r>
          </a:p>
          <a:p xmlns:a="http://schemas.openxmlformats.org/drawingml/2006/main">
            <a:r>
              <a:t>https://support.gridx.ai/en/articles/590093-dynamic-tariff-optimization-optimized-heat-pump-operation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R16</a:t>
            </a:r>
          </a:p>
          <a:p xmlns:a="http://schemas.openxmlformats.org/drawingml/2006/main">
            <a:r>
              <a:t>1KOMMA5°</a:t>
            </a:r>
          </a:p>
          <a:p xmlns:a="http://schemas.openxmlformats.org/drawingml/2006/main">
            <a:r>
              <a:t>Heartbeat 호환 목록, 2026.08.25</a:t>
            </a:r>
          </a:p>
          <a:p xmlns:a="http://schemas.openxmlformats.org/drawingml/2006/main">
            <a:r>
              <a:t>https://support.1komma5.com/hc/de/articles/29833157635356-Heartbeat-Kompatibilit%C3%A4tsliste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R19</a:t>
            </a:r>
          </a:p>
          <a:p xmlns:a="http://schemas.openxmlformats.org/drawingml/2006/main">
            <a:r>
              <a:t>Enphase</a:t>
            </a:r>
          </a:p>
          <a:p xmlns:a="http://schemas.openxmlformats.org/drawingml/2006/main">
            <a:r>
              <a:t>Daikin Altherma 3 설정 가이드</a:t>
            </a:r>
          </a:p>
          <a:p xmlns:a="http://schemas.openxmlformats.org/drawingml/2006/main">
            <a:r>
              <a:t>https://enphase.com/en-de/download/heat-pump-daikin-altherma-3-configuration-guide-iq-energy-router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R22</a:t>
            </a:r>
          </a:p>
          <a:p xmlns:a="http://schemas.openxmlformats.org/drawingml/2006/main">
            <a:r>
              <a:t>UL Solutions</a:t>
            </a:r>
          </a:p>
          <a:p xmlns:a="http://schemas.openxmlformats.org/drawingml/2006/main">
            <a:r>
              <a:t>Power Control Systems for DER</a:t>
            </a:r>
          </a:p>
          <a:p xmlns:a="http://schemas.openxmlformats.org/drawingml/2006/main">
            <a:r>
              <a:t>https://www.ul.com/services/power-control-systems-distributed-energy-resource-systems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R27</a:t>
            </a:r>
          </a:p>
          <a:p xmlns:a="http://schemas.openxmlformats.org/drawingml/2006/main">
            <a:r>
              <a:t>EEBUS</a:t>
            </a:r>
          </a:p>
          <a:p xmlns:a="http://schemas.openxmlformats.org/drawingml/2006/main">
            <a:r>
              <a:t>Limitation of Power Consumption v1.0</a:t>
            </a:r>
          </a:p>
          <a:p xmlns:a="http://schemas.openxmlformats.org/drawingml/2006/main">
            <a:r>
              <a:t>https://www.eebus.org/wp-content/uploads/2023/04/EEBus_UC_TS_LimitationOfPowerConsumption_V1.0.0_public.pdf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R29</a:t>
            </a:r>
          </a:p>
          <a:p xmlns:a="http://schemas.openxmlformats.org/drawingml/2006/main">
            <a:r>
              <a:t>EU 집행위</a:t>
            </a:r>
          </a:p>
          <a:p xmlns:a="http://schemas.openxmlformats.org/drawingml/2006/main">
            <a:r>
              <a:t>Cyber Resilience Act 적용 일정</a:t>
            </a:r>
          </a:p>
          <a:p xmlns:a="http://schemas.openxmlformats.org/drawingml/2006/main">
            <a:r>
              <a:t>https://digital-strategy.ec.europa.eu/en/policies/cra-summary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>성능 목표는 보장이나 현실증 결과가 아니다. 제한된 시험의0건실패는 실제모집단에서위험0을뜻하지않는다. 안전관련실패가나면확대중단후원인교정·재검증. 온도이탈비율분모는재실및제어대상시간, 허용온도폭은가구별사전합의. 고객순편익95%구간은가구군수준추정이며개별가구확정액아님.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R01</a:t>
            </a:r>
          </a:p>
          <a:p xmlns:a="http://schemas.openxmlformats.org/drawingml/2006/main">
            <a:r>
              <a:t>BNetzA</a:t>
            </a:r>
          </a:p>
          <a:p xmlns:a="http://schemas.openxmlformats.org/drawingml/2006/main">
            <a:r>
              <a:t>§14a 제어가능 설비 적용 안내</a:t>
            </a:r>
          </a:p>
          <a:p xmlns:a="http://schemas.openxmlformats.org/drawingml/2006/main">
            <a:r>
              <a:t>https://www.bundesnetzagentur.de/DE/Vportal/Energie/SteuerbareVBE/artikel.html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R23</a:t>
            </a:r>
          </a:p>
          <a:p xmlns:a="http://schemas.openxmlformats.org/drawingml/2006/main">
            <a:r>
              <a:t>ENA</a:t>
            </a:r>
          </a:p>
          <a:p xmlns:a="http://schemas.openxmlformats.org/drawingml/2006/main">
            <a:r>
              <a:t>G100 Issue 2 Amendment 2, 2023</a:t>
            </a:r>
          </a:p>
          <a:p xmlns:a="http://schemas.openxmlformats.org/drawingml/2006/main">
            <a:r>
              <a:t>https://www.energynetworks.org/assets/images/ENA_EREC_G100_Issue_2_Amendment_2_%282023%29.pdf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R22</a:t>
            </a:r>
          </a:p>
          <a:p xmlns:a="http://schemas.openxmlformats.org/drawingml/2006/main">
            <a:r>
              <a:t>UL Solutions</a:t>
            </a:r>
          </a:p>
          <a:p xmlns:a="http://schemas.openxmlformats.org/drawingml/2006/main">
            <a:r>
              <a:t>Power Control Systems for DER</a:t>
            </a:r>
          </a:p>
          <a:p xmlns:a="http://schemas.openxmlformats.org/drawingml/2006/main">
            <a:r>
              <a:t>https://www.ul.com/services/power-control-systems-distributed-energy-resource-systems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R03</a:t>
            </a:r>
          </a:p>
          <a:p xmlns:a="http://schemas.openxmlformats.org/drawingml/2006/main">
            <a:r>
              <a:t>NESO</a:t>
            </a:r>
          </a:p>
          <a:p xmlns:a="http://schemas.openxmlformats.org/drawingml/2006/main">
            <a:r>
              <a:t>DFS Stacking List v2, 2026.04</a:t>
            </a:r>
          </a:p>
          <a:p xmlns:a="http://schemas.openxmlformats.org/drawingml/2006/main">
            <a:r>
              <a:t>https://www.neso.energy/document/380211/download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R10</a:t>
            </a:r>
          </a:p>
          <a:p xmlns:a="http://schemas.openxmlformats.org/drawingml/2006/main">
            <a:r>
              <a:t>ERCOT</a:t>
            </a:r>
          </a:p>
          <a:p xmlns:a="http://schemas.openxmlformats.org/drawingml/2006/main">
            <a:r>
              <a:t>ADER Pilot, Phase 3.3, 2026.06.03</a:t>
            </a:r>
          </a:p>
          <a:p xmlns:a="http://schemas.openxmlformats.org/drawingml/2006/main">
            <a:r>
              <a:t>https://www.ercot.com/mktrules/pilots/ader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R28</a:t>
            </a:r>
          </a:p>
          <a:p xmlns:a="http://schemas.openxmlformats.org/drawingml/2006/main">
            <a:r>
              <a:t>CSA</a:t>
            </a:r>
          </a:p>
          <a:p xmlns:a="http://schemas.openxmlformats.org/drawingml/2006/main">
            <a:r>
              <a:t>Matter 1.5 에너지 관리 확장, 2025.11.20</a:t>
            </a:r>
          </a:p>
          <a:p xmlns:a="http://schemas.openxmlformats.org/drawingml/2006/main">
            <a:r>
              <a:t>https://csa-iot.org/newsroom/matter-1-5-introduces-cameras-closures-and-enhanced-energy-management-capabilities/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R26</a:t>
            </a:r>
          </a:p>
          <a:p xmlns:a="http://schemas.openxmlformats.org/drawingml/2006/main">
            <a:r>
              <a:t>EEBUS</a:t>
            </a:r>
          </a:p>
          <a:p xmlns:a="http://schemas.openxmlformats.org/drawingml/2006/main">
            <a:r>
              <a:t>Solutions &amp; Use Cases</a:t>
            </a:r>
          </a:p>
          <a:p xmlns:a="http://schemas.openxmlformats.org/drawingml/2006/main">
            <a:r>
              <a:t>https://www.eebus.org/solutions-use-cases/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R27</a:t>
            </a:r>
          </a:p>
          <a:p xmlns:a="http://schemas.openxmlformats.org/drawingml/2006/main">
            <a:r>
              <a:t>EEBUS</a:t>
            </a:r>
          </a:p>
          <a:p xmlns:a="http://schemas.openxmlformats.org/drawingml/2006/main">
            <a:r>
              <a:t>Limitation of Power Consumption v1.0</a:t>
            </a:r>
          </a:p>
          <a:p xmlns:a="http://schemas.openxmlformats.org/drawingml/2006/main">
            <a:r>
              <a:t>https://www.eebus.org/wp-content/uploads/2023/04/EEBus_UC_TS_LimitationOfPowerConsumption_V1.0.0_public.pdf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R29</a:t>
            </a:r>
          </a:p>
          <a:p xmlns:a="http://schemas.openxmlformats.org/drawingml/2006/main">
            <a:r>
              <a:t>EU 집행위</a:t>
            </a:r>
          </a:p>
          <a:p xmlns:a="http://schemas.openxmlformats.org/drawingml/2006/main">
            <a:r>
              <a:t>Cyber Resilience Act 적용 일정</a:t>
            </a:r>
          </a:p>
          <a:p xmlns:a="http://schemas.openxmlformats.org/drawingml/2006/main">
            <a:r>
              <a:t>https://digital-strategy.ec.europa.eu/en/policies/cra-summary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>실증제안: 기상·재실·기기구성에따른층화, 사전분산측정후표본수결정, 사전등록한기간·제외기준으로대조. 교차설계는열관성의잔류효과와washout처리. 탈락·통신결측은제거만하지않고발생률·민감도보고. 사용요금절감은예열과회복비용·추가전력·수수료 포함. 계량경계·시간대·DST·세금·기본료처리 명시.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R24</a:t>
            </a:r>
          </a:p>
          <a:p xmlns:a="http://schemas.openxmlformats.org/drawingml/2006/main">
            <a:r>
              <a:t>Nesta·CNZ</a:t>
            </a:r>
          </a:p>
          <a:p xmlns:a="http://schemas.openxmlformats.org/drawingml/2006/main">
            <a:r>
              <a:t>HeatFlex UK, 2024 실증</a:t>
            </a:r>
          </a:p>
          <a:p xmlns:a="http://schemas.openxmlformats.org/drawingml/2006/main">
            <a:r>
              <a:t>https://www.nesta.org.uk/project/heat-flex/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R25</a:t>
            </a:r>
          </a:p>
          <a:p xmlns:a="http://schemas.openxmlformats.org/drawingml/2006/main">
            <a:r>
              <a:t>Nesta</a:t>
            </a:r>
          </a:p>
          <a:p xmlns:a="http://schemas.openxmlformats.org/drawingml/2006/main">
            <a:r>
              <a:t>HeatFlex 기술·실증 보고서</a:t>
            </a:r>
          </a:p>
          <a:p xmlns:a="http://schemas.openxmlformats.org/drawingml/2006/main">
            <a:r>
              <a:t>https://media.nesta.org.uk/documents/HeatFlex_-_the_untapped_potential_of_heat_pump_flexibility.pdf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R03</a:t>
            </a:r>
          </a:p>
          <a:p xmlns:a="http://schemas.openxmlformats.org/drawingml/2006/main">
            <a:r>
              <a:t>NESO</a:t>
            </a:r>
          </a:p>
          <a:p xmlns:a="http://schemas.openxmlformats.org/drawingml/2006/main">
            <a:r>
              <a:t>DFS Stacking List v2, 2026.04</a:t>
            </a:r>
          </a:p>
          <a:p xmlns:a="http://schemas.openxmlformats.org/drawingml/2006/main">
            <a:r>
              <a:t>https://www.neso.energy/document/380211/download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R30</a:t>
            </a:r>
          </a:p>
          <a:p xmlns:a="http://schemas.openxmlformats.org/drawingml/2006/main">
            <a:r>
              <a:t>특허 공개문헌</a:t>
            </a:r>
          </a:p>
          <a:p xmlns:a="http://schemas.openxmlformats.org/drawingml/2006/main">
            <a:r>
              <a:t>US10191102B2, CT 극성 자동 보정</a:t>
            </a:r>
          </a:p>
          <a:p xmlns:a="http://schemas.openxmlformats.org/drawingml/2006/main">
            <a:r>
              <a:t>https://patents.google.com/patent/US10191102B2/en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R27</a:t>
            </a:r>
          </a:p>
          <a:p xmlns:a="http://schemas.openxmlformats.org/drawingml/2006/main">
            <a:r>
              <a:t>EEBUS</a:t>
            </a:r>
          </a:p>
          <a:p xmlns:a="http://schemas.openxmlformats.org/drawingml/2006/main">
            <a:r>
              <a:t>Limitation of Power Consumption v1.0</a:t>
            </a:r>
          </a:p>
          <a:p xmlns:a="http://schemas.openxmlformats.org/drawingml/2006/main">
            <a:r>
              <a:t>https://www.eebus.org/wp-content/uploads/2023/04/EEBus_UC_TS_LimitationOfPowerConsumption_V1.0.0_public.pdf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R24</a:t>
            </a:r>
          </a:p>
          <a:p xmlns:a="http://schemas.openxmlformats.org/drawingml/2006/main">
            <a:r>
              <a:t>Nesta·CNZ</a:t>
            </a:r>
          </a:p>
          <a:p xmlns:a="http://schemas.openxmlformats.org/drawingml/2006/main">
            <a:r>
              <a:t>HeatFlex UK, 2024 실증</a:t>
            </a:r>
          </a:p>
          <a:p xmlns:a="http://schemas.openxmlformats.org/drawingml/2006/main">
            <a:r>
              <a:t>https://www.nesta.org.uk/project/heat-flex/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R00</a:t>
            </a:r>
          </a:p>
          <a:p xmlns:a="http://schemas.openxmlformats.org/drawingml/2006/main">
            <a:r>
              <a:t>제공 HTML</a:t>
            </a:r>
          </a:p>
          <a:p xmlns:a="http://schemas.openxmlformats.org/drawingml/2006/main">
            <a:r>
              <a:t>Energy Pack Gateway Technology 2027–2030</a:t>
            </a:r>
          </a:p>
          <a:p xmlns:a="http://schemas.openxmlformats.org/drawingml/2006/main">
            <a:r>
              <a:t>D:/hems-search/output/Energy_Pack_Gateway_Technology_2027-2030.html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R00</a:t>
            </a:r>
          </a:p>
          <a:p xmlns:a="http://schemas.openxmlformats.org/drawingml/2006/main">
            <a:r>
              <a:t>제공 HTML</a:t>
            </a:r>
          </a:p>
          <a:p xmlns:a="http://schemas.openxmlformats.org/drawingml/2006/main">
            <a:r>
              <a:t>Energy Pack Gateway Technology 2027–2030</a:t>
            </a:r>
          </a:p>
          <a:p xmlns:a="http://schemas.openxmlformats.org/drawingml/2006/main">
            <a:r>
              <a:t>D:/hems-search/output/Energy_Pack_Gateway_Technology_2027-2030.html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R22</a:t>
            </a:r>
          </a:p>
          <a:p xmlns:a="http://schemas.openxmlformats.org/drawingml/2006/main">
            <a:r>
              <a:t>UL Solutions</a:t>
            </a:r>
          </a:p>
          <a:p xmlns:a="http://schemas.openxmlformats.org/drawingml/2006/main">
            <a:r>
              <a:t>Power Control Systems for DER</a:t>
            </a:r>
          </a:p>
          <a:p xmlns:a="http://schemas.openxmlformats.org/drawingml/2006/main">
            <a:r>
              <a:t>https://www.ul.com/services/power-control-systems-distributed-energy-resource-systems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R19</a:t>
            </a:r>
          </a:p>
          <a:p xmlns:a="http://schemas.openxmlformats.org/drawingml/2006/main">
            <a:r>
              <a:t>Enphase</a:t>
            </a:r>
          </a:p>
          <a:p xmlns:a="http://schemas.openxmlformats.org/drawingml/2006/main">
            <a:r>
              <a:t>Daikin Altherma 3 설정 가이드</a:t>
            </a:r>
          </a:p>
          <a:p xmlns:a="http://schemas.openxmlformats.org/drawingml/2006/main">
            <a:r>
              <a:t>https://enphase.com/en-de/download/heat-pump-daikin-altherma-3-configuration-guide-iq-energy-router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R01</a:t>
            </a:r>
          </a:p>
          <a:p xmlns:a="http://schemas.openxmlformats.org/drawingml/2006/main">
            <a:r>
              <a:t>BNetzA</a:t>
            </a:r>
          </a:p>
          <a:p xmlns:a="http://schemas.openxmlformats.org/drawingml/2006/main">
            <a:r>
              <a:t>§14a 제어가능 설비 적용 안내</a:t>
            </a:r>
          </a:p>
          <a:p xmlns:a="http://schemas.openxmlformats.org/drawingml/2006/main">
            <a:r>
              <a:t>https://www.bundesnetzagentur.de/DE/Vportal/Energie/SteuerbareVBE/artikel.html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R02</a:t>
            </a:r>
          </a:p>
          <a:p xmlns:a="http://schemas.openxmlformats.org/drawingml/2006/main">
            <a:r>
              <a:t>NESO</a:t>
            </a:r>
          </a:p>
          <a:p xmlns:a="http://schemas.openxmlformats.org/drawingml/2006/main">
            <a:r>
              <a:t>Demand Flexibility Service explained, 2026 개편</a:t>
            </a:r>
          </a:p>
          <a:p xmlns:a="http://schemas.openxmlformats.org/drawingml/2006/main">
            <a:r>
              <a:t>https://www.neso.energy/industry-information/balancing-services/demand-flexibility-service/demand-flexibility-service-explained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R03</a:t>
            </a:r>
          </a:p>
          <a:p xmlns:a="http://schemas.openxmlformats.org/drawingml/2006/main">
            <a:r>
              <a:t>NESO</a:t>
            </a:r>
          </a:p>
          <a:p xmlns:a="http://schemas.openxmlformats.org/drawingml/2006/main">
            <a:r>
              <a:t>DFS Stacking List v2, 2026.04</a:t>
            </a:r>
          </a:p>
          <a:p xmlns:a="http://schemas.openxmlformats.org/drawingml/2006/main">
            <a:r>
              <a:t>https://www.neso.energy/document/380211/download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R04</a:t>
            </a:r>
          </a:p>
          <a:p xmlns:a="http://schemas.openxmlformats.org/drawingml/2006/main">
            <a:r>
              <a:t>Enedis</a:t>
            </a:r>
          </a:p>
          <a:p xmlns:a="http://schemas.openxmlformats.org/drawingml/2006/main">
            <a:r>
              <a:t>Heures creuses 개편, 2025.10.15</a:t>
            </a:r>
          </a:p>
          <a:p xmlns:a="http://schemas.openxmlformats.org/drawingml/2006/main">
            <a:r>
              <a:t>https://www.enedis.fr/presse/enedis-met-en-oeuvre-la-reforme-des-heures-creuses-pour-accompagner-les-nouveaux-usages-lies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R05</a:t>
            </a:r>
          </a:p>
          <a:p xmlns:a="http://schemas.openxmlformats.org/drawingml/2006/main">
            <a:r>
              <a:t>네덜란드 정부</a:t>
            </a:r>
          </a:p>
          <a:p xmlns:a="http://schemas.openxmlformats.org/drawingml/2006/main">
            <a:r>
              <a:t>Salderingsregeling stopt in 2027</a:t>
            </a:r>
          </a:p>
          <a:p xmlns:a="http://schemas.openxmlformats.org/drawingml/2006/main">
            <a:r>
              <a:t>https://www.rijksoverheid.nl/themas/klimaat-milieu-en-natuur/energie-thuis/salderingsregeling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R06</a:t>
            </a:r>
          </a:p>
          <a:p xmlns:a="http://schemas.openxmlformats.org/drawingml/2006/main">
            <a:r>
              <a:t>ARERA</a:t>
            </a:r>
          </a:p>
          <a:p xmlns:a="http://schemas.openxmlformats.org/drawingml/2006/main">
            <a:r>
              <a:t>Potenza impegnata 및 계량기 용량 안내</a:t>
            </a:r>
          </a:p>
          <a:p xmlns:a="http://schemas.openxmlformats.org/drawingml/2006/main">
            <a:r>
              <a:t>https://www.arera.it/bolletta/glossario-dei-termini/dettaglio/potenza-impegnata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R07</a:t>
            </a:r>
          </a:p>
          <a:p xmlns:a="http://schemas.openxmlformats.org/drawingml/2006/main">
            <a:r>
              <a:t>ARERA</a:t>
            </a:r>
          </a:p>
          <a:p xmlns:a="http://schemas.openxmlformats.org/drawingml/2006/main">
            <a:r>
              <a:t>Potenza del contatore</a:t>
            </a:r>
          </a:p>
          <a:p xmlns:a="http://schemas.openxmlformats.org/drawingml/2006/main">
            <a:r>
              <a:t>https://www.arera.it/en/consumatori/potenza-del-contatore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R08</a:t>
            </a:r>
          </a:p>
          <a:p xmlns:a="http://schemas.openxmlformats.org/drawingml/2006/main">
            <a:r>
              <a:t>CNMC</a:t>
            </a:r>
          </a:p>
          <a:p xmlns:a="http://schemas.openxmlformats.org/drawingml/2006/main">
            <a:r>
              <a:t>2023년 말 가계조사, 2024.06.28 발표</a:t>
            </a:r>
          </a:p>
          <a:p xmlns:a="http://schemas.openxmlformats.org/drawingml/2006/main">
            <a:r>
              <a:t>https://www.cnmc.es/prensa/panel-hogares-servicios-electricidad-gas-20240628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R09</a:t>
            </a:r>
          </a:p>
          <a:p xmlns:a="http://schemas.openxmlformats.org/drawingml/2006/main">
            <a:r>
              <a:t>CPUC</a:t>
            </a:r>
          </a:p>
          <a:p xmlns:a="http://schemas.openxmlformats.org/drawingml/2006/main">
            <a:r>
              <a:t>Net Energy Metering and Net Billing</a:t>
            </a:r>
          </a:p>
          <a:p xmlns:a="http://schemas.openxmlformats.org/drawingml/2006/main">
            <a:r>
              <a:t>https://www.cpuc.ca.gov/industries-and-topics/electrical-energy/demand-side-management/customer-generation/net-energy-metering-and-net-billing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R10</a:t>
            </a:r>
          </a:p>
          <a:p xmlns:a="http://schemas.openxmlformats.org/drawingml/2006/main">
            <a:r>
              <a:t>ERCOT</a:t>
            </a:r>
          </a:p>
          <a:p xmlns:a="http://schemas.openxmlformats.org/drawingml/2006/main">
            <a:r>
              <a:t>ADER Pilot, Phase 3.3, 2026.06.03</a:t>
            </a:r>
          </a:p>
          <a:p xmlns:a="http://schemas.openxmlformats.org/drawingml/2006/main">
            <a:r>
              <a:t>https://www.ercot.com/mktrules/pilots/ader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R11</a:t>
            </a:r>
          </a:p>
          <a:p xmlns:a="http://schemas.openxmlformats.org/drawingml/2006/main">
            <a:r>
              <a:t>IRS</a:t>
            </a:r>
          </a:p>
          <a:p xmlns:a="http://schemas.openxmlformats.org/drawingml/2006/main">
            <a:r>
              <a:t>Residential Clean Energy Credit</a:t>
            </a:r>
          </a:p>
          <a:p xmlns:a="http://schemas.openxmlformats.org/drawingml/2006/main">
            <a:r>
              <a:t>https://www.irs.gov/credits-deductions/residential-clean-energy-credit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R12</a:t>
            </a:r>
          </a:p>
          <a:p xmlns:a="http://schemas.openxmlformats.org/drawingml/2006/main">
            <a:r>
              <a:t>DEWA</a:t>
            </a:r>
          </a:p>
          <a:p xmlns:a="http://schemas.openxmlformats.org/drawingml/2006/main">
            <a:r>
              <a:t>Slab Tariff, 연료조정요금 2026.09</a:t>
            </a:r>
          </a:p>
          <a:p xmlns:a="http://schemas.openxmlformats.org/drawingml/2006/main">
            <a:r>
              <a:t>https://www.dewa.gov.ae/en/consumer/billing/slab-tariff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R13</a:t>
            </a:r>
          </a:p>
          <a:p xmlns:a="http://schemas.openxmlformats.org/drawingml/2006/main">
            <a:r>
              <a:t>SERA</a:t>
            </a:r>
          </a:p>
          <a:p xmlns:a="http://schemas.openxmlformats.org/drawingml/2006/main">
            <a:r>
              <a:t>Electricity Service Guide, 요금표 p.67</a:t>
            </a:r>
          </a:p>
          <a:p xmlns:a="http://schemas.openxmlformats.org/drawingml/2006/main">
            <a:r>
              <a:t>https://www.sera.gov.sa/-/media/4a51a8ff4b5a45609033cfb7fea9d644.ashx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R14</a:t>
            </a:r>
          </a:p>
          <a:p xmlns:a="http://schemas.openxmlformats.org/drawingml/2006/main">
            <a:r>
              <a:t>KAHRAMAA</a:t>
            </a:r>
          </a:p>
          <a:p xmlns:a="http://schemas.openxmlformats.org/drawingml/2006/main">
            <a:r>
              <a:t>BeSolar net billing 안내</a:t>
            </a:r>
          </a:p>
          <a:p xmlns:a="http://schemas.openxmlformats.org/drawingml/2006/main">
            <a:r>
              <a:t>https://km.qa/RenewableEnergy/Pages/Besolar.aspx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R15</a:t>
            </a:r>
          </a:p>
          <a:p xmlns:a="http://schemas.openxmlformats.org/drawingml/2006/main">
            <a:r>
              <a:t>gridX</a:t>
            </a:r>
          </a:p>
          <a:p xmlns:a="http://schemas.openxmlformats.org/drawingml/2006/main">
            <a:r>
              <a:t>Optimized Heat Pump Operation, 2026.06.02</a:t>
            </a:r>
          </a:p>
          <a:p xmlns:a="http://schemas.openxmlformats.org/drawingml/2006/main">
            <a:r>
              <a:t>https://support.gridx.ai/en/articles/590093-dynamic-tariff-optimization-optimized-heat-pump-operation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R16</a:t>
            </a:r>
          </a:p>
          <a:p xmlns:a="http://schemas.openxmlformats.org/drawingml/2006/main">
            <a:r>
              <a:t>1KOMMA5°</a:t>
            </a:r>
          </a:p>
          <a:p xmlns:a="http://schemas.openxmlformats.org/drawingml/2006/main">
            <a:r>
              <a:t>Heartbeat 호환 목록, 2026.08.25</a:t>
            </a:r>
          </a:p>
          <a:p xmlns:a="http://schemas.openxmlformats.org/drawingml/2006/main">
            <a:r>
              <a:t>https://support.1komma5.com/hc/de/articles/29833157635356-Heartbeat-Kompatibilit%C3%A4tsliste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R17</a:t>
            </a:r>
          </a:p>
          <a:p xmlns:a="http://schemas.openxmlformats.org/drawingml/2006/main">
            <a:r>
              <a:t>Kraken</a:t>
            </a:r>
          </a:p>
          <a:p xmlns:a="http://schemas.openxmlformats.org/drawingml/2006/main">
            <a:r>
              <a:t>Electrifying domestic heating, 2025.08.21</a:t>
            </a:r>
          </a:p>
          <a:p xmlns:a="http://schemas.openxmlformats.org/drawingml/2006/main">
            <a:r>
              <a:t>https://engineering.kraken.tech/news/2025/08/21/electrifying-domestic-heating.html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R18</a:t>
            </a:r>
          </a:p>
          <a:p xmlns:a="http://schemas.openxmlformats.org/drawingml/2006/main">
            <a:r>
              <a:t>Enphase</a:t>
            </a:r>
          </a:p>
          <a:p xmlns:a="http://schemas.openxmlformats.org/drawingml/2006/main">
            <a:r>
              <a:t>IQ Energy Router 독일·오스트리아 출시, 2023.06</a:t>
            </a:r>
          </a:p>
          <a:p xmlns:a="http://schemas.openxmlformats.org/drawingml/2006/main">
            <a:r>
              <a:t>https://investor.enphase.com/news-releases/news-release-details/enphase-energy-launches-new-home-energy-management-solution/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R19</a:t>
            </a:r>
          </a:p>
          <a:p xmlns:a="http://schemas.openxmlformats.org/drawingml/2006/main">
            <a:r>
              <a:t>Enphase</a:t>
            </a:r>
          </a:p>
          <a:p xmlns:a="http://schemas.openxmlformats.org/drawingml/2006/main">
            <a:r>
              <a:t>Daikin Altherma 3 설정 가이드</a:t>
            </a:r>
          </a:p>
          <a:p xmlns:a="http://schemas.openxmlformats.org/drawingml/2006/main">
            <a:r>
              <a:t>https://enphase.com/en-de/download/heat-pump-daikin-altherma-3-configuration-guide-iq-energy-router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R20</a:t>
            </a:r>
          </a:p>
          <a:p xmlns:a="http://schemas.openxmlformats.org/drawingml/2006/main">
            <a:r>
              <a:t>SPAN</a:t>
            </a:r>
          </a:p>
          <a:p xmlns:a="http://schemas.openxmlformats.org/drawingml/2006/main">
            <a:r>
              <a:t>PowerUp 및 배전반 에너지 제어</a:t>
            </a:r>
          </a:p>
          <a:p xmlns:a="http://schemas.openxmlformats.org/drawingml/2006/main">
            <a:r>
              <a:t>https://www.span.io/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R21</a:t>
            </a:r>
          </a:p>
          <a:p xmlns:a="http://schemas.openxmlformats.org/drawingml/2006/main">
            <a:r>
              <a:t>ConnectDER</a:t>
            </a:r>
          </a:p>
          <a:p xmlns:a="http://schemas.openxmlformats.org/drawingml/2006/main">
            <a:r>
              <a:t>Solar MSA v5.2 설치 매뉴얼</a:t>
            </a:r>
          </a:p>
          <a:p xmlns:a="http://schemas.openxmlformats.org/drawingml/2006/main">
            <a:r>
              <a:t>https://connectder.com/wp-content/uploads/2023/08/ConnectDER_Solar_MSA_v5.2_Installation-Manual-v1.0f.pdf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R22</a:t>
            </a:r>
          </a:p>
          <a:p xmlns:a="http://schemas.openxmlformats.org/drawingml/2006/main">
            <a:r>
              <a:t>UL Solutions</a:t>
            </a:r>
          </a:p>
          <a:p xmlns:a="http://schemas.openxmlformats.org/drawingml/2006/main">
            <a:r>
              <a:t>Power Control Systems for DER</a:t>
            </a:r>
          </a:p>
          <a:p xmlns:a="http://schemas.openxmlformats.org/drawingml/2006/main">
            <a:r>
              <a:t>https://www.ul.com/services/power-control-systems-distributed-energy-resource-systems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R23</a:t>
            </a:r>
          </a:p>
          <a:p xmlns:a="http://schemas.openxmlformats.org/drawingml/2006/main">
            <a:r>
              <a:t>ENA</a:t>
            </a:r>
          </a:p>
          <a:p xmlns:a="http://schemas.openxmlformats.org/drawingml/2006/main">
            <a:r>
              <a:t>G100 Issue 2 Amendment 2, 2023</a:t>
            </a:r>
          </a:p>
          <a:p xmlns:a="http://schemas.openxmlformats.org/drawingml/2006/main">
            <a:r>
              <a:t>https://www.energynetworks.org/assets/images/ENA_EREC_G100_Issue_2_Amendment_2_%282023%29.pdf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R24</a:t>
            </a:r>
          </a:p>
          <a:p xmlns:a="http://schemas.openxmlformats.org/drawingml/2006/main">
            <a:r>
              <a:t>Nesta·CNZ</a:t>
            </a:r>
          </a:p>
          <a:p xmlns:a="http://schemas.openxmlformats.org/drawingml/2006/main">
            <a:r>
              <a:t>HeatFlex UK, 2024 실증</a:t>
            </a:r>
          </a:p>
          <a:p xmlns:a="http://schemas.openxmlformats.org/drawingml/2006/main">
            <a:r>
              <a:t>https://www.nesta.org.uk/project/heat-flex/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R25</a:t>
            </a:r>
          </a:p>
          <a:p xmlns:a="http://schemas.openxmlformats.org/drawingml/2006/main">
            <a:r>
              <a:t>Nesta</a:t>
            </a:r>
          </a:p>
          <a:p xmlns:a="http://schemas.openxmlformats.org/drawingml/2006/main">
            <a:r>
              <a:t>HeatFlex 기술·실증 보고서</a:t>
            </a:r>
          </a:p>
          <a:p xmlns:a="http://schemas.openxmlformats.org/drawingml/2006/main">
            <a:r>
              <a:t>https://media.nesta.org.uk/documents/HeatFlex_-_the_untapped_potential_of_heat_pump_flexibility.pdf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R26</a:t>
            </a:r>
          </a:p>
          <a:p xmlns:a="http://schemas.openxmlformats.org/drawingml/2006/main">
            <a:r>
              <a:t>EEBUS</a:t>
            </a:r>
          </a:p>
          <a:p xmlns:a="http://schemas.openxmlformats.org/drawingml/2006/main">
            <a:r>
              <a:t>Solutions &amp; Use Cases</a:t>
            </a:r>
          </a:p>
          <a:p xmlns:a="http://schemas.openxmlformats.org/drawingml/2006/main">
            <a:r>
              <a:t>https://www.eebus.org/solutions-use-cases/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R27</a:t>
            </a:r>
          </a:p>
          <a:p xmlns:a="http://schemas.openxmlformats.org/drawingml/2006/main">
            <a:r>
              <a:t>EEBUS</a:t>
            </a:r>
          </a:p>
          <a:p xmlns:a="http://schemas.openxmlformats.org/drawingml/2006/main">
            <a:r>
              <a:t>Limitation of Power Consumption v1.0</a:t>
            </a:r>
          </a:p>
          <a:p xmlns:a="http://schemas.openxmlformats.org/drawingml/2006/main">
            <a:r>
              <a:t>https://www.eebus.org/wp-content/uploads/2023/04/EEBus_UC_TS_LimitationOfPowerConsumption_V1.0.0_public.pdf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R28</a:t>
            </a:r>
          </a:p>
          <a:p xmlns:a="http://schemas.openxmlformats.org/drawingml/2006/main">
            <a:r>
              <a:t>CSA</a:t>
            </a:r>
          </a:p>
          <a:p xmlns:a="http://schemas.openxmlformats.org/drawingml/2006/main">
            <a:r>
              <a:t>Matter 1.5 에너지 관리 확장, 2025.11.20</a:t>
            </a:r>
          </a:p>
          <a:p xmlns:a="http://schemas.openxmlformats.org/drawingml/2006/main">
            <a:r>
              <a:t>https://csa-iot.org/newsroom/matter-1-5-introduces-cameras-closures-and-enhanced-energy-management-capabilities/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R29</a:t>
            </a:r>
          </a:p>
          <a:p xmlns:a="http://schemas.openxmlformats.org/drawingml/2006/main">
            <a:r>
              <a:t>EU 집행위</a:t>
            </a:r>
          </a:p>
          <a:p xmlns:a="http://schemas.openxmlformats.org/drawingml/2006/main">
            <a:r>
              <a:t>Cyber Resilience Act 적용 일정</a:t>
            </a:r>
          </a:p>
          <a:p xmlns:a="http://schemas.openxmlformats.org/drawingml/2006/main">
            <a:r>
              <a:t>https://digital-strategy.ec.europa.eu/en/policies/cra-summary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R30</a:t>
            </a:r>
          </a:p>
          <a:p xmlns:a="http://schemas.openxmlformats.org/drawingml/2006/main">
            <a:r>
              <a:t>특허 공개문헌</a:t>
            </a:r>
          </a:p>
          <a:p xmlns:a="http://schemas.openxmlformats.org/drawingml/2006/main">
            <a:r>
              <a:t>US10191102B2, CT 극성 자동 보정</a:t>
            </a:r>
          </a:p>
          <a:p xmlns:a="http://schemas.openxmlformats.org/drawingml/2006/main">
            <a:r>
              <a:t>https://patents.google.com/patent/US10191102B2/en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7155ec2c8b4f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0f913958924f8e" /><Relationship Type="http://schemas.openxmlformats.org/officeDocument/2006/relationships/slideLayout" Target="/ppt/slideLayouts/slideLayout1.xml" Id="R1cebea27de1b4c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ebea27de1b4c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489a42587481b" /><Relationship Type="http://schemas.openxmlformats.org/officeDocument/2006/relationships/notesSlide" Target="/ppt/notesSlides/notesSlide1.xml" Id="R3c01929fd7c746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7e206d76d40ee" /><Relationship Type="http://schemas.openxmlformats.org/officeDocument/2006/relationships/notesSlide" Target="/ppt/notesSlides/notesSlide2.xml" Id="R04ed12bd586643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f0cbfc8cf4f67" /><Relationship Type="http://schemas.openxmlformats.org/officeDocument/2006/relationships/notesSlide" Target="/ppt/notesSlides/notesSlide3.xml" Id="Rd95ef93fdf9b4e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bae7d45914004" /><Relationship Type="http://schemas.openxmlformats.org/officeDocument/2006/relationships/notesSlide" Target="/ppt/notesSlides/notesSlide4.xml" Id="Rdd3b67c53af146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f6bc2a0f94fbf" /><Relationship Type="http://schemas.openxmlformats.org/officeDocument/2006/relationships/notesSlide" Target="/ppt/notesSlides/notesSlide5.xml" Id="Rf8093d49ea314d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922d8af694cef" /><Relationship Type="http://schemas.openxmlformats.org/officeDocument/2006/relationships/notesSlide" Target="/ppt/notesSlides/notesSlide6.xml" Id="R52dc5bd13c254e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6f3a08d354312" /><Relationship Type="http://schemas.openxmlformats.org/officeDocument/2006/relationships/notesSlide" Target="/ppt/notesSlides/notesSlide7.xml" Id="R7b7e314a400f4f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68558bbab452a" /><Relationship Type="http://schemas.openxmlformats.org/officeDocument/2006/relationships/notesSlide" Target="/ppt/notesSlides/notesSlide8.xml" Id="Ra6659143c52845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2b990769744d2" /><Relationship Type="http://schemas.openxmlformats.org/officeDocument/2006/relationships/notesSlide" Target="/ppt/notesSlides/notesSlide9.xml" Id="Rcf02f84426574b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855b53b364fd2" /><Relationship Type="http://schemas.openxmlformats.org/officeDocument/2006/relationships/notesSlide" Target="/ppt/notesSlides/notesSlide10.xml" Id="Rce39d893dee64b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aa70d804d4398" /><Relationship Type="http://schemas.openxmlformats.org/officeDocument/2006/relationships/notesSlide" Target="/ppt/notesSlides/notesSlide11.xml" Id="R813466a600364a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a9486e02e4d0c" /><Relationship Type="http://schemas.openxmlformats.org/officeDocument/2006/relationships/notesSlide" Target="/ppt/notesSlides/notesSlide12.xml" Id="R82a9ebcc5ff944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4e2f270074a0f" /><Relationship Type="http://schemas.openxmlformats.org/officeDocument/2006/relationships/notesSlide" Target="/ppt/notesSlides/notesSlide13.xml" Id="R5462f6d4b7fd4d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ca75c117e46bb" /><Relationship Type="http://schemas.openxmlformats.org/officeDocument/2006/relationships/notesSlide" Target="/ppt/notesSlides/notesSlide14.xml" Id="Rc7446b61ba6341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0c3a06fc1436b" /><Relationship Type="http://schemas.openxmlformats.org/officeDocument/2006/relationships/notesSlide" Target="/ppt/notesSlides/notesSlide15.xml" Id="R4180359c872d40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07afa7fc847a6" /><Relationship Type="http://schemas.openxmlformats.org/officeDocument/2006/relationships/notesSlide" Target="/ppt/notesSlides/notesSlide16.xml" Id="Rff32bceb620c470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94238ff2e44e4" /><Relationship Type="http://schemas.openxmlformats.org/officeDocument/2006/relationships/notesSlide" Target="/ppt/notesSlides/notesSlide17.xml" Id="R4f75e6ce3bbe463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75a2d6ec14741" /><Relationship Type="http://schemas.openxmlformats.org/officeDocument/2006/relationships/notesSlide" Target="/ppt/notesSlides/notesSlide18.xml" Id="R9f64ff504702480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ffaa75bb942d2" /><Relationship Type="http://schemas.openxmlformats.org/officeDocument/2006/relationships/notesSlide" Target="/ppt/notesSlides/notesSlide19.xml" Id="R7de90506f687462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a4f1e8eb8486f" /><Relationship Type="http://schemas.openxmlformats.org/officeDocument/2006/relationships/notesSlide" Target="/ppt/notesSlides/notesSlide20.xml" Id="R3e3440b436ba46d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0a680b51149bf" /><Relationship Type="http://schemas.openxmlformats.org/officeDocument/2006/relationships/notesSlide" Target="/ppt/notesSlides/notesSlide21.xml" Id="R75821e113314454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4f733199f4e23" /><Relationship Type="http://schemas.openxmlformats.org/officeDocument/2006/relationships/notesSlide" Target="/ppt/notesSlides/notesSlide22.xml" Id="Rc4f6b0429e944b2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eb706007d4040" /><Relationship Type="http://schemas.openxmlformats.org/officeDocument/2006/relationships/notesSlide" Target="/ppt/notesSlides/notesSlide23.xml" Id="R272eef08220a439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823ae7eb74b94" /><Relationship Type="http://schemas.openxmlformats.org/officeDocument/2006/relationships/notesSlide" Target="/ppt/notesSlides/notesSlide24.xml" Id="R20be9d69351f47d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b94dc96b34a3c" /><Relationship Type="http://schemas.openxmlformats.org/officeDocument/2006/relationships/notesSlide" Target="/ppt/notesSlides/notesSlide25.xml" Id="R44b29725be2f4ab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8766533464baf" /><Relationship Type="http://schemas.openxmlformats.org/officeDocument/2006/relationships/notesSlide" Target="/ppt/notesSlides/notesSlide26.xml" Id="Rd0685bbfee304d0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0e1dbce524ee2" /><Relationship Type="http://schemas.openxmlformats.org/officeDocument/2006/relationships/notesSlide" Target="/ppt/notesSlides/notesSlide27.xml" Id="R609782ee9f63400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403798af5452b" /><Relationship Type="http://schemas.openxmlformats.org/officeDocument/2006/relationships/notesSlide" Target="/ppt/notesSlides/notesSlide28.xml" Id="Reacd1453ef6d4be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ca32f90684f11" /><Relationship Type="http://schemas.openxmlformats.org/officeDocument/2006/relationships/notesSlide" Target="/ppt/notesSlides/notesSlide29.xml" Id="R79827810941f4cd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ee68a0bff404e" /><Relationship Type="http://schemas.openxmlformats.org/officeDocument/2006/relationships/notesSlide" Target="/ppt/notesSlides/notesSlide30.xml" Id="R8bf6b13228ed475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b84b64a874ff7" /><Relationship Type="http://schemas.openxmlformats.org/officeDocument/2006/relationships/notesSlide" Target="/ppt/notesSlides/notesSlide31.xml" Id="R0b0821b8927f44b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a72a775a444f0" /><Relationship Type="http://schemas.openxmlformats.org/officeDocument/2006/relationships/notesSlide" Target="/ppt/notesSlides/notesSlide32.xml" Id="R21cb2e32ad84429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fc0debd304c23" /><Relationship Type="http://schemas.openxmlformats.org/officeDocument/2006/relationships/notesSlide" Target="/ppt/notesSlides/notesSlide33.xml" Id="R38609e8c04a244f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90a77c45d4465" /><Relationship Type="http://schemas.openxmlformats.org/officeDocument/2006/relationships/notesSlide" Target="/ppt/notesSlides/notesSlide34.xml" Id="R105e74244f64437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7fdd750254af4" /><Relationship Type="http://schemas.openxmlformats.org/officeDocument/2006/relationships/notesSlide" Target="/ppt/notesSlides/notesSlide35.xml" Id="R87b996b116904a5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5fdd605cc471f" /><Relationship Type="http://schemas.openxmlformats.org/officeDocument/2006/relationships/notesSlide" Target="/ppt/notesSlides/notesSlide36.xml" Id="R5a52cd5dcf18495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5f68d602b43b2" /><Relationship Type="http://schemas.openxmlformats.org/officeDocument/2006/relationships/notesSlide" Target="/ppt/notesSlides/notesSlide37.xml" Id="R21f7cc199111497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7168b2bd44414" /><Relationship Type="http://schemas.openxmlformats.org/officeDocument/2006/relationships/notesSlide" Target="/ppt/notesSlides/notesSlide38.xml" Id="R4ad3dd2198994af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7690c453c459a" /><Relationship Type="http://schemas.openxmlformats.org/officeDocument/2006/relationships/notesSlide" Target="/ppt/notesSlides/notesSlide39.xml" Id="Re1843f456d6e46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06242-7893-4843-93DF-DD5EF7D5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Energy Pack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8D095-9BF2-4034-AB66-56168F10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65F45-CE2F-46D8-A276-4CA2A52D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9607C-3D2A-4F1D-BA9D-1CA43211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rPr>
              <a:t>국가별 고객 문제와 기술 개발·사업화 우선순위</a:t>
            </a:r>
          </a:p>
          <a:p xmlns:a="http://schemas.openxmlformats.org/drawingml/2006/main">
            <a:pPr>
              <a:defRPr sz="11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rPr>
              <a:t>근거  R00 제공 HTML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C8171-792E-4DCE-A130-B6B27514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105727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미래 먹거리를 만드는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관문기술과 진입시장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60ED0-9A6D-4DDA-97A7-8AE2AFA5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001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D8B26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D8B26A"/>
                </a:solidFill>
                <a:latin typeface="Malgun Gothic"/>
                <a:ea typeface="Malgun Gothic"/>
                <a:cs typeface="Malgun Gothic"/>
              </a:rPr>
              <a:t>2027–2030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690A5-8B2F-4AEF-9293-81E93811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rPr>
              <a:t>국가별 Pain Point · 경쟁 제품 검증 · R&amp;D 실행안</a:t>
            </a:r>
          </a:p>
        </p:txBody>
      </p:sp>
    </p:spTree>
    <p:extLst>
      <p:ext uri="{BB962C8B-B14F-4D97-AF65-F5344CB8AC3E}">
        <p14:creationId xmlns:p14="http://schemas.microsoft.com/office/powerpoint/2010/main" val="19761016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72622-FBF5-48E9-9C9A-6906A77C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2027년은 두 과제에 집중하는 편이 타당하다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0FDB4-9C1A-4148-8941-5EC09EFC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독일의 설치 검증과 영국의 열 유연성을 먼저 검증하고, 동일 기술을 네덜란드로 확장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1A125-C902-4DE5-B716-CDA4D81F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524DE-CEDB-4484-87FB-E48B96CB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1EB40-0976-464A-BF5A-03282ABE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4F7CD-16C7-4263-ACFA-7237A499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526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직접 개발  GT1 설치 검증 자동화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5BBEC-6566-4E21-A3A2-6144734D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193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설치업체가 반복하는 연결·설정·시험 작업을 줄이고, 유료 도입 여부를 확인한다.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22AFA-41A2-47A8-A24F-1CD39A9B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528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직접 개발  GT3 쾌적 제약을 지키는 열 제어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3B965-C6B6-420D-9487-3CA3822C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195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집별로 실제 제공 가능한 전력 조절 범위를 추정하고, 단순 타이머 대비 편익을 검증한다.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74334-E96C-402D-BAAA-3989841C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529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제휴 우선  GT2 전력 허브와 GT4 시장 연계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66F62-9084-4386-8F57-3D26FAFC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196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전력 보호·인증 하드웨어와 시장 등록·정산은 파트너를 활용한다.</a:t>
            </a:r>
          </a:p>
        </p:txBody>
      </p:sp>
    </p:spTree>
    <p:extLst>
      <p:ext uri="{BB962C8B-B14F-4D97-AF65-F5344CB8AC3E}">
        <p14:creationId xmlns:p14="http://schemas.microsoft.com/office/powerpoint/2010/main" val="17109779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C6616-6112-41B7-AB9C-F0A6D265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기존 논리에서 수정해야 할 다섯 가지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9E931-0ECB-468A-AD47-856EA4A9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4대 관문기술 틀은 유지하되, 사업 범위와 차별성의 근거를 좁혔다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43768-963C-4180-8493-C5674498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3EA2C-2FE3-4310-967B-8817331B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2204C-41E3-455F-AFDB-70E28010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R04 Enedis · R10 ERCOT · R16 1KOMMA5° · R15 gridX · R22 UL Solutions · R03 NESO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57550"/>
                <a:gridCol w="3838575"/>
                <a:gridCol w="3838575"/>
              </a:tblGrid>
              <a:tr h="6064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자료의 주요 전제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확인 결과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전략에 반영할 변화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프랑스 급탕 스케줄 대규모 재설정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Linky 접점 연결 기기는 자동 추종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 타이머·혼합 설비만 선별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브랜드 통합은 경쟁사 공백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복수 제조사 연동 제품이 이미 존재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후 실제 제어·시험에 집중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텍사스 ADER의 전면 시장화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2026.06 Phase 3.3도 Pilot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파트너 확보 전 수익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소프트웨어가 증설 문제 해결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PCS 인증·현장 조건에 따라 다름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제품과 경제성 비교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프로그램 수익을 동시 합산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시간·용량·방향별 중복 규칙 존재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허용 계약만 편익에 반영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0374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94C27-6607-499C-8AD2-F6666B5A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시장 우선순위는 고객 접근성과 실증 조건으로 결정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C9CCC-4830-4F62-B1A3-668D2DF6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국가 수를 세어 수요를 추정하지 않고, 구매자·제어권·계량 접근 가능성을 함께 판단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49698-16BD-4B1E-87C1-C2989097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E495F-EBD4-4E73-949E-8589A185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71443-F5CC-4170-897E-BD0E2941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52725"/>
                <a:gridCol w="4400550"/>
                <a:gridCol w="3781425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진입 순서 제안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고객과 문제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진입 조건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 독일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설치업체·OEM의 설정·시험 부담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기기 목록, 현장 30건 접근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 영국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소매사·집합사업자의 열부하 운전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계량 데이터·기기 제어권·실증 가구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  네덜란드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PV 가구의 2027년 이후 자가소비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HP·급탕탱크 보유, 수출 계약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선별  프랑스·스페인·이탈리아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 타이머·계약전력·혼합 설비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저비용 대안 대비 추가 가치 확인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파트너 동반  미국·걸프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전력 증설·백업 또는 냉방 운전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인증·채널·요금 부담자 확보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778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0F4FA-978F-4CDE-9F76-7A0CB8DB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독일: 설치 완료를 검증하는 비용을 줄인다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9E02D-492C-47EB-AA25-57DBB147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첫 구매자 후보는 가정 소비자보다 설치업체·Energy Pack OEM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6D6E5-548E-445A-8FBD-25B919D0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B3B18-DCDE-44CC-B4F9-E77214FF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4D747-B5C1-41EF-8734-120B3499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§14a는 대상 설비의 수전 제어다. 일반 가전과 PV 역송 전체를 한꺼번에 제한하는 제도가 아니다.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R01 BNetzA · R26 EEBUS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750D6-6A27-4F71-8AB2-984A2BED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확인한 제도와 고객 문제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6C351-4109-4A4F-BA63-0FE2C797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2024년 이후 신규 설치 등 조건에 따라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히트펌프·EV 충전·저장장치 등이 적용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EMS가 여러 대상 설비를 조정할 수 있음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현장 문제 가설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계측 방향·제어권·통신·설정이 맞는지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기기별로 확인하는 시간이 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A0510-6C2B-4CE8-94F8-201B74C6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판매할 모듈과 검증 방법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BE366-7F47-4260-BBC3-E43D080B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기기 연결 후 명령·응답 시험 수행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지원 조합별 설치 완료 보고서 생성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수익 방식: 설치 건별 또는 OEM 탑재료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측정: 작업시간, 재방문, 실패 원인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비교: 현재 설치 앱과 기존 HEMS</a:t>
            </a:r>
          </a:p>
        </p:txBody>
      </p:sp>
    </p:spTree>
    <p:extLst>
      <p:ext uri="{BB962C8B-B14F-4D97-AF65-F5344CB8AC3E}">
        <p14:creationId xmlns:p14="http://schemas.microsoft.com/office/powerpoint/2010/main" val="891350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74BA3-1491-4EFA-86B4-781777EB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영국: 열부하의 양방향 유연성을 공급한다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1A54E-9D3C-4ED8-A78A-435EA5DF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소매사·집합사업자가 고객 확보와 시장 참여를 담당하는 B2B2C 모델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D3FE0-D280-4441-9D8C-2C2F8186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C41CE-E2E9-4C64-8A14-2A91888F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0DF94-480D-4629-B289-2491A213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제도 참여가 수익을 보장하지 않는다. 대상 가구·이벤트·보상은 공급자 계약에 따라 달라진다.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R02 NESO · R24 Nesta·CNZ · R03 NESO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D79F4-B55D-4C72-869E-426D2105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2026년의 기회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63EBA-D05B-4E4A-8CB3-3166C868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NESO DFS는 2026.04.14부터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사용 감소뿐 아니라 증가도 보상 가능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스마트미터와 등록 사업자를 통해 참여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대상 지역: 잉글랜드·스코틀랜드·웨일스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열 유연성은 이미 현장 실증이 존재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새 과제는 집별 제공량과 신뢰도다.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359ED-1CF7-40F0-8A46-468C1B3E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제안 상품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6CF5F-DF8B-483E-9441-E28ECF27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저렴하거나 계통이 요구하는 시간에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급탕·예열하고 피크 시간 사용을 조절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집별 온도 제약과 회복 부하까지 관리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소매사에는 가용 kW와 불확실성 제공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고객에게는 요금·온도 결과 공개</a:t>
            </a:r>
          </a:p>
        </p:txBody>
      </p:sp>
    </p:spTree>
    <p:extLst>
      <p:ext uri="{BB962C8B-B14F-4D97-AF65-F5344CB8AC3E}">
        <p14:creationId xmlns:p14="http://schemas.microsoft.com/office/powerpoint/2010/main" val="5080074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3069E-4558-41E6-8B72-AF02BCC5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네덜란드는 상품화, 프랑스는 대상 선별이 핵심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56B9D-32CB-4FEC-963B-117E1860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같은 급탕 제어라도 제도 변화가 만들어내는 추가 가치는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E5A9A-EFDC-4747-BF65-9B716E77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036EA-3536-4E55-B992-6471B9F9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6B1C6-E48C-4E3E-84AE-34252EF7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R05 네덜란드 정부 · R04 Enedis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E2F4B-6E6E-4561-8117-CDA34A42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네덜란드  PV·HP 보유 가구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B9043-8F3D-4545-9B7B-09F2A4B5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2027.01.01 상계제도 종료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역송 보상은 계속 존재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기회: 잉여 발전을 열로 활용하되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역송 보상·열손실을 함께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채널: PV·HP 설치업체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판단: 탱크·배터리의 추가 구입 없이도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운전 개선으로 편익이 남는가?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01A6C-1EFD-42CB-B193-1B3FBB7E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프랑스  미연동 설비를 선별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5A433-4378-4EC9-B0FF-D4CAC9A3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비첨두 시간 변경은 2025–2027 순차 적용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Linky 접점 연결 급탕기는 자동 추종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1,100만 변경 고객 모두가 추가 시장은 아님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기회: 고정 타이머, PV·HP 혼합 제어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채널: 설비 유지보수 사업자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판단: 간단한 재설정으로 해결되는가?</a:t>
            </a:r>
          </a:p>
        </p:txBody>
      </p:sp>
    </p:spTree>
    <p:extLst>
      <p:ext uri="{BB962C8B-B14F-4D97-AF65-F5344CB8AC3E}">
        <p14:creationId xmlns:p14="http://schemas.microsoft.com/office/powerpoint/2010/main" val="10900512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2F823-210A-4924-B048-F4094F48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남유럽: 용량 부족과 과다 계약을 구분한다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8AA08-A38B-41B6-95C2-52CA67BC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증설 회피형 허브는 실제로 비싼 공사가 필요한 집에 한해 검토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E06BF-0547-4658-9FAF-E131E3A5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41F09-7719-4DEF-9B5C-3E38E8D5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B5F51-D348-41E5-A76F-92E2770A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스페인 수치는 2023년 말 조사다. 현재 전체 시장 규모나 신규 전기화 가구의 상황으로 확대 해석하지 않는다.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R06 ARERA · R07 ARERA · R08 CNMC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33040-AF3E-4687-B24A-BFE4B829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이탈리아  동시 사용 제약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41D84-CE0A-4FC9-9255-3505B1C3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일반 가정의 대표 계약전력은 3 kW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계량기는 통상 10% 여유를 제공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기회: EV·히트펌프를 기존 가전과 조정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먼저 비교할 대안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계약용량 변경, EV 단독 부하관리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허브 가격이 대안보다 낮아야 성립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C482C-A918-48BA-97D8-5E2BBFAD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스페인  계약 최적화부터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0B199-54D6-42A5-9D99-3D68D9CE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CNMC 조사에서 63% 가구가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피크 시간 실제 사용보다 높은 용량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모든 집이 용량 부족에 처한 것은 아님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기회: 전기화 예정 가구의 사용 이력으로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계약 변경과 능동 제어를 함께 제안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재투입·증설 비용까지 비교</a:t>
            </a:r>
          </a:p>
        </p:txBody>
      </p:sp>
    </p:spTree>
    <p:extLst>
      <p:ext uri="{BB962C8B-B14F-4D97-AF65-F5344CB8AC3E}">
        <p14:creationId xmlns:p14="http://schemas.microsoft.com/office/powerpoint/2010/main" val="1527835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EFFCB-EF40-4C78-94A4-2E5239CA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미국: 캘리포니아 운전 최적화와 텍사스 참여를 분리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AFC1D-A6F5-4B40-9C46-74D0B15E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보조금·백업·전력시장 수익은 같은 경제성 항목으로 자동 합산하지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24809-F78D-42D3-A75F-FA87179D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4F72F-5AAA-4C3E-99EE-806C9743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69684-85DC-482B-8B72-0C43B5CA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IRS §25D는 2025년 이후 사용 개시 설비에 적용되지 않는다. 다른 사업·주정부 제도의 조건은 별도 확인.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R09 CPUC · R10 ERCOT · R11 IRS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83E34-A938-4CC8-9513-3A0D18B7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캘리포니아  NBT 가구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32FD1-9D15-4D41-846E-B5B796E3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역송 보상은 보통 소매요금보다 낮지만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일부 늦여름 저녁에는 더 높을 수 있음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제안: 열부하·배터리·백업 잔량 통합 운전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자가소비 극대화만으로 최적을 단정 불가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가입 연도·요금표별 실제 청구로 검증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채널: 인증 ESS·설치 파트너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61338-BD19-4EB5-8FB5-94861BEE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텍사스  파트너 실증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FECC6-0C4A-469E-A666-CB5D46A2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ERCOT ADER는 Phase 3.3 Pilot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참여에는 등록·계량·텔레메트리와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관련 사업자의 확인 절차 필요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제안: 현지 집합사업자에 제어 모듈 공급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시장 계약 확보 전 기본 수익은 0으로 설정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고객 백업 선호를 계약에 반영</a:t>
            </a:r>
          </a:p>
        </p:txBody>
      </p:sp>
    </p:spTree>
    <p:extLst>
      <p:ext uri="{BB962C8B-B14F-4D97-AF65-F5344CB8AC3E}">
        <p14:creationId xmlns:p14="http://schemas.microsoft.com/office/powerpoint/2010/main" val="17190846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CB234-F257-4488-880C-47A34626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걸프: 냉방 요금 절감과 수요반응 사업을 구분한다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78685-238C-42B3-868D-C04D0150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국가별 요금과 실제 비용 부담자가 다르므로 하나의 GCC 상품으로 묶기 어렵다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E7D0E-D620-466B-9A39-402EC1CC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684F6-3A5A-47BA-BAE9-B7BD205A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065FE-D531-4586-B1CC-46C15435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R12 DEWA · R13 SERA · R14 KAHRAMAA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552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3752850"/>
                <a:gridCol w="3657600"/>
              </a:tblGrid>
              <a:tr h="88820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지역·확인 사실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구매자와 문제 가설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제안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두바이 / DEWA 누진요금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0.230–0.380 AED/kWh¹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냉방비를 내는 빌라 소유자·운영사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운전 낭비, 온습도 불만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열·습도 제어와 이상 탐지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 이동보다 총 소비 절감 검증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사우디 / 주거용 누진요금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월 6,000 kWh 경계, 18·30 halala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요금을 직접 내는 주택·단지 운영사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냉방비 및 유지보수 부담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냉방 최적화 실증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보조·계약 조건별 편익 확인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카타르 / BeSolar net billing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역송 0.237 QAR/kWh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PV 설치 고객·개발사업자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자가소비와 역송 중 선택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 구입요금과 역송가 비교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경제성이 낮으면 제어 확대 보류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F1AC9-08AF-47FB-A7DC-5D579FA7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150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¹ 기본 전력량 요금. 2026.09 연료조정요금 0.060 AED/kWh와 VAT는 별도</a:t>
            </a:r>
          </a:p>
        </p:txBody>
      </p:sp>
    </p:spTree>
    <p:extLst>
      <p:ext uri="{BB962C8B-B14F-4D97-AF65-F5344CB8AC3E}">
        <p14:creationId xmlns:p14="http://schemas.microsoft.com/office/powerpoint/2010/main" val="2678256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77960-12B5-4A5B-9DD2-683A95D7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다른 브랜드 연동 자체는 이미 경쟁 영역이다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91686-A309-4794-82A7-8BE8B5EC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공식 제품·지원 문서에 나온 기능과, 우리가 추가 검증할 차이를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BD024-2C96-4C30-B204-BBC5FED4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CA1F1-0371-4CEB-9C8D-60436C04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7E8AA-155F-4275-8F2A-F3887305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R15 gridX · R16 1KOMMA5° · R17 Kraken · R18 Enphase · R19 Enphase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57450"/>
                <a:gridCol w="4400550"/>
                <a:gridCol w="4076700"/>
              </a:tblGrid>
              <a:tr h="73152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제품·플랫폼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문서에서 확인한 기능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차별성 검증 질문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gridX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저가·PV 잉여 시 HP 운전 권고</a:t>
                      </a:r>
                    </a:p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기능은 직접 전력값 제어가 아님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응답량을 더 정확하게</a:t>
                      </a:r>
                    </a:p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추정·확인할 수 있는가?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1KOMMA5° Heartbeat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복수 제조사 호환 목록 제공</a:t>
                      </a:r>
                    </a:p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일부 HP는 계량 방식 통합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계측 가능과 제어 가능을</a:t>
                      </a:r>
                    </a:p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자동으로 구분할 수 있는가?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Kraken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열부하 유연성 프로젝트·운영 경험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소매사 플랫폼에 공급할</a:t>
                      </a:r>
                    </a:p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OEM 제어 모듈이 필요한가?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Enphase IQ Energy Router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독일·오스트리아에서</a:t>
                      </a:r>
                    </a:p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선택된 타사 EV·HP 통합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특정 지원 조합에서 설치·시험을</a:t>
                      </a:r>
                    </a:p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얼마나 더 줄일 수 있는가?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9183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BE037-FF32-491D-91EE-7040C1D2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전력 허브도 대체 제품과 인증 경로가 존재한다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D80AE-7421-42C4-90CC-0F3678C7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하드웨어 사업은 독자 개발보다 기존 제품 대비 추가 가치 검증이 먼저다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0A90E-B4FA-4236-8344-5AB0BD31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84AE2-7588-4EA3-96EE-2BD5AC77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2AC8F-8993-49DC-8F74-DBB0319A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R20 SPAN · R21 ConnectDER · R22 UL Solutions · R23 ENA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0800"/>
                <a:gridCol w="4343400"/>
                <a:gridCol w="4000500"/>
              </a:tblGrid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대상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이미 제공하는 역할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우리가 검증할 추가 가치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회로별 제어·백업 부하 우선순위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조건에 맞는 전력 증설 회피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온도·급탕·EV 출발시간까지 반영한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부하 배분이 추가 편익을 주는가?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ConnectDER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계량기 소켓 어댑터를 통한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설비 접속 구조 단순화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현장 공사비가 문제인지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제약이 문제인지 구분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UL PCS / 영국 G100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전력 제한·고장 시 동작을 다루는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평가·적합성 경로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국가·설비별 시험 범위와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파트너 비용을 확보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12F3A-3B2F-4829-B31D-AF79AD8F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6007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백업 제어·증설 회피가 미개척이라는 전제로 신규 배전반을 개발하면 차별성이 약하다.</a:t>
            </a:r>
          </a:p>
        </p:txBody>
      </p:sp>
    </p:spTree>
    <p:extLst>
      <p:ext uri="{BB962C8B-B14F-4D97-AF65-F5344CB8AC3E}">
        <p14:creationId xmlns:p14="http://schemas.microsoft.com/office/powerpoint/2010/main" val="19900987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48D4E-67B2-4A75-B452-B5268824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4대 관문기술의 개발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2BD50-C6F4-4294-8D73-C7C3C863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관문기술: 고객 도입이나 반복 판매를 막는 문제를 해결하는 공통 기술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6B2CD-EC36-4F0E-B3CC-6A69725B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7C5C9-B694-4477-8636-158C5CFB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C86CB-5EE8-4CB3-A2E4-9EC1A0F0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19450"/>
                <a:gridCol w="4476750"/>
                <a:gridCol w="3238500"/>
              </a:tblGrid>
              <a:tr h="7277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관문기술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남길 기술적 핵심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2027년 선택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GT1  설치 검증 자동화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제어능력 탐색, 안전한 응답 시험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기기·계측·정책 버전별 증적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 개발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독일 설치 파트너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GT3  쾌적 제약 열 제어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불확실성을 포함한 가용 kW·kWh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 확인과 회복 운전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 개발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영국 소매사·HP OEM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GT2  전력 제한 허브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계통·회로·상별 제약 안의 부하 배분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HW 제휴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증설비가 높은 현장 선별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GT4  다중 계약·편익 검증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제어권 충돌 처리, 허용 중복 규칙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계약별 기록과 고객 순편익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기능으로 구현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시장 정산은 파트너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25425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77459-5C73-4352-864E-388352CF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GT1: 자동 발견보다 설치 후 응답 시험이 핵심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220F0-EE14-4A98-9875-AE517C8E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지원 기기·정상 배선·승인된 시험 조건 안에서 자동화를 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D42BA-CE61-4938-9C67-C2B81A34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7FDEC-ED57-4993-8E47-B8736BA8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AAE97-2A72-41F0-AE01-D2AB9234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설치 보고서는 제품·현장 적합성 판단의 증거다. 법정 인증이나 설치자의 책임을 대체하지 않는다.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R15 gridX · R19 Enphase · R26 EEBUS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52650"/>
                <a:gridCol w="4867275"/>
                <a:gridCol w="391477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기술 동작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 관찰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기기·펌웨어·프로토콜·계측점 식별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/ 권고 / 직접제어 등 능력 분류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  제한된 시험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허용된 작은 명령을 순차 적용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전력·상·상태 변화 확인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명령 지연, 미응답, 계측 불일치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  대조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기기 보호·제어권·국가 설정 대조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 시 읽기 전용 또는 수동 절차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통과·재시험·현장 점검 구분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  기록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시간·버전·설정·시험 결과를 저장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보고서와 유지보수 기준선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7877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45EC6-66DA-4C50-9352-8A11B3A7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GT1 경제성: 줄일 수 있는 작업만 계산한다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94840-950D-45C2-88E7-D84720EF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가상 사례. 전체 설비 공사비나 태양광의 모든 간접비를 절감 대상으로 잡지 않음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E2104-2E3F-43F6-9938-693B4638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9CC7E-6AA2-4579-9323-AD5913B9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639D0-9389-474A-A592-A8D6408E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아래는 시장 평균·실적·제안가격이 아니다. 현장 관찰과 견적을 받기 위한 계산 예시다.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4552950"/>
                <a:gridCol w="2571750"/>
              </a:tblGrid>
              <a:tr h="5953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계산 항목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가정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건당 편익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설정·시험 노동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3.0시간에서 1.5시간, €60/시간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€90.0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재방문 기대비용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12%에서 5%, 1회 €180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€12.6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설치업체 총 절감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작업·재방문 항목 합계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€102.6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사용료와 추가 자재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€35 + €20 차감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−€55.0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설치업체에 남는 편익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총 절감 − 추가 비용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€47.6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19287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F8AB8-230E-4B84-9718-3533A82C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GT3: “지금 이 집이 얼마나 조절 가능한가”를 계산한다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4A705-561B-47E0-A217-4F4DCA6B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시각별 가용 전력, 지속시간, 회복 부하를 불확실성과 함께 제공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07533-7433-4F0E-B308-51A9AD84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DD29F-719D-4D83-BB9F-B1B59CF2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4F035-FE9F-4BFE-9F8C-720AD516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HeatFlex는 43가구·30회 이벤트의 현장 연구다. 모든 기후·주택·기기에 일반화한 수익 증거는 아니다.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R24 Nesta·CNZ · R15 gridX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B283D-20F4-4098-A3BF-B4D0158C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입력과 연구 대상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A88F1-6CFF-45D4-9F35-C5CAED4E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실내·외 온도, 온수 온도, 사용 이력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HP 상태와 전력, 사용자 허용 범위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미지 상태: 단열·열용량·탱크 잔열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동작 지연: 제상·최소 운전·휴지시간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핵심 연구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불확실할수록 제공량을 줄이는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보수적 가용량 추정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8A111-C988-4181-86F1-9E7D669E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판매 가능한 출력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49CEE-5C3F-4E93-9CC8-DFF16774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가능한 증감 전력과 지속시간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명령의 실제 이행 여부와 원인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이벤트 후 회복 전력과 예상 비용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사용자는 온도 범위·급탕 시점 설정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언제든 해당 이벤트에서 제외 가능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단순 타이머 대비 추가 편익으로 평가</a:t>
            </a:r>
          </a:p>
        </p:txBody>
      </p:sp>
    </p:spTree>
    <p:extLst>
      <p:ext uri="{BB962C8B-B14F-4D97-AF65-F5344CB8AC3E}">
        <p14:creationId xmlns:p14="http://schemas.microsoft.com/office/powerpoint/2010/main" val="2883731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AFBF6-91E1-40F6-A5C4-72C6A0D0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열 저장량과 이동 가능한 전력량은 다르다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C4FAD-806A-44D0-A255-AC17C047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200 L 급탕탱크를 예로 든 물리 계산. 실제 설비 용량 또는 제품 성능 주장이 아님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01C67-A4ED-4A34-9AF4-1085DD4B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97E9B-885D-4958-BFC5-A02B4585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6A792-15F7-426B-A669-FB7B5E9B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D15A5-1A56-4ADF-AC6C-0A99D34F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552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2.33 kWh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4387F-4925-45DE-87CB-07A56955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열량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C2880-6E42-41C2-B606-54217061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약 0.78 kWh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40ABEC-CC37-4681-BC7F-ED72CD35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956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해당 열을 만드는 전기량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BEEAB-5A47-45A3-BD48-8C5AD1B0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338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가정: 물 200 L, 온도차 10°C, COP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82395-6168-4680-B8C5-0527C5D3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43450"/>
            <a:ext cx="1038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Q = 질량 × 비열 × 온도차. 전기량은 Q ÷ COP로 환산한다.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실제 유연성은 열손실·온수 사용·위생 운전·쾌적 제약 때문에 더 작아질 수 있다.</a:t>
            </a:r>
          </a:p>
        </p:txBody>
      </p:sp>
    </p:spTree>
    <p:extLst>
      <p:ext uri="{BB962C8B-B14F-4D97-AF65-F5344CB8AC3E}">
        <p14:creationId xmlns:p14="http://schemas.microsoft.com/office/powerpoint/2010/main" val="46439156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6EF2E-F2B0-421E-823C-403E1933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GT3 경제성: 가격 차이가 좁으면 수익이 사라진다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64C01-3DB3-44B5-B386-37616DB8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가상 가구의 연간 민감도. 시장 보상은 0으로 놓고 요금 이동만 계산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D0B8B-E627-487E-80FA-6B565F12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E937F-EC63-4644-AB37-3FE86994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0BC18-C34A-4AF0-B35F-85A7F06E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실제 요금·계절·COP·열손실·사용 패턴으로 다시 계산해야 한다. 아래 값은 시장 전망이 아니다.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38600"/>
                <a:gridCol w="2305050"/>
                <a:gridCol w="2295525"/>
                <a:gridCol w="2295525"/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저가 시간 전력단가 가정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€0.05/kWh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€0.15/kWh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€0.25/kWh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연간 요금 절감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€240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€120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연간 고객 순편익¹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€180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€60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−€60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€250 추가 설치비 회수²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1.4년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4.2년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회수 불가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15CB4-15D7-40A4-8582-764E1AAE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720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가정: 고가 시간 1,000 kWh 회피, 고가 €0.30/kWh, 예열 소비 20% 증가</a:t>
            </a:r>
          </a:p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¹ 운영료 €60/년 차감    ² 할인율·수명·고장비 제외한 단순 회수기간</a:t>
            </a:r>
          </a:p>
        </p:txBody>
      </p:sp>
    </p:spTree>
    <p:extLst>
      <p:ext uri="{BB962C8B-B14F-4D97-AF65-F5344CB8AC3E}">
        <p14:creationId xmlns:p14="http://schemas.microsoft.com/office/powerpoint/2010/main" val="6815186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EBCE0-CEE3-4A87-9129-4FA1A1EF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GT2: 인증된 제한 기능 안에서 부하를 배분한다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3D94A-7385-4AC4-B11F-8E31116D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허브의 가치 가설은 불필요한 공사·차단을 줄이면서 사용자가 원하는 서비스를 유지하는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5CA59-F9C6-416C-94D3-40D67317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11128-FD99-4283-A96C-76DFA60B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C5FFF-32BC-4BC5-B0F9-9C5AF512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계통 접속 허용, 보호기기 적합성, 현장 시공은 별도 요건이다. 클라우드 최적화만으로 보장할 수 없다.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R22 UL Solutions · R23 ENA · R01 BNetzA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82733-9048-486C-AFB3-72D28A6D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현지 HW 파트너 역할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D5782-BF0E-48AC-BFCE-4A43D960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회로·상·접속점의 승인된 계량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전력 제한과 고장 시 동작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접촉기·차단·보호의 적합성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통신 단절, 계량 이상, 재부팅 시험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국가별 인증 범위·설치 조건 확보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97137-7B2C-4684-8653-3A8EA468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직접 개발할 배분 기술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A5659-A6D4-4451-BD74-A91513C6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하드 제약 안에서 HP·급탕·EV 배분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EV 출발시간, 온도, 급탕 필요량 반영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제어 불가능 부하는 별도 여유 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평가: 단순 순차 차단·충전기 관리보다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불편과 설치비를 함께 줄이는가?</a:t>
            </a:r>
          </a:p>
        </p:txBody>
      </p:sp>
    </p:spTree>
    <p:extLst>
      <p:ext uri="{BB962C8B-B14F-4D97-AF65-F5344CB8AC3E}">
        <p14:creationId xmlns:p14="http://schemas.microsoft.com/office/powerpoint/2010/main" val="55577680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F6C93-B7B3-4CA8-9387-31AD46F8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GT4: 계약 충돌을 처리하고 편익을 설명한다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7E17B-5627-40EB-B20C-FF31B4E7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여러 시장의 최대 수익을 더하는 방식으로 사업성을 계산하지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C6B36-A22C-44A4-8E4A-52448978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C9978-60A5-4A0D-820E-38E5AB29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5ECD3-1DFA-4BC1-9071-AE94BE15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R03 NESO · R10 ERCOT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781550"/>
                <a:gridCol w="38671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기능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범위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시장 파트너 역할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제어권 조정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명령 출처·유효기간·우선순위 확인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자원 중복 예약 방지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 동의·접속·계약 조건 제공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 규칙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시간·자원·방향별 허용 조합 저장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불명확한 조합은 거래 대상 제외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최신 규칙 해석·참여 자격 확인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명령·응답·계측·제외 사유 보관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정산 계량·입찰·청구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편익 설명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요금 절감 추정, 수수료, 온도 결과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불확실성과 누락 데이터 표시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보상 지급·고객 약관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91739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7FAB1-E577-4491-A7B7-F1B7FB85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추가 아이디어 1: 검증된 제어능력 프로파일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066DB-B030-4527-9A2C-539B59CB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기기를 발견한 뒤, 실제로 가능한 제어의 범위를 재사용하는 기술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E6FCC-EB29-4EBD-8381-99EDCB69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8178C-8DA2-4FA4-842A-AE43F438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AC85C-984D-4C2D-9E75-33D63E68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신규 개발 가설. 표준 채택·특허성·파트너 구매 의향을 확인한 것은 아니다.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R15 gridX · R16 1KOMMA5° · R19 Enphase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7ED72-C6FB-4D79-A6FB-9B0A582B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526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기록할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32B37-C9E0-4AB9-8651-3CB69A4C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193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모델·펌웨어, 읽기/쓰기 권한, 명령 지연, 실측 응답 범위, 시험 조건과 만료 시점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E92B0-BDDF-4CA6-BBB1-6F762A51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528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사용할 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E7BF9-38DF-408E-9A7B-707D0973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195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설치 완료 판단, 열 유연성 제공량 산정, 고장 진단, 파트너의 자원 등록 준비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71AF6-EFC9-4983-9778-782FCA79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529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검증할 차별성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A9DAB-F840-42DD-8918-5242FD7C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196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단순 호환 목록 대비 미응답을 줄이는가? 펌웨어 변경 후 재시험 범위를 줄이는가?</a:t>
            </a:r>
          </a:p>
        </p:txBody>
      </p:sp>
    </p:spTree>
    <p:extLst>
      <p:ext uri="{BB962C8B-B14F-4D97-AF65-F5344CB8AC3E}">
        <p14:creationId xmlns:p14="http://schemas.microsoft.com/office/powerpoint/2010/main" val="66866054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01DD0-488D-43D7-A014-AEFFAFBB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추가 아이디어 2: 이벤트 후 회복 전력도 예약한다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22A20-8B64-4506-BC57-D6DA3015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저가 시간 또는 이벤트 종료 직후 다수 기기가 함께 켜지는 상황을 실증에서 다룬다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6D173-B94C-4CC7-9D8C-0C152316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B9532-E2D7-4F72-AF31-59EA1BE9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B0FD6-3050-41EA-8F7F-EE55D4C7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신규 연구 가설. 현장에서 문제가 발생하는 빈도와 크기부터 측정한다.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32019-5933-4361-A7B9-6B366DE1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제안 기술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9AA6A-9CAF-4110-8799-6192C31E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각 가구가 조절한 열량과 회복기한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회복에 쓸 수 있는 전체 전력 예산 설정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온도·급탕이 급한 집부터 순차 재개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기기 휴지시간을 지키며 재기동 분산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클라우드 단절 시 로컬 기본 동작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CAE20-8E70-44ED-8264-61BD36EE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사업화 판단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BCBCE-97CC-4727-827D-FA7FB637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구매자 후보: 소매사·집합사업자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비교군: 동시 복귀, 고정 무작위 지연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평가: 최대 회복 kW, 온도 이탈, 비용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차이가 작으면 독립 과제로 만들지 않고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GT3의 운전 기능으로 포함</a:t>
            </a:r>
          </a:p>
        </p:txBody>
      </p:sp>
    </p:spTree>
    <p:extLst>
      <p:ext uri="{BB962C8B-B14F-4D97-AF65-F5344CB8AC3E}">
        <p14:creationId xmlns:p14="http://schemas.microsoft.com/office/powerpoint/2010/main" val="103785458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B1D7F-C30F-4D59-BDCA-3B8A2A37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안전 제한과 경제 최적화의 책임을 분리한다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75339-98D2-4CC0-AC05-B40B7962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가격·AI·원격 명령은 로컬 보호 기능을 우회하지 못하도록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7DDCF-9576-493F-898D-0CD75486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E0620-270C-499D-8A38-5A79F402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4B97C-5EF2-4929-877A-029543B9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R22 UL Solutions · R27 EEBUS · R29 EU 집행위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4600575"/>
                <a:gridCol w="3362325"/>
              </a:tblGrid>
              <a:tr h="7277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위치·책임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동작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기술 선택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기기·인증 보호계층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과전류, 기기 보호, 승인된 전력 한계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하드웨어·결정론적 로직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게이트웨이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명령 권한·유효기간 검증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통신 실패 시 기본 운전 복귀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서명 정책, 상태기계, 이벤트 로그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로컬·클라우드 최적화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온도·급탕·배터리·EV 제약 안의 배분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제약 최적화, 열상태 추정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 운영계층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계약·가격 갱신, 편익 설명, 고객 지원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 관리, 정산 파트너 연계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27093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1DF6A-8246-4825-B694-31C6B70E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직접 개발은 현장 데이터가 쌓이는 부분에 집중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6A411-EAA2-4EBF-81D3-62126051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범용 연결과 시장 접속까지 모두 직접 만들면 7명 조직의 범위가 과도해진다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92E37-4194-4755-A9AD-7420AF7A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172C4-F3FE-457E-BE97-574A884B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70A29-D1D6-4062-BDA7-E2AD2446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57450"/>
                <a:gridCol w="4819650"/>
                <a:gridCol w="36576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결과물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 개발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 계획·응답 판정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 유연성·회복 제어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현장 시험 엔진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가용량 산정 및 제어 모듈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표준·구매 활용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통신 스택, 기본 게이트웨이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계량·보호 부품, 기상·요금 피드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조합별 호환·버전 관리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전력 허브, 설치 채널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시장 등록·입찰·정산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공동 시험·제품 공급·운영 계약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보류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범용 V2H, 신규 범용 배전반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브랜드·국가의 동시 지원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선행 조건을 만족할 때 재검토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179567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C3D48-5C99-4763-B4B6-6B2C8C51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실증은 기술 성능과 구매 의향을 함께 확인한다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0113C-D2F0-4B50-B26A-8E608803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아래 규모는 초기 계획안이다. 통계 검정력과 계절 범위를 확인한 뒤 확정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226AF-531F-45EF-B929-F1F6068F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1C21D-1F0E-49B5-B0EE-89358B6D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4350B-7E9A-4D54-82C3-277E6878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독일 현장 30건과 영국 40가구는 초기 검증 규모 제안이며 시장 성능을 일반화하는 표본이 아니다.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48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95550"/>
                <a:gridCol w="4219575"/>
                <a:gridCol w="4219575"/>
              </a:tblGrid>
              <a:tr h="72961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트랙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범위 제안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반드시 확보할 비교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2961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GT1 / 독일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설치업체 2곳, 현장 30건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기기 조합 3개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작업 범위의 기존 절차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총 시간·재방문·사용료 의향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GT3 / 영국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40가구, 난방기 12주 이상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계량·온도·HP 상태 동의 확보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타이머와 대조 운전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요금·쾌적·회복 부하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2961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GT2 / 파트너 시험실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파트너 1곳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계량·통신·제어 고장 주입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부하관리·증설 견적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현지 승인 경로와 비용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GT4 / 계약 검증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시장 파트너 1곳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기록으로 정산 재현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기준선과 재계산 차이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 참여 규칙·고객 설명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718180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02A72-733E-4339-9BAE-496CFBB0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확대 기준은 과제 착수 때 수치로 합의한다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098C3-D6B2-4370-91E8-C01D3868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초기 목표 제안. 사전 기준선·측정 오차·현장 조건을 확인한 후 확정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74630-8BD8-45B2-83DC-616EF31C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1EF68-6AFA-408F-A91E-5282B8A7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0238A-17B7-43E1-B43C-5E43D646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1700"/>
                <a:gridCol w="5238750"/>
                <a:gridCol w="35242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과제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확대 판단 기준 제안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보류·축소 조건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설정·시험 중앙시간 40% 이상 단축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재방문 증가 없음, 유료 도입 의향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범위 확대 비용이 절감액 초과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GT3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단순 타이머 대비 순편익 추정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하한도 양수, 온도 이탈 악화 없음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편익이 운영·지원비보다 작음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고장시험 통과, 현지 승인 경로 확보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총비용이 비교 대안보다 유리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일정·원가로 경쟁 불가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GT4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 지급·명령 충돌을 검출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파트너 정산 결과 차이를 설명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데이터·계약 접근을 확보하지 못함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36604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35CB3-1FD0-4067-A29A-699346EA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2027–2030 로드맵은 증거가 쌓일 때 확장한다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F5B53-1C8B-4379-97AB-CAAC313A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연도는 개발·상용화 목표안이며 확정 출시일 또는 매출 계획이 아님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13878-719E-42F8-A4A2-772F6121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7BF9B-AED4-4980-A51E-D5398F65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B7081-031B-44FF-8007-7FD980D3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05025"/>
                <a:gridCol w="5219700"/>
                <a:gridCol w="3609975"/>
              </a:tblGrid>
              <a:tr h="7277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결과물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단계 조건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 Q4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현장 시간·요금·기기 권한 조사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실증 파트너와 비교 기준 합의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 접근·시험 허용·구매자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2027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GT1 지원 조합 3개 시제품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GT3 난방기 실증·가격 검증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 과제 중 최소 1개 유료 도입 근거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선별 제품화, 네덜란드 지역화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GT2 파트너 HW 통합·인증 시험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운영비 포함 이익·채널 재판매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2029–2030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검증된 OEM·국가로 확장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GT4 추가 계약·시장 어댑터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고객 유지와 설치·지원 품질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14765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F3718-B27A-4DDA-938C-EC60A870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7명 기준의 역할과 사업 모델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BE0D9-D377-40D5-9221-0D089911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내부 인력·기술 보유 현황은 미확인. 7명 체제를 가정한 배치안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96440-6B97-4FF7-A779-0A344229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2F72C-FB27-4FB5-A079-6775A550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0AD60-DFD4-4AAE-BD46-00DC8582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962FE-E8B0-4DB1-A6AD-492654EE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개발 인력 배치  총 7명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455B3-3642-4446-8419-BC52E28C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시스템·안전 아키텍처  1명</a:t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엣지 통신·설치 시험  2명</a:t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열 제어·최적화  2명</a:t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데이터·편익 검증  1명</a:t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현장 실증·시험 자동화  1명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영업·인증·보안 검토는 별도 지원 필요</a:t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기존 과제 병행 시간은 제외한 가정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446B1-E01A-4C38-84C7-AB654E49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판매 단위와 지불 이유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F9F50-5AC4-4DE2-8007-FBAB21A7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설치업체 / 건별 사용료</a:t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작업시간·재방문 감소로 회수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OEM / 탑재료와 유지관리료</a:t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제품·펌웨어별 검증 비용 절감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소매사 / 활성 기기별 운영료</a:t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이행 가능한 유연성·운영 품질에 지불</a:t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성과배분은 정산·책임 합의 후 적용</a:t>
            </a:r>
          </a:p>
        </p:txBody>
      </p:sp>
    </p:spTree>
    <p:extLst>
      <p:ext uri="{BB962C8B-B14F-4D97-AF65-F5344CB8AC3E}">
        <p14:creationId xmlns:p14="http://schemas.microsoft.com/office/powerpoint/2010/main" val="85813277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616C1-CBE3-44F5-81F7-A7D39BCB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다음 90일 조사에서 투자 여부를 결정한다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2A298-FF2D-47F8-BC01-E852D536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공개자료로 확인하지 못한 현장 비용·권한·가격을 확보하는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3C7D5-0DDF-4681-8CF3-A48364E5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76EA1-00EE-446F-8F88-979D697D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44238-4C40-4040-8324-BAC3876B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5029200"/>
                <a:gridCol w="385762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미지수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남길 증거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1–30일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지연의 실제 원인과 재방문 비용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고객·기기 데이터 접근 권한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동행 관찰 10건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분류표·익명 비용 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31–60일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기기 응답 시험과 열 제어 구현 가능성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현행 제품 대비 차이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조합 3개 시험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방식과 결과 비교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61–90일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구매자가 지급 가능한 가격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파트너 인증·운영·지원 비용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 실증 제안과 가격 면담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부품·인증·지원 원가 견적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90일 판단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편익이 대안 대비 충분한가?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과제별 계속 / 범위 축소 / 중단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692345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12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119FD-A13F-4B18-B5CB-630314C6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이번에 결정할 투자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23DC3-C2C8-412C-AD08-147C53B7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rPr>
              <a:t>독일·영국의 두 실증으로 기술과 지불 의향을 함께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29BBE-4320-4E4E-AD31-B4296436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59C15-4DA6-4516-B61A-52FCAF9F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B813C-B10B-46E7-B49A-F69233E6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7C609-87E4-474D-9939-2CD19AEE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526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8B26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D8B26A"/>
                </a:solidFill>
                <a:latin typeface="Malgun Gothic"/>
                <a:ea typeface="Malgun Gothic"/>
                <a:cs typeface="Malgun Gothic"/>
              </a:rPr>
              <a:t>착수  GT1과 GT3의 공통 기반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AF180-FFA0-436D-8AFF-26BF92DB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193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기기 응답 검증, 제어능력 프로파일, 열 유연성·회복 운전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FA54A-85DD-4DF2-897A-0BE77447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528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8B26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D8B26A"/>
                </a:solidFill>
                <a:latin typeface="Malgun Gothic"/>
                <a:ea typeface="Malgun Gothic"/>
                <a:cs typeface="Malgun Gothic"/>
              </a:rPr>
              <a:t>조건부 추진  GT2·GT4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3ED5D-4370-42E9-8E49-BACB98AD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195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인증 HW와 현지 시장 파트너가 확보한 범위 안에서 연계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19B18-6E68-4986-8068-9A577463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529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8B26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D8B26A"/>
                </a:solidFill>
                <a:latin typeface="Malgun Gothic"/>
                <a:ea typeface="Malgun Gothic"/>
                <a:cs typeface="Malgun Gothic"/>
              </a:rPr>
              <a:t>확대 조건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973C2-A620-464B-9B69-20AA87AC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196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단순 대안보다 높은 고객 순편익, 유료 도입 근거, 반복 가능한 설치·지원 비용</a:t>
            </a:r>
          </a:p>
        </p:txBody>
      </p:sp>
    </p:spTree>
    <p:extLst>
      <p:ext uri="{BB962C8B-B14F-4D97-AF65-F5344CB8AC3E}">
        <p14:creationId xmlns:p14="http://schemas.microsoft.com/office/powerpoint/2010/main" val="160982759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FC48A-C165-4D57-84FB-AD030CFD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부록  제도별 제한 대상이 서로 다르다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F58E6-03F6-4F33-9864-691B3050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하나의 “국가별 전력 제한값”으로 추상화하면 잘못 제어할 수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0BCE6-CF72-4794-8A73-CA17AC66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CCE50-0448-4A99-A3B9-7B8DC798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6E7E0-3B08-4DD7-864E-5E2CEFAC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R01 BNetzA · R23 ENA · R22 UL Solutions · R03 NESO · R10 ERCOT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590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9850"/>
                <a:gridCol w="4743450"/>
                <a:gridCol w="3581400"/>
              </a:tblGrid>
              <a:tr h="71818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제도·표준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구분해야 하는 대상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시 확인할 것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1818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독일 §14a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제어가능 설비의 계통 수전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가전·PV 역송과 구분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설비 조합·설치 시점·DSO 방식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영국 G100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접속점의 수전·역송 제한 체계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판·접속 조건·고장 동작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1818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미국 PCS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인증 범위의 전력·회로 제한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현지 법규 채택·유틸리티·현장 승인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영국 DFS / 텍사스 ADER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서비스·계약별 자원 참여·정산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동의·계량·기준선·중복 참여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61920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18455-60EE-4990-B9F5-575B8487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부록  표준 지원과 실제 제어 가능성의 차이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37D99-DAC8-4FDB-9EA8-3C1E650D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기기·펌웨어·권한·지역 조건을 조합별로 검증하는 능력이 필요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11FAF-D058-410A-955A-BF11E3E4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E91FF-27D5-4BB7-A550-81A5685C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98D78-70A9-4FDC-B1BB-38D85980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R28 CSA · R26 EEBUS · R27 EEBUS · R29 EU 집행위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228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9900"/>
                <a:gridCol w="3962400"/>
                <a:gridCol w="3962400"/>
              </a:tblGrid>
              <a:tr h="80724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사항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R&amp;D에 반영할 일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80724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Matter 1.5 에너지 확장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요금·계량·계통 정보 교환 기능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2025.11 발표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표준 기능 존재와 설치기기 지원을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호환 시험으로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724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EEBUS 전력 제한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LPC·LPP 등 용도별 제한 기능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기기에서 동일 기능·응답을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보장한다고 가정하지 않음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80724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EU Cyber Resilience Act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의무 2027.12.11 적용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보고 의무 2026.09.11부터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업데이트·취약점 대응·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지원기간 비용을 제품 설계에 포함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6B85C-E1C6-45F3-90D9-9F198953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출하 이후에도 펌웨어·설정·시험 기록을 관리해야 설치 자동화의 가치가 유지된다.</a:t>
            </a:r>
          </a:p>
        </p:txBody>
      </p:sp>
    </p:spTree>
    <p:extLst>
      <p:ext uri="{BB962C8B-B14F-4D97-AF65-F5344CB8AC3E}">
        <p14:creationId xmlns:p14="http://schemas.microsoft.com/office/powerpoint/2010/main" val="212799472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B1CC4-EE79-4114-8560-F7E61B51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부록  편익 검증과 시장 정산을 구분한다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0386D-8308-4877-BDAC-BB6E4401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같은 집에서 제어하지 않았을 때의 전기요금은 직접 관측할 수 없다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379AC-B362-4A4B-A384-054C6326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9DD72-A694-4B32-9E64-C3687836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5AAAC-C00E-4076-A7BF-FDAF0D25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R24 Nesta·CNZ · R25 Nesta · R03 NESO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82584-59F7-4AA8-BFAE-FDB0D0F4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고객 순편익 검증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C07F7-D0E7-4DDE-9001-46FBA80E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날씨·재실·요금이 비슷한 대조 운전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또는 무작위 배정·교차 설계 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예열과 회복 기간까지 전체 비용 포함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열관성의 잔류 효과를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평균뿐 아니라 분산·불확실성 제시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온도 이탈·거부·결측을 함께 보고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807DF-BCBA-443B-87DD-1B1DE3B7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프로그램 정산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EDBA4-ED76-49E7-97CF-D70A6872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사업자가 정한 공식 기준선 적용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인정 계량기·구간·이벤트 조건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고객 요금 절감과 시장 보상 별도 표시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동일 자원·시간의 이중 집계 차단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추정 절감액을 확정 정산액처럼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표시하지 않음</a:t>
            </a:r>
          </a:p>
        </p:txBody>
      </p:sp>
    </p:spTree>
    <p:extLst>
      <p:ext uri="{BB962C8B-B14F-4D97-AF65-F5344CB8AC3E}">
        <p14:creationId xmlns:p14="http://schemas.microsoft.com/office/powerpoint/2010/main" val="107117302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F568D-2932-4D54-9B1A-B7436988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부록  특허와 차별성은 시험 방법까지 좁혀 검토한다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8AB7A-9049-4C2B-9DB1-ECB4F6FC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선행기술 샘플 확인이며 특허성·권리범위·실시 자유의 종합 판단이 아님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FF4B7-D5A7-4652-B84A-C26AA918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8E4EE-92AA-45E3-9B17-9404218D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F5F50-C0A5-4328-8785-36AF13F4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R30 특허 공개문헌 · R27 EEBUS · R24 Nesta·CNZ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981450"/>
                <a:gridCol w="4476750"/>
              </a:tblGrid>
              <a:tr h="8429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영역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이미 존재하는 선행기술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새로 검토할 좁은 가설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CT 극성·연결 자동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US10191102B2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Automatic CT polarity correction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가정 내 여러 기기의 제한된 자극으로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제어권·계측점·응답을 함께 판정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 유연성 제공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HeatFlex 현장 실증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모델·제어 연구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시험 결과를 이용한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가용량 불확실성의 초기 축소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제약·통신 실패 대응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EEBUS LPC 등 공개 사양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펌웨어 변화 후 위험에 따라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재시험 범위를 선택하는 방법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2AC04-0467-4E2F-B1CD-06FEA6F6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“자동화·AI·멀티브랜드”라는 표현만으로 2–3년의 기술 우위나 특허를 주장하기 어렵다.</a:t>
            </a:r>
          </a:p>
        </p:txBody>
      </p:sp>
    </p:spTree>
    <p:extLst>
      <p:ext uri="{BB962C8B-B14F-4D97-AF65-F5344CB8AC3E}">
        <p14:creationId xmlns:p14="http://schemas.microsoft.com/office/powerpoint/2010/main" val="95872663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82798-5881-4EAF-9AC1-185D4F9A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부록  기존 12개 아이디어의 처리 방향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83B69-9803-44FA-A4BE-9473F9E5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제공 HTML의 후보를 공통 과제·지역 확장·보류 대상으로 재배치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38795-9C96-41BF-BC62-81C1810D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2DF6C-EF80-433C-9D89-F75EF66C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0C288-9237-4949-966B-E8D3966F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R00 제공 HTML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33875"/>
                <a:gridCol w="3038475"/>
                <a:gridCol w="3562350"/>
              </a:tblGrid>
              <a:tr h="611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후보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반영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재검토 조건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 자동 시운전 · T2 규칙 코드화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GT1 핵심 + 국가별 설정 모듈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조합의 현장 시간 절감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T3 열 유연성 · T11 성능 관리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GT3 핵심 + 응답·원격 진단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타이머 대비 순편익·지원비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T4 전력 제한 · T5 증설 회피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GT2 인증 HW 제휴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공사 견적·승인 경로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T7 제어권 · T8 편익 검증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GT4 공통 운영 기능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파트너 계약·데이터 접근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T6 백업 · T9 레거시</a:t>
                      </a:r>
                    </a:p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T10 V2H · T12 임대형 소형팩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지역 옵션 또는 초기 보류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설치권·보증·인증·추가 HW</a:t>
                      </a:r>
                    </a:p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구매자와 원가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81034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6E23C-F835-46D5-9471-4BE37DBF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부록  추가 개발 전 확인할 전제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569BA-BB9A-421B-8F46-2C1A0BAA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주거형태와 기기 보호 조건이 충족돼야 상품을 판매할 수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EF94D-A88D-429E-A313-F1883681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42CA0-33B2-4272-A294-B965585E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26A8D-BB06-4527-BED2-3F910AC2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R00 제공 HTML · R22 UL Solutions · R19 Enphase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029200"/>
                <a:gridCol w="3429000"/>
              </a:tblGrid>
              <a:tr h="71247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전제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판단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백업·정전 대응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정전 빈도·중요 부하·잔량 선호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전환 장치·섬운전 가능 제품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미국 파트너 상품의 옵션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레거시·IR 어댑터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명령 성공을 확인할 상태 피드백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충돌·OEM 보증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모델을 제한한 설치 옵션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차종·충전기·전환장치 조합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보증·접속·계약 승인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기능 선행 개발은 보류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임대형·플러그인 팩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설치권·계량 경계·역송 제한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현지 접속 요건·회수 비용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국가와 인증 경로 확정 후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002566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DB21E9-D30E-464E-81FF-502D7B36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조사 근거 1  국가 제도·요금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16D58-32A4-41D4-8B54-6120F4B6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각 번호의 원문 URL은 해당 슬라이드 발표자 노트에 수록. 조사 기준일 2026.09.30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D2124-34F1-4F56-A7F9-1C75F5E2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C1048-276A-4226-96D9-2F6FA6DE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296A1-18C7-44AA-B4F8-E5D94102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R01 BNetzA · R02 NESO · R03 NESO · R04 Enedis · R05 네덜란드 정부 · R06 ARERA · R07 ARERA · R08 CNMC · R09 CPUC · R10 ERCOT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053F6-2194-4BFC-A7B2-40F118DB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764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4FC15-83CB-4541-88DC-377FC8FE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0764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BNetzA  §14a 제어가능 설비 적용 안내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BDDFE-9BE6-406F-AEBE-8D9980BE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384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46766-F6A9-4ED7-B928-3F0C58F9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4384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NESO  Demand Flexibility Service explained, 2026 개편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F6D9D-CA20-409F-8A21-65D045C3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003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D7154-FF6D-45A4-9F0A-B14FCE89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00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NESO  DFS Stacking List v2, 2026.04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F729F-8469-4935-BB74-D9DD83B0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D39D5-162A-4924-BEC9-2EE34D7F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1623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Enedis  Heures creuses 개편, 2025.10.15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1B4E3-9F68-4132-B709-6B1F9884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82F04-EAD2-4076-A7A6-8B650D87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5242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네덜란드 정부  Salderingsregeling stopt in 2027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3B40E-61F7-4704-9663-0AAED7D1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862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CAEC88-C81A-4F07-83AD-37F12B41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8862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ARERA  Potenza impegnata 및 계량기 용량 안내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E2B0E4-5FC0-49B8-8787-98977A09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481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BFC82B-1FE8-437A-9322-3D5656D3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2481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ARERA  Potenza del contatore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D66A2-C284-4CEA-BC12-4F12E23A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101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R08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2C9965-7221-40A2-AA5A-63A7406C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6101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CNMC  2023년 말 가계조사, 2024.06.28 발표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2BD673-45D7-40DE-820A-4A8B7B62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9720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R09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4EFF6-B6B0-4A5E-9F3C-DD8339E5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9720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CPUC  Net Energy Metering and Net Billing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4F42C5-9BB3-466D-BFC6-00BC13D2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340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07437C-FF25-479F-B598-D9C9F28A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3340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ERCOT  ADER Pilot, Phase 3.3, 2026.06.03</a:t>
            </a:r>
          </a:p>
        </p:txBody>
      </p:sp>
    </p:spTree>
    <p:extLst>
      <p:ext uri="{BB962C8B-B14F-4D97-AF65-F5344CB8AC3E}">
        <p14:creationId xmlns:p14="http://schemas.microsoft.com/office/powerpoint/2010/main" val="43892480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61D8C3-2AEA-4694-9F86-FC20D1DD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조사 근거 2  지역 경제성과 경쟁 제품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8EF45-BD03-48B4-A91E-BD1A33FF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각 번호의 원문 URL은 해당 슬라이드 발표자 노트에 수록. 조사 기준일 2026.09.30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F9E0D-1016-49C5-BFF4-390D4799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72A09-5399-48FD-9A28-4B6C81D4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23839-167C-4535-99B5-C948C93E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R11 IRS · R12 DEWA · R13 SERA · R14 KAHRAMAA · R15 gridX · R16 1KOMMA5° · R17 Kraken · R18 Enphase · R19 Enphase · R20 SPAN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BC00F-0974-4BC0-9763-48564718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764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9B639-1BCA-46B1-8A49-4E0C5E8C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0764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IRS  Residential Clean Energy Credit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D439F-1F7C-4DA6-97AC-95D30209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384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0424C-4C89-44B9-A1CA-CC88C65C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4384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DEWA  Slab Tariff, 연료조정요금 2026.09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8ECD6-3446-4EEA-8B2A-BC286542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003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8FE00-9BFD-43DB-A42D-E5B96B6A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00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SERA  Electricity Service Guide, 요금표 p.67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74E1A-19B2-4604-BF45-559EAD9B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1AC04-1B1F-4D50-A146-D610574C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1623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KAHRAMAA  BeSolar net billing 안내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B7EEC-C037-4C1A-B2DA-3649B686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42358-5469-4845-A377-9CE2970D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5242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gridX  Optimized Heat Pump Operation, 2026.06.02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758DB-4EF7-467A-96B9-D5504A39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862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R16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D2163-EEEE-4CF6-874E-B55FDCD6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8862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1KOMMA5°  Heartbeat 호환 목록, 2026.08.25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C6EF3-8538-43F5-AACE-29A7831F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481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R17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64487-B622-4F06-83FA-A9A3AA46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2481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Kraken  Electrifying domestic heating, 2025.08.21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0777A-A658-4CB8-87BC-FBEDF2B1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101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7AF494-987D-4F33-8D8D-37C398E5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6101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Enphase  IQ Energy Router 독일·오스트리아 출시, 2023.06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77682A-58C0-4F94-BE69-42E3391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9720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R19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9BAF6-F2B8-4B57-950B-FC2B00E6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9720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Enphase  Daikin Altherma 3 설정 가이드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D91CC8-B8C7-4EEB-AE81-03DB8C57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340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81ED9E-0BDD-46E4-869D-321A0042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3340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SPAN  PowerUp 및 배전반 에너지 제어</a:t>
            </a:r>
          </a:p>
        </p:txBody>
      </p:sp>
    </p:spTree>
    <p:extLst>
      <p:ext uri="{BB962C8B-B14F-4D97-AF65-F5344CB8AC3E}">
        <p14:creationId xmlns:p14="http://schemas.microsoft.com/office/powerpoint/2010/main" val="79628409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E8114E-770F-47F2-9CA9-1CE1092A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조사 근거 3  인증·실증·표준·선행기술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FC939-6D04-401F-815A-CEB84831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각 번호의 원문 URL은 해당 슬라이드 발표자 노트에 수록. 조사 기준일 2026.09.30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BDF49-F396-4081-B2F6-BB920133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68C68-41F5-4F1A-91F3-3A2D1F3A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76BEA-27C3-4A67-B533-1F51F6F3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R21 ConnectDER · R22 UL Solutions · R23 ENA · R24 Nesta·CNZ · R25 Nesta · R26 EEBUS · R27 EEBUS · R28 CSA · R29 EU 집행위 · R30 특허 공개문헌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CEE33-D760-4A96-87A8-2FF8C905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764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572E9-7AB6-4A01-8E04-30AB2EB6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0764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ConnectDER  Solar MSA v5.2 설치 매뉴얼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3E015-8073-4C54-AEA2-022D413E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384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5CDE6-DD57-438E-BB63-157D0740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4384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UL Solutions  Power Control Systems for 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FFF07-FE3E-4359-BA41-9F1F2883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003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R23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BDE18-7D64-42E7-A567-C15F4564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00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ENA  G100 Issue 2 Amendment 2, 2023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1C3EE-0E82-4287-858D-E4292EB9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AF78F-2D02-4E7E-9305-42F5C7B8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1623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Nesta·CNZ  HeatFlex UK, 2024 실증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2D6BC-87C6-40D4-9641-8F3307AE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BED63-7904-431E-9FAB-F04B0413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5242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Nesta  HeatFlex 기술·실증 보고서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D8779-7575-4E9F-99B8-7F3874FF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862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297328-AF34-4449-B6A5-DC21812C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8862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EEBUS  Solutions &amp; Use Cases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B0BF1-0EBA-42E0-B3CD-BA97558E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481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R27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99B51-1754-4023-956D-31DF5DDB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2481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EEBUS  Limitation of Power Consumption v1.0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7DAB7A-8683-4A11-AECC-25846323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101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R28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2F72D2-1041-4325-886E-FF958031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6101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CSA  Matter 1.5 에너지 관리 확장, 2025.11.20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784514-0AF1-449C-A631-7E673525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9720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R29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4B8F6E-97AF-4D95-A93B-1A4CEBC4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9720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EU 집행위  Cyber Resilience Act 적용 일정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EBEEAB-406C-4692-B495-8FC17096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340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790121-7EAC-4670-B454-344D251E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3340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특허 공개문헌  US10191102B2, CT 극성 자동 보정</a:t>
            </a:r>
          </a:p>
        </p:txBody>
      </p:sp>
    </p:spTree>
    <p:extLst>
      <p:ext uri="{BB962C8B-B14F-4D97-AF65-F5344CB8AC3E}">
        <p14:creationId xmlns:p14="http://schemas.microsoft.com/office/powerpoint/2010/main" val="1837845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2026-09-30T08:08:39.6200000Z</dcterms:created>
  <dcterms:modified xsi:type="dcterms:W3CDTF">2026-09-30T08:08:39.6200000Z</dcterms:modified>
</coreProperties>
</file>